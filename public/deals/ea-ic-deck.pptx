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257" r:id="rId6"/>
    <p:sldId id="258" r:id="rId7"/>
    <p:sldId id="259" r:id="rId8"/>
    <p:sldId id="260" r:id="rId9"/>
    <p:sldId id="261" r:id="rId10"/>
    <p:sldId id="283" r:id="rId11"/>
    <p:sldId id="262" r:id="rId12"/>
    <p:sldId id="263" r:id="rId13"/>
    <p:sldId id="264" r:id="rId14"/>
    <p:sldId id="265" r:id="rId15"/>
    <p:sldId id="266" r:id="rId16"/>
    <p:sldId id="267"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2"/>
          <c:order val="0"/>
          <c:tx>
            <c:strRef>
              <c:f>Sheet1!$D$1</c:f>
              <c:strCache>
                <c:ptCount val="1"/>
                <c:pt idx="0">
                  <c:v>Sponsor Downside (BF6 underperf + EU haircut)</c:v>
                </c:pt>
              </c:strCache>
            </c:strRef>
          </c:tx>
          <c:spPr>
            <a:ln w="38100" cap="flat">
              <a:solidFill>
                <a:srgbClr val="C00000"/>
              </a:solidFill>
              <a:prstDash val="solid"/>
              <a:round/>
            </a:ln>
            <a:effectLst/>
          </c:spPr>
          <c:marker>
            <c:symbol val="circle"/>
            <c:size val="7"/>
            <c:spPr>
              <a:solidFill>
                <a:srgbClr val="C00000"/>
              </a:solidFill>
              <a:ln w="9525" cap="flat">
                <a:solidFill>
                  <a:srgbClr val="C00000"/>
                </a:solidFill>
                <a:prstDash val="solid"/>
                <a:round/>
              </a:ln>
              <a:effectLst/>
            </c:spPr>
          </c:marker>
          <c:cat>
            <c:strRef>
              <c:f>Sheet1!$A$2:$A$8</c:f>
              <c:strCache>
                <c:ptCount val="7"/>
                <c:pt idx="0">
                  <c:v>FY25A</c:v>
                </c:pt>
                <c:pt idx="1">
                  <c:v>FY26E</c:v>
                </c:pt>
                <c:pt idx="2">
                  <c:v>FY27E</c:v>
                </c:pt>
                <c:pt idx="3">
                  <c:v>FY28E</c:v>
                </c:pt>
                <c:pt idx="4">
                  <c:v>FY29E</c:v>
                </c:pt>
                <c:pt idx="5">
                  <c:v>FY30E</c:v>
                </c:pt>
                <c:pt idx="6">
                  <c:v>FY31E</c:v>
                </c:pt>
              </c:strCache>
            </c:strRef>
          </c:cat>
          <c:val>
            <c:numRef>
              <c:f>Sheet1!$D$2:$D$8</c:f>
              <c:numCache>
                <c:formatCode>General</c:formatCode>
                <c:ptCount val="7"/>
                <c:pt idx="0">
                  <c:v>2.5750000000000002</c:v>
                </c:pt>
                <c:pt idx="1">
                  <c:v>2.75</c:v>
                </c:pt>
                <c:pt idx="2">
                  <c:v>2.75</c:v>
                </c:pt>
                <c:pt idx="3">
                  <c:v>3</c:v>
                </c:pt>
                <c:pt idx="4">
                  <c:v>3.2</c:v>
                </c:pt>
                <c:pt idx="5">
                  <c:v>3.4</c:v>
                </c:pt>
                <c:pt idx="6">
                  <c:v>3.6</c:v>
                </c:pt>
              </c:numCache>
            </c:numRef>
          </c:val>
          <c:smooth val="0"/>
          <c:extLst>
            <c:ext xmlns:c16="http://schemas.microsoft.com/office/drawing/2014/chart" uri="{C3380CC4-5D6E-409C-BE32-E72D297353CC}">
              <c16:uniqueId val="{00000002-6917-4A54-842B-263EC9479524}"/>
            </c:ext>
          </c:extLst>
        </c:ser>
        <c:ser>
          <c:idx val="1"/>
          <c:order val="1"/>
          <c:tx>
            <c:strRef>
              <c:f>Sheet1!$C$1</c:f>
              <c:strCache>
                <c:ptCount val="1"/>
                <c:pt idx="0">
                  <c:v>Management Base (DEFA14A forecast)</c:v>
                </c:pt>
              </c:strCache>
            </c:strRef>
          </c:tx>
          <c:spPr>
            <a:ln w="38100" cap="flat">
              <a:solidFill>
                <a:srgbClr val="2E75B6"/>
              </a:solidFill>
              <a:prstDash val="solid"/>
              <a:round/>
            </a:ln>
            <a:effectLst/>
          </c:spPr>
          <c:marker>
            <c:symbol val="circle"/>
            <c:size val="7"/>
            <c:spPr>
              <a:solidFill>
                <a:srgbClr val="2E75B6"/>
              </a:solidFill>
              <a:ln w="9525" cap="flat">
                <a:solidFill>
                  <a:srgbClr val="2E75B6"/>
                </a:solidFill>
                <a:prstDash val="solid"/>
                <a:round/>
              </a:ln>
              <a:effectLst/>
            </c:spPr>
          </c:marker>
          <c:cat>
            <c:strRef>
              <c:f>Sheet1!$A$2:$A$8</c:f>
              <c:strCache>
                <c:ptCount val="7"/>
                <c:pt idx="0">
                  <c:v>FY25A</c:v>
                </c:pt>
                <c:pt idx="1">
                  <c:v>FY26E</c:v>
                </c:pt>
                <c:pt idx="2">
                  <c:v>FY27E</c:v>
                </c:pt>
                <c:pt idx="3">
                  <c:v>FY28E</c:v>
                </c:pt>
                <c:pt idx="4">
                  <c:v>FY29E</c:v>
                </c:pt>
                <c:pt idx="5">
                  <c:v>FY30E</c:v>
                </c:pt>
                <c:pt idx="6">
                  <c:v>FY31E</c:v>
                </c:pt>
              </c:strCache>
            </c:strRef>
          </c:cat>
          <c:val>
            <c:numRef>
              <c:f>Sheet1!$C$2:$C$8</c:f>
              <c:numCache>
                <c:formatCode>General</c:formatCode>
                <c:ptCount val="7"/>
                <c:pt idx="0">
                  <c:v>2.5750000000000002</c:v>
                </c:pt>
                <c:pt idx="1">
                  <c:v>2.7589999999999999</c:v>
                </c:pt>
                <c:pt idx="2">
                  <c:v>3.0030000000000001</c:v>
                </c:pt>
                <c:pt idx="3">
                  <c:v>4.2</c:v>
                </c:pt>
                <c:pt idx="4">
                  <c:v>4.0599999999999996</c:v>
                </c:pt>
                <c:pt idx="5">
                  <c:v>4.3280000000000003</c:v>
                </c:pt>
                <c:pt idx="6">
                  <c:v>4.5</c:v>
                </c:pt>
              </c:numCache>
            </c:numRef>
          </c:val>
          <c:smooth val="0"/>
          <c:extLst>
            <c:ext xmlns:c16="http://schemas.microsoft.com/office/drawing/2014/chart" uri="{C3380CC4-5D6E-409C-BE32-E72D297353CC}">
              <c16:uniqueId val="{00000001-6917-4A54-842B-263EC9479524}"/>
            </c:ext>
          </c:extLst>
        </c:ser>
        <c:ser>
          <c:idx val="0"/>
          <c:order val="2"/>
          <c:tx>
            <c:strRef>
              <c:f>Sheet1!$B$1</c:f>
              <c:strCache>
                <c:ptCount val="1"/>
                <c:pt idx="0">
                  <c:v>Sponsor Base (deal-team underwriting)</c:v>
                </c:pt>
              </c:strCache>
            </c:strRef>
          </c:tx>
          <c:spPr>
            <a:ln w="38100" cap="flat">
              <a:solidFill>
                <a:srgbClr val="1F4E79"/>
              </a:solidFill>
              <a:prstDash val="solid"/>
              <a:round/>
            </a:ln>
            <a:effectLst/>
          </c:spPr>
          <c:marker>
            <c:symbol val="circle"/>
            <c:size val="7"/>
            <c:spPr>
              <a:solidFill>
                <a:srgbClr val="1F4E79"/>
              </a:solidFill>
              <a:ln w="9525" cap="flat">
                <a:solidFill>
                  <a:srgbClr val="1F4E79"/>
                </a:solidFill>
                <a:prstDash val="solid"/>
                <a:round/>
              </a:ln>
              <a:effectLst/>
            </c:spPr>
          </c:marker>
          <c:cat>
            <c:strRef>
              <c:f>Sheet1!$A$2:$A$8</c:f>
              <c:strCache>
                <c:ptCount val="7"/>
                <c:pt idx="0">
                  <c:v>FY25A</c:v>
                </c:pt>
                <c:pt idx="1">
                  <c:v>FY26E</c:v>
                </c:pt>
                <c:pt idx="2">
                  <c:v>FY27E</c:v>
                </c:pt>
                <c:pt idx="3">
                  <c:v>FY28E</c:v>
                </c:pt>
                <c:pt idx="4">
                  <c:v>FY29E</c:v>
                </c:pt>
                <c:pt idx="5">
                  <c:v>FY30E</c:v>
                </c:pt>
                <c:pt idx="6">
                  <c:v>FY31E</c:v>
                </c:pt>
              </c:strCache>
            </c:strRef>
          </c:cat>
          <c:val>
            <c:numRef>
              <c:f>Sheet1!$B$2:$B$8</c:f>
              <c:numCache>
                <c:formatCode>General</c:formatCode>
                <c:ptCount val="7"/>
                <c:pt idx="0">
                  <c:v>2.5750000000000002</c:v>
                </c:pt>
                <c:pt idx="1">
                  <c:v>2.7589999999999999</c:v>
                </c:pt>
                <c:pt idx="2">
                  <c:v>3.0030000000000001</c:v>
                </c:pt>
                <c:pt idx="3">
                  <c:v>3.5</c:v>
                </c:pt>
                <c:pt idx="4">
                  <c:v>3.7</c:v>
                </c:pt>
                <c:pt idx="5">
                  <c:v>3.9</c:v>
                </c:pt>
                <c:pt idx="6">
                  <c:v>4.2</c:v>
                </c:pt>
              </c:numCache>
            </c:numRef>
          </c:val>
          <c:smooth val="0"/>
          <c:extLst>
            <c:ext xmlns:c16="http://schemas.microsoft.com/office/drawing/2014/chart" uri="{C3380CC4-5D6E-409C-BE32-E72D297353CC}">
              <c16:uniqueId val="{00000000-6917-4A54-842B-263EC947952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EEEEE"/>
              </a:solidFill>
              <a:prstDash val="solid"/>
              <a:round/>
            </a:ln>
          </c:spPr>
        </c:majorGridlines>
        <c:title>
          <c:tx>
            <c:rich>
              <a:bodyPr/>
              <a:lstStyle/>
              <a:p>
                <a:pPr>
                  <a:defRPr sz="1000" b="0" i="0" u="none" strike="noStrike">
                    <a:solidFill>
                      <a:srgbClr val="595959"/>
                    </a:solidFill>
                    <a:latin typeface="Arial"/>
                  </a:defRPr>
                </a:pPr>
                <a:r>
                  <a:rPr lang="en-US" sz="1000" b="0" i="0" u="none" strike="noStrike">
                    <a:solidFill>
                      <a:srgbClr val="595959"/>
                    </a:solidFill>
                    <a:latin typeface="Arial"/>
                  </a:rPr>
                  <a:t>Adjusted EBITDA ($B)</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solidFill>
                <a:srgbClr val="595959"/>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2053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Jacob</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Jacob</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Jacob</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Camden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Camden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Aidan</a:t>
            </a:r>
          </a:p>
          <a:p>
            <a:endParaRPr lang="en-US"/>
          </a:p>
          <a:p>
            <a:r>
              <a:rPr lang="en-US"/>
              <a:t>This slide summarizes the six core pillars supporting our investment thesis for Project Madden. The key message is that this is not a single-driver LBO. The transaction is supported by recurring revenue, durable sports intellectual property, a conservative capital structure, strategic PIF ownership, valuation upside, and independent fairness support from Goldman Sachs.</a:t>
            </a:r>
          </a:p>
          <a:p>
            <a:br>
              <a:rPr lang="en-US"/>
            </a:br>
            <a:endParaRPr lang="en-US"/>
          </a:p>
          <a:p>
            <a:r>
              <a:rPr lang="en-US"/>
              <a:t>Starting with the first pillar, EA’s live-services business is the foundation of the underwriting case. In FY2025, live services and other recurring revenue represented approximately 73% of EA’s net revenue, or about $5.5 billion out of $7.5 billion. This is important because EA is not simply selling one-time video game units. Its most valuable franchises operate as ongoing service platforms, especially through Ultimate Team modes across EA Sports FC, Madden, NHL, and College Football. That recurring monetization supports higher visibility, stronger cash conversion, and margin expansion. Adjusted EBITDA margins increased from 30.7% in FY2022 to 34.5% in FY2025, which supports the view that EA’s revenue mix has become more durable and more profitable.</a:t>
            </a:r>
          </a:p>
          <a:p>
            <a:br>
              <a:rPr lang="en-US"/>
            </a:br>
            <a:endParaRPr lang="en-US"/>
          </a:p>
          <a:p>
            <a:r>
              <a:rPr lang="en-US"/>
              <a:t>The second pillar is EA’s sports IP portfolio. EA controls a set of sports licenses that would be extremely difficult for any competitor to recreate at scale. The company has long-term relationships across the NFL, College Football, NHL, F1, UFC, and the PGA Tour. The FIFA transition is also an important proof point. EA lost the FIFA-branded license, but successfully rebranded the franchise as EA Sports FC while sustaining the soccer revenue base. That gives us confidence that the strength of the platform and player ecosystem extends beyond any single license name.</a:t>
            </a:r>
          </a:p>
          <a:p>
            <a:br>
              <a:rPr lang="en-US"/>
            </a:br>
            <a:endParaRPr lang="en-US"/>
          </a:p>
          <a:p>
            <a:r>
              <a:rPr lang="en-US"/>
              <a:t>The third pillar is the capital structure. This is a large take-private, but it is not aggressively levered relative to typical large-cap LBOs. The transaction uses approximately $36.4 billion of equity and $18.0 billion of debt funded at close, implying initial leverage of roughly 7.0x LTM Adjusted EBITDA, or about 6.5x on FY2026E Adjusted EBITDA. That is below the 8.0x to 10.0x leverage range often seen in large-cap sponsor transactions. We view that as a major positive because it preserves flexibility for content investment, add-on M&amp;A, and deleveraging over the hold period.</a:t>
            </a:r>
          </a:p>
          <a:p>
            <a:br>
              <a:rPr lang="en-US"/>
            </a:br>
            <a:endParaRPr lang="en-US"/>
          </a:p>
          <a:p>
            <a:r>
              <a:rPr lang="en-US"/>
              <a:t>The fourth pillar is PIF’s strategic value. PIF is not just a source of capital. Its existing 9.9% stake, its Vision 2030 gaming and esports strategy, and its MENA distribution relationships could give EA access to growth channels that a traditional financial sponsor would not have. We are not heavily underwriting those synergies into the base case, but they create meaningful upside, especially around esports, regional distribution, and sovereign-aligned licensing partnerships.</a:t>
            </a:r>
          </a:p>
          <a:p>
            <a:br>
              <a:rPr lang="en-US"/>
            </a:br>
            <a:endParaRPr lang="en-US"/>
          </a:p>
          <a:p>
            <a:r>
              <a:rPr lang="en-US"/>
              <a:t>The fifth pillar is multiple re-rating optionality. At entry, the transaction values EA at approximately 21.0x LTM Adjusted EBITDA and 18.0x FY2027E Adjusted EBITDA. That is modestly below the gaming precedent median when excluding outliers, and below strategic-acquirer deals such as Take-Two/Zynga and Sony/Bungie, which traded around 24.0x EBITDA. Importantly, our base case does not require multiple expansion. We underwrite an 18.0x entry multiple and an 18.0x exit multiple. Any re-rating above that would be incremental upside.</a:t>
            </a:r>
          </a:p>
          <a:p>
            <a:br>
              <a:rPr lang="en-US"/>
            </a:br>
            <a:endParaRPr lang="en-US"/>
          </a:p>
          <a:p>
            <a:r>
              <a:rPr lang="en-US"/>
              <a:t>The sixth pillar is valuation support from Goldman Sachs. Goldman’s fairness opinion concluded that the $210 per share offer was fair from a financial point of view. Its DCF range of $137 to $220, future share price range of $157 to $236, and premia-paid analyses all bracket the $210 offer. That does not eliminate overpayment risk, but it does show that the offer price is defensible across multiple independent valuation methodologies.</a:t>
            </a:r>
          </a:p>
          <a:p>
            <a:br>
              <a:rPr lang="en-US"/>
            </a:br>
            <a:endParaRPr lang="en-US"/>
          </a:p>
          <a:p>
            <a:r>
              <a:rPr lang="en-US"/>
              <a:t>The takeaway from this slide is that the base-case return is not dependent on financial engineering or a speculative exit multiple. It is supported by recurring live-services revenue, protected sports IP, manageable leverage, and strategic ownership. Together, these pillars support our underwritten base case of 1.76x MoM and a 12.0% gross IRR over a five-year hold.</a:t>
            </a:r>
          </a:p>
          <a:p>
            <a:endParaRPr lang="en-US"/>
          </a:p>
          <a:p>
            <a:r>
              <a:rPr lang="en-US"/>
              <a:t>Transition</a:t>
            </a:r>
          </a:p>
          <a:p>
            <a:br>
              <a:rPr lang="en-US"/>
            </a:br>
            <a:endParaRPr lang="en-US"/>
          </a:p>
          <a:p>
            <a:r>
              <a:rPr lang="en-US"/>
              <a:t>After laying out the positive thesis, the next slide frames the same investment through a SWOT lens so we can clearly distinguish the internal strengths and weaknesses from the external opportunities and threats.</a:t>
            </a:r>
          </a:p>
          <a:p>
            <a:endParaRPr lang="en-US"/>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Aidan</a:t>
            </a:r>
          </a:p>
          <a:p>
            <a:endParaRPr lang="en-US"/>
          </a:p>
          <a:p>
            <a:r>
              <a:rPr lang="en-US"/>
              <a:t>This slide organizes the investment decision into a SWOT framework. The left side captures the positive factors supporting approval, while the right side highlights the risks we need to underwrite carefully.</a:t>
            </a:r>
          </a:p>
          <a:p>
            <a:br>
              <a:rPr lang="en-US"/>
            </a:br>
            <a:endParaRPr lang="en-US"/>
          </a:p>
          <a:p>
            <a:r>
              <a:rPr lang="en-US"/>
              <a:t>Starting with strengths, the first is EA’s live-services anchor. The company’s business model has shifted toward recurring revenue, with live services representing roughly 73% of FY2025 net revenue. This gives EA more stability than a traditional hit-driven publisher because a large portion of revenue comes from ongoing player engagement, in-game purchases, and recurring monetization within established franchises.</a:t>
            </a:r>
          </a:p>
          <a:p>
            <a:br>
              <a:rPr lang="en-US"/>
            </a:br>
            <a:endParaRPr lang="en-US"/>
          </a:p>
          <a:p>
            <a:r>
              <a:rPr lang="en-US"/>
              <a:t>The second strength is sports IP through 2030 and beyond. EA’s portfolio includes Madden, College Football, NHL, F1, UFC, PGA Tour, and EA Sports FC. These licenses create a competitive moat because sports simulation games rely heavily on official teams, players, leagues, and fan loyalty. This is not a portfolio that can be duplicated quickly by a new entrant or even by a well-capitalized competitor.</a:t>
            </a:r>
          </a:p>
          <a:p>
            <a:br>
              <a:rPr lang="en-US"/>
            </a:br>
            <a:endParaRPr lang="en-US"/>
          </a:p>
          <a:p>
            <a:r>
              <a:rPr lang="en-US"/>
              <a:t>The third strength is the conservative deal leverage. Initial leverage of roughly 7.0x LTM Adjusted EBITDA is meaningful, but it is still below the typical leverage range for large-cap take-privates. That lower leverage profile creates more room for operational volatility, protects against a weaker release cycle, and preserves capacity for incremental investment in content and M&amp;A.</a:t>
            </a:r>
          </a:p>
          <a:p>
            <a:br>
              <a:rPr lang="en-US"/>
            </a:br>
            <a:endParaRPr lang="en-US"/>
          </a:p>
          <a:p>
            <a:r>
              <a:rPr lang="en-US"/>
              <a:t>Turning to weaknesses, the first is tentpole concentration. EA’s earnings are still tied to a relatively small number of major franchises and release cycles. EA Sports FC, Madden, College Football, Battlefield, and Apex Legends are all critical to the plan. This means execution risk is concentrated around a few major titles rather than spread evenly across dozens of unrelated revenue streams.</a:t>
            </a:r>
          </a:p>
          <a:p>
            <a:br>
              <a:rPr lang="en-US"/>
            </a:br>
            <a:endParaRPr lang="en-US"/>
          </a:p>
          <a:p>
            <a:r>
              <a:rPr lang="en-US"/>
              <a:t>The second weakness is Andrew Wilson key-person risk. Wilson has been CEO since 2014 and is closely tied to EA’s strategic direction, operating culture, and the sponsor’s post-close plan. The investment memorandum specifically makes retention of Wilson and the core leadership team through 2028 a condition of the recommendation. That tells us management continuity is not just helpful; it is central to the underwriting case.</a:t>
            </a:r>
          </a:p>
          <a:p>
            <a:br>
              <a:rPr lang="en-US"/>
            </a:br>
            <a:endParaRPr lang="en-US"/>
          </a:p>
          <a:p>
            <a:r>
              <a:rPr lang="en-US"/>
              <a:t>The third weakness is Battlefield 6 launch dependency. Management’s forecast implies a large EBITDA step-up from FY2026 to FY2028, driven partly by Battlefield 6, College Football monetization, and broader live-services growth. The sponsor base case already moderates that expectation by delaying part of the EBITDA acceleration by one year, but a weak Battlefield launch would still pressure the return profile.</a:t>
            </a:r>
          </a:p>
          <a:p>
            <a:br>
              <a:rPr lang="en-US"/>
            </a:br>
            <a:endParaRPr lang="en-US"/>
          </a:p>
          <a:p>
            <a:r>
              <a:rPr lang="en-US"/>
              <a:t>On the opportunity side, PIF’s MENA distribution and Vision 2030 alignment are important strategic upside levers. Saudi Arabia is making significant investments in gaming, esports, and digital entertainment, and PIF ownership could help EA capture regional growth through partnerships, sponsorships, esports infrastructure, and distribution relationships.</a:t>
            </a:r>
          </a:p>
          <a:p>
            <a:br>
              <a:rPr lang="en-US"/>
            </a:br>
            <a:endParaRPr lang="en-US"/>
          </a:p>
          <a:p>
            <a:r>
              <a:rPr lang="en-US"/>
              <a:t>The second opportunity is multiple re-rating. The base case assumes no multiple expansion, but gaming precedent transactions show that high-quality IP portfolios and strategic assets can command premium multiples. If EA executes well and exits into a stronger gaming M&amp;A or IPO market, there is upside to the 18.0x base-case exit multiple.</a:t>
            </a:r>
          </a:p>
          <a:p>
            <a:br>
              <a:rPr lang="en-US"/>
            </a:br>
            <a:endParaRPr lang="en-US"/>
          </a:p>
          <a:p>
            <a:r>
              <a:rPr lang="en-US"/>
              <a:t>The third opportunity is add-on M&amp;A capacity. Because the deal is not maximally levered, EA should retain flexibility to acquire studios, content assets, mobile capabilities, or live-services technology during the hold period. That capacity is important because content depth and platform engagement are key drivers of long-term gaming value.</a:t>
            </a:r>
          </a:p>
          <a:p>
            <a:br>
              <a:rPr lang="en-US"/>
            </a:br>
            <a:endParaRPr lang="en-US"/>
          </a:p>
          <a:p>
            <a:r>
              <a:rPr lang="en-US"/>
              <a:t>Finally, the threats are the external risks that could impair the deal. The first is CFIUS and political exposure. PIF’s majority economic role triggers a national security review, and CFIUS clearance remains a binding closing condition. The memo identifies mitigants including the $1.0 billion reciprocal termination fee, the September 28, 2026 outside date, PIF’s history of U.S. investments, and Silver Lake’s U.S.-based operating role.</a:t>
            </a:r>
          </a:p>
          <a:p>
            <a:br>
              <a:rPr lang="en-US"/>
            </a:br>
            <a:endParaRPr lang="en-US"/>
          </a:p>
          <a:p>
            <a:r>
              <a:rPr lang="en-US"/>
              <a:t>The second threat is EU regulation of loot boxes and microtransactions. Ultimate Team is central to EA’s live-services economics, so any regulatory change affecting loot-box mechanics or monetization design could pressure revenue. The sponsor downside case addresses this by applying a structural haircut to Ultimate Team revenue, which is the right way to reflect the risk in underwriting rather than ignoring it.</a:t>
            </a:r>
          </a:p>
          <a:p>
            <a:br>
              <a:rPr lang="en-US"/>
            </a:br>
            <a:endParaRPr lang="en-US"/>
          </a:p>
          <a:p>
            <a:r>
              <a:rPr lang="en-US"/>
              <a:t>The third threat is sports licensing renewal risk. Even though the license portfolio is strong, these rights are not perpetual. A loss or adverse repricing of a major license such as the NFL, College Football, or NHL would be negative. The mitigant is that EA has multi-year license tails, strong economics for rights holders, and demonstrated resilience through the FIFA-to-EA Sports FC transition.</a:t>
            </a:r>
          </a:p>
          <a:p>
            <a:br>
              <a:rPr lang="en-US"/>
            </a:br>
            <a:endParaRPr lang="en-US"/>
          </a:p>
          <a:p>
            <a:r>
              <a:rPr lang="en-US"/>
              <a:t>The takeaway from the SWOT is that the risks are real, but they are identifiable, underwritten, and mitigated. The strengths and opportunities are structural, while the weaknesses and threats are primarily execution, regulatory, and timing risks.</a:t>
            </a:r>
          </a:p>
          <a:p>
            <a:br>
              <a:rPr lang="en-US"/>
            </a:br>
            <a:endParaRPr lang="en-US"/>
          </a:p>
          <a:p>
            <a:r>
              <a:rPr lang="en-US"/>
              <a:t>Transition</a:t>
            </a:r>
          </a:p>
          <a:p>
            <a:br>
              <a:rPr lang="en-US"/>
            </a:br>
            <a:endParaRPr lang="en-US"/>
          </a:p>
          <a:p>
            <a:r>
              <a:rPr lang="en-US"/>
              <a:t>With that risk framework in mind, the next slide shows how the transaction is actually funded and why the capital structure is a central part of the recommendation.</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Camden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Aidan</a:t>
            </a:r>
          </a:p>
          <a:p>
            <a:endParaRPr lang="en-US"/>
          </a:p>
          <a:p>
            <a:r>
              <a:rPr lang="en-US"/>
              <a:t>This slide walks through the funding structure at close. The key takeaway is that this is an equity-heavy LBO with a conservative leverage profile.</a:t>
            </a:r>
          </a:p>
          <a:p>
            <a:br>
              <a:rPr lang="en-US"/>
            </a:br>
            <a:endParaRPr lang="en-US"/>
          </a:p>
          <a:p>
            <a:r>
              <a:rPr lang="en-US"/>
              <a:t>Total sources and uses are approximately $55.3 billion. On the sources side, the largest component is sponsor equity. The consortium is contributing $36.4 billion of aggregate equity, which represents about 65.8% of the total funding package. That includes approximately $31.2 billion of new sponsor cash equity and PIF’s existing 9.9% stake, which rolls over at roughly $5.2 billion.</a:t>
            </a:r>
          </a:p>
          <a:p>
            <a:br>
              <a:rPr lang="en-US"/>
            </a:br>
            <a:endParaRPr lang="en-US"/>
          </a:p>
          <a:p>
            <a:r>
              <a:rPr lang="en-US"/>
              <a:t>The second major source is debt. JPMorgan-led debt funded at close is approximately $18.0 billion, representing about 32.6% of total sources. There is also roughly $0.9 billion of EA balance-sheet cash contribution, which helps bridge transaction fees, refinancing costs, and the residual gap between the committed debt package and the amount actually funded at close.</a:t>
            </a:r>
          </a:p>
          <a:p>
            <a:br>
              <a:rPr lang="en-US"/>
            </a:br>
            <a:endParaRPr lang="en-US"/>
          </a:p>
          <a:p>
            <a:r>
              <a:rPr lang="en-US"/>
              <a:t>On the uses side, the dominant use of proceeds is the equity purchase. Approximately $52.5 billion, or 95% of total uses, goes directly to acquiring EA shares at $210 per share. The remaining uses are comparatively small but important: about $1.6 billion for refinancing and tender-related items, approximately $0.9 billion for debt financing fees and advisor or transaction fees, and roughly $0.3 billion for cashing out vested options and RSUs.</a:t>
            </a:r>
          </a:p>
          <a:p>
            <a:br>
              <a:rPr lang="en-US"/>
            </a:br>
            <a:endParaRPr lang="en-US"/>
          </a:p>
          <a:p>
            <a:r>
              <a:rPr lang="en-US"/>
              <a:t>The capital structure panel on the right reinforces the same point. This transaction is not relying on excessive debt to manufacture returns. Funded debt of approximately $18.0 billion against FY2025 Adjusted EBITDA of $2.575 billion implies initial leverage of about 7.0x. Against management’s FY2026E Adjusted EBITDA of $2.759 billion, leverage compresses to approximately 6.5x.</a:t>
            </a:r>
          </a:p>
          <a:p>
            <a:br>
              <a:rPr lang="en-US"/>
            </a:br>
            <a:endParaRPr lang="en-US"/>
          </a:p>
          <a:p>
            <a:r>
              <a:rPr lang="en-US"/>
              <a:t>That is materially below the 8.0x to 10.0x leverage range often seen in large-cap take-private transactions. The reason this matters is that EA needs flexibility to keep investing in content, live-service infrastructure, and potential add-on M&amp;A. A more aggressive debt structure would have increased financial returns in a perfect case, but it would also have reduced the margin of safety. Here, the structure is designed to support both downside protection and strategic optionality.</a:t>
            </a:r>
          </a:p>
          <a:p>
            <a:br>
              <a:rPr lang="en-US"/>
            </a:br>
            <a:endParaRPr lang="en-US"/>
          </a:p>
          <a:p>
            <a:r>
              <a:rPr lang="en-US"/>
              <a:t>The memo also notes that the financing has been substantially de-risked through syndication milestones, including strong demand for the cross-border term loan and senior notes offerings. That supports the view that financing risk is not the primary concern at this stage; the more important remaining issues are regulatory clearance, operating execution, and management retention.</a:t>
            </a:r>
          </a:p>
          <a:p>
            <a:br>
              <a:rPr lang="en-US"/>
            </a:br>
            <a:endParaRPr lang="en-US"/>
          </a:p>
          <a:p>
            <a:r>
              <a:rPr lang="en-US"/>
              <a:t>So the conclusion on Sources &amp; Uses is straightforward: this is a $55.3 billion transaction funded primarily with equity, supported by manageable debt, and structured to preserve EA’s ability to execute the value-creation plan.</a:t>
            </a:r>
          </a:p>
          <a:p>
            <a:br>
              <a:rPr lang="en-US"/>
            </a:br>
            <a:endParaRPr lang="en-US"/>
          </a:p>
          <a:p>
            <a:r>
              <a:rPr lang="en-US"/>
              <a:t>Transition</a:t>
            </a:r>
          </a:p>
          <a:p>
            <a:br>
              <a:rPr lang="en-US"/>
            </a:br>
            <a:endParaRPr lang="en-US"/>
          </a:p>
          <a:p>
            <a:r>
              <a:rPr lang="en-US"/>
              <a:t>After reviewing the thesis, risk profile, and capital structure, the final slide brings everything together into our formal recommendation to the Investment Committee.</a:t>
            </a:r>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three EBITDA cases we're underwriting against, from the most optimistic to our stress case. The Management Base is EA management's own forecast, disclosed in the proxy and used by Goldman as the DCF input — that ends FY31 at $4.5 billion. Our Sponsor Base is management's case with a roughly 7% haircut for execution risk, primarily delaying half of Battlefield 6's contribution by 12 months given the previous installment's launch performance — that ends at $4.2 billion. The Sponsor Downside stresses Battlefield 6 further, applies a 10% EU regulatory haircut on Ultimate Team microtransactions, and accelerates Apex Legends decay — that ends at $3.6 billion. Three cases, $4.5 / $4.2 / $3.6 at exit. The next slide takes those EBITDA paths and shows where the consortium's return actually comes from.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Mason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Mason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Mason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Aidan</a:t>
            </a:r>
          </a:p>
          <a:p>
            <a:endParaRPr lang="en-US"/>
          </a:p>
          <a:p>
            <a:r>
              <a:rPr lang="en-US"/>
              <a:t>This final slide presents our recommendation. Based on the investment memorandum analysis, we recommend approving the acquisition of Electronic Arts at $210 per share in an all-cash take-private transaction.</a:t>
            </a:r>
          </a:p>
          <a:p>
            <a:br>
              <a:rPr lang="en-US"/>
            </a:br>
            <a:endParaRPr lang="en-US"/>
          </a:p>
          <a:p>
            <a:r>
              <a:rPr lang="en-US"/>
              <a:t>The core reason is that EA combines the characteristics we want in a large sponsor investment: recurring cash flows, irreplaceable intellectual property, strong margins, and strategic ownership upside. The live-services business provides recurring revenue visibility. The sports IP portfolio creates a competitive moat. The capital structure is conservative relative to typical large-cap LBOs. And PIF ownership creates additional strategic upside through MENA distribution, esports, and Vision 2030 alignment.</a:t>
            </a:r>
          </a:p>
          <a:p>
            <a:br>
              <a:rPr lang="en-US"/>
            </a:br>
            <a:endParaRPr lang="en-US"/>
          </a:p>
          <a:p>
            <a:r>
              <a:rPr lang="en-US"/>
              <a:t>Our underwritten sponsor base case generates a 1.76x money-on-money multiple and a 12.0% gross IRR over a five-year hold. That assumes Year 5 Adjusted EBITDA of $4.2 billion and an 18.0x exit multiple. Importantly, the base case does not require multiple expansion. The return is driven primarily by EBITDA growth and debt paydown, not by assuming the market will re-rate the company.</a:t>
            </a:r>
          </a:p>
          <a:p>
            <a:br>
              <a:rPr lang="en-US"/>
            </a:br>
            <a:endParaRPr lang="en-US"/>
          </a:p>
          <a:p>
            <a:r>
              <a:rPr lang="en-US"/>
              <a:t>The downside case still preserves capital, generating a 1.27x MoM and 4.8% gross IRR. That downside assumes a more difficult operating environment, including weaker EBITDA growth and a lower exit multiple. The upside case reaches 2.43x MoM and 19.4% gross IRR if execution is stronger and the exit multiple expands modestly to 20.0x. This return spread is important because it shows that while the deal has risk, the downside is protected by EA’s durable cash flow base and the conservative capital structure.</a:t>
            </a:r>
          </a:p>
          <a:p>
            <a:br>
              <a:rPr lang="en-US"/>
            </a:br>
            <a:endParaRPr lang="en-US"/>
          </a:p>
          <a:p>
            <a:r>
              <a:rPr lang="en-US"/>
              <a:t>The $210 per share offer is also supported by Goldman Sachs’ fairness analysis and by three independent valuation methodologies. Goldman’s DCF range of $137 to $220, future share price analysis of $157 to $236, and premia-paid analyses all bracket the offer price. This does not mean the deal is cheap in a traditional private-equity affordability sense, but it does mean the price is defensible for a strategic financial consortium with PIF’s long-term objectives.</a:t>
            </a:r>
          </a:p>
          <a:p>
            <a:br>
              <a:rPr lang="en-US"/>
            </a:br>
            <a:endParaRPr lang="en-US"/>
          </a:p>
          <a:p>
            <a:r>
              <a:rPr lang="en-US"/>
              <a:t>There are still conditions we need to highlight. Approval should remain subject to CFIUS clearance on acceptable terms, successful syndication of the JPMorgan-led debt commitment within committed flex, retention of Andrew Wilson and the core leadership team through 2028, and final documentation around the stockholders’ agreement and management equity plan.</a:t>
            </a:r>
          </a:p>
          <a:p>
            <a:br>
              <a:rPr lang="en-US"/>
            </a:br>
            <a:endParaRPr lang="en-US"/>
          </a:p>
          <a:p>
            <a:r>
              <a:rPr lang="en-US"/>
              <a:t>So our recommendation is to approve the acquisition. The transaction is not risk-free, but the risks are clearly identified and underwritten. The combination of EA’s recurring live-services revenue, durable sports IP, conservative leverage, and PIF strategic synergies supports the base-case return and gives us upside beyond the model. In our view, Project Madden is an attractive take-private opportunity at scale, and the Investment Committee should approve the equity commitment.</a:t>
            </a:r>
          </a:p>
          <a:p>
            <a:br>
              <a:rPr lang="en-US"/>
            </a:br>
            <a:endParaRPr lang="en-US"/>
          </a:p>
          <a:p>
            <a:r>
              <a:rPr lang="en-US"/>
              <a:t>Closing Line</a:t>
            </a:r>
          </a:p>
          <a:p>
            <a:br>
              <a:rPr lang="en-US"/>
            </a:br>
            <a:endParaRPr lang="en-US"/>
          </a:p>
          <a:p>
            <a:r>
              <a:rPr lang="en-US"/>
              <a:t>Subject to the remaining regulatory, financing, and management-retention conditions, we recommend approval of the acquisition of Electronic Arts at $210 per share.</a:t>
            </a:r>
          </a:p>
          <a:p>
            <a:endParaRPr lang="en-US"/>
          </a:p>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have ten backup appendix slides covering one-pager summary, methodology, MoM sensitivity, detailed capitalization, precedent and comparable details, DCF sensitivity, credit metrics, process and related-party, and deal structure. Happy to walk through any of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A1 — single-page summary of the deal: recommendation, returns profile, valuation football field, key risks, and transaction timeline.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A2 — bottom-up CAPM reconstruction of Goldman's disclosed WACC range. Using publicly observable inputs (4.2% risk-free rate at the 6/30/2025 valuation date, Damodaran's 5.0%-6.0% ERP, 0.85-1.05 levered beta from Bloomberg and gaming peers, 5.5%-6.5% pre-tax cost of debt from EA's Senior Notes, 21% US federal corporate tax rate, and a 90%-95% equity / 5%-10% debt pre-deal capital structure), we compute a reconstructed WACC range of 8.24% to 9.96%. This range overlaps Goldman's disclosed 7.5%-9.5% band on the high end and approaches it on the low end. The residual gap of roughly half a percentage point at each end is consistent with Goldman likely using a slightly lower bottom-up unlevered beta or a different peer-set construction not disclosed in the proxy. The reconstruction validates Goldman's disclosed range as derivable from a defensible CAPM build, supporting the integrity of the DCF valuation underlying the Fairness Opinion.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A3 — focused MoM and IRR sensitivity for the three cases. Sponsor Base at 18x exit yields 1.76x and 12%. Management Base at 18x yields 1.91x and 13.8%. Sponsor Downside at 16x yields 1.27x and 4.8%. All three cases generate positive returns at every exit multiple in the range.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A4 — detailed tranche-by-tranche capitalization, with WACD of 7.31 percent.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A5 — eight large gaming M&amp;A precedents from 2016 to 2024 supporting our PTA range. EA's deal at 21x sits approximately half a turn below the 21.5x median ex-outliers and well below the strategic-acquirer subset at 24x or more.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A6 — six peer companies and the rationale for each in the CCA range.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A7 — DCF sensitivity grid reconstructed from Goldman's published methodology. Our reconstruction reproduces both disclosed corners within $3 to $6, indicating successful replication.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A8 — credit metrics by year. The deal deleverages from 5.9 times to 2.6 times over the 5-year hold, with interest coverage doubling from 2.3 times to 4.6 times.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A9 — process timeline and independence mitigants for the related-party question. Wilson terminated his Silver Lake advisory role 16 days before signing; the Board approved with Roche recused; Goldman issued an independent fairness opinion; the stockholder vote ratified at 99.06%. The unmitigated concern is the absence of an MFW Special Committee, which we disclose for IC awareness.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Backup A10 — deal structure, equity and debt commitments, termination protections, regulatory approvals, voting support, and management equity plan assumptions.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B7BA908B-EACE-E9E5-5658-13B6C0EF48B5}"/>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6766560" cy="6858000"/>
          </a:xfrm>
          <a:prstGeom prst="rect">
            <a:avLst/>
          </a:prstGeom>
          <a:solidFill>
            <a:srgbClr val="1F4E79"/>
          </a:solidFill>
          <a:ln/>
        </p:spPr>
        <p:txBody>
          <a:bodyPr/>
          <a:lstStyle/>
          <a:p>
            <a:endParaRPr lang="en-US"/>
          </a:p>
        </p:txBody>
      </p:sp>
      <p:sp>
        <p:nvSpPr>
          <p:cNvPr id="3" name="Text 1"/>
          <p:cNvSpPr/>
          <p:nvPr/>
        </p:nvSpPr>
        <p:spPr>
          <a:xfrm>
            <a:off x="548640" y="1463040"/>
            <a:ext cx="6035040" cy="1097280"/>
          </a:xfrm>
          <a:prstGeom prst="rect">
            <a:avLst/>
          </a:prstGeom>
          <a:noFill/>
          <a:ln/>
        </p:spPr>
        <p:txBody>
          <a:bodyPr wrap="square" lIns="0" tIns="0" rIns="0" bIns="0" rtlCol="0" anchor="ctr"/>
          <a:lstStyle/>
          <a:p>
            <a:pPr marL="0" indent="0" algn="l">
              <a:buNone/>
            </a:pPr>
            <a:r>
              <a:rPr lang="en-US" sz="6400" b="1" i="1" kern="0" spc="400">
                <a:solidFill>
                  <a:srgbClr val="FFFFFF"/>
                </a:solidFill>
                <a:latin typeface="Calibri" pitchFamily="34" charset="0"/>
                <a:ea typeface="Calibri" pitchFamily="34" charset="-122"/>
                <a:cs typeface="Calibri" pitchFamily="34" charset="-120"/>
              </a:rPr>
              <a:t>PROJECT</a:t>
            </a:r>
            <a:endParaRPr lang="en-US" sz="6400"/>
          </a:p>
        </p:txBody>
      </p:sp>
      <p:sp>
        <p:nvSpPr>
          <p:cNvPr id="4" name="Text 2"/>
          <p:cNvSpPr/>
          <p:nvPr/>
        </p:nvSpPr>
        <p:spPr>
          <a:xfrm>
            <a:off x="548640" y="2468880"/>
            <a:ext cx="6035040" cy="1097280"/>
          </a:xfrm>
          <a:prstGeom prst="rect">
            <a:avLst/>
          </a:prstGeom>
          <a:noFill/>
          <a:ln/>
        </p:spPr>
        <p:txBody>
          <a:bodyPr wrap="square" lIns="0" tIns="0" rIns="0" bIns="0" rtlCol="0" anchor="ctr"/>
          <a:lstStyle/>
          <a:p>
            <a:pPr marL="0" indent="0" algn="l">
              <a:buNone/>
            </a:pPr>
            <a:r>
              <a:rPr lang="en-US" sz="6400" b="1" i="1" kern="0" spc="400">
                <a:solidFill>
                  <a:srgbClr val="FFFFFF"/>
                </a:solidFill>
                <a:latin typeface="Calibri" pitchFamily="34" charset="0"/>
                <a:ea typeface="Calibri" pitchFamily="34" charset="-122"/>
                <a:cs typeface="Calibri" pitchFamily="34" charset="-120"/>
              </a:rPr>
              <a:t>MADDEN</a:t>
            </a:r>
            <a:endParaRPr lang="en-US" sz="6400"/>
          </a:p>
        </p:txBody>
      </p:sp>
      <p:sp>
        <p:nvSpPr>
          <p:cNvPr id="5" name="Shape 3"/>
          <p:cNvSpPr/>
          <p:nvPr/>
        </p:nvSpPr>
        <p:spPr>
          <a:xfrm>
            <a:off x="548640" y="3520440"/>
            <a:ext cx="2194560" cy="73152"/>
          </a:xfrm>
          <a:prstGeom prst="rect">
            <a:avLst/>
          </a:prstGeom>
          <a:solidFill>
            <a:srgbClr val="2E75B6"/>
          </a:solidFill>
          <a:ln/>
        </p:spPr>
        <p:txBody>
          <a:bodyPr/>
          <a:lstStyle/>
          <a:p>
            <a:endParaRPr lang="en-US"/>
          </a:p>
        </p:txBody>
      </p:sp>
      <p:sp>
        <p:nvSpPr>
          <p:cNvPr id="6" name="Text 4"/>
          <p:cNvSpPr/>
          <p:nvPr/>
        </p:nvSpPr>
        <p:spPr>
          <a:xfrm>
            <a:off x="548640" y="3703320"/>
            <a:ext cx="6035040" cy="411480"/>
          </a:xfrm>
          <a:prstGeom prst="rect">
            <a:avLst/>
          </a:prstGeom>
          <a:noFill/>
          <a:ln/>
        </p:spPr>
        <p:txBody>
          <a:bodyPr wrap="square" lIns="0" tIns="0" rIns="0" bIns="0" rtlCol="0" anchor="t"/>
          <a:lstStyle/>
          <a:p>
            <a:pPr marL="0" indent="0" algn="l">
              <a:buNone/>
            </a:pPr>
            <a:r>
              <a:rPr lang="en-US" sz="1800" i="1">
                <a:solidFill>
                  <a:srgbClr val="D6E4F0"/>
                </a:solidFill>
                <a:latin typeface="Calibri" pitchFamily="34" charset="0"/>
                <a:ea typeface="Calibri" pitchFamily="34" charset="-122"/>
                <a:cs typeface="Calibri" pitchFamily="34" charset="-120"/>
              </a:rPr>
              <a:t>Take-Private Acquisition of Electronic Arts Inc.</a:t>
            </a:r>
            <a:endParaRPr lang="en-US" sz="1800"/>
          </a:p>
        </p:txBody>
      </p:sp>
      <p:sp>
        <p:nvSpPr>
          <p:cNvPr id="7" name="Shape 5"/>
          <p:cNvSpPr/>
          <p:nvPr/>
        </p:nvSpPr>
        <p:spPr>
          <a:xfrm>
            <a:off x="548640" y="4114800"/>
            <a:ext cx="6035040" cy="45720"/>
          </a:xfrm>
          <a:prstGeom prst="rect">
            <a:avLst/>
          </a:prstGeom>
          <a:solidFill>
            <a:srgbClr val="C9A961"/>
          </a:solidFill>
          <a:ln/>
        </p:spPr>
        <p:txBody>
          <a:bodyPr/>
          <a:lstStyle/>
          <a:p>
            <a:endParaRPr lang="en-US"/>
          </a:p>
        </p:txBody>
      </p:sp>
      <p:sp>
        <p:nvSpPr>
          <p:cNvPr id="8" name="Text 6"/>
          <p:cNvSpPr/>
          <p:nvPr/>
        </p:nvSpPr>
        <p:spPr>
          <a:xfrm>
            <a:off x="548640" y="4251960"/>
            <a:ext cx="6035040" cy="365760"/>
          </a:xfrm>
          <a:prstGeom prst="rect">
            <a:avLst/>
          </a:prstGeom>
          <a:noFill/>
          <a:ln/>
        </p:spPr>
        <p:txBody>
          <a:bodyPr wrap="square" lIns="0" tIns="0" rIns="0" bIns="0" rtlCol="0" anchor="t"/>
          <a:lstStyle/>
          <a:p>
            <a:pPr marL="0" indent="0" algn="l">
              <a:buNone/>
            </a:pPr>
            <a:r>
              <a:rPr lang="en-US" sz="1400" b="1">
                <a:solidFill>
                  <a:srgbClr val="FFFFFF"/>
                </a:solidFill>
                <a:latin typeface="Calibri" pitchFamily="34" charset="0"/>
                <a:ea typeface="Calibri" pitchFamily="34" charset="-122"/>
                <a:cs typeface="Calibri" pitchFamily="34" charset="-120"/>
              </a:rPr>
              <a:t>$210.00 per share  •  $55B Enterprise Value  •  All-Cash</a:t>
            </a:r>
            <a:endParaRPr lang="en-US" sz="1400"/>
          </a:p>
        </p:txBody>
      </p:sp>
      <p:sp>
        <p:nvSpPr>
          <p:cNvPr id="9" name="Text 7"/>
          <p:cNvSpPr/>
          <p:nvPr/>
        </p:nvSpPr>
        <p:spPr>
          <a:xfrm>
            <a:off x="548640" y="4617720"/>
            <a:ext cx="6035040" cy="365760"/>
          </a:xfrm>
          <a:prstGeom prst="rect">
            <a:avLst/>
          </a:prstGeom>
          <a:noFill/>
          <a:ln/>
        </p:spPr>
        <p:txBody>
          <a:bodyPr wrap="square" lIns="0" tIns="0" rIns="0" bIns="0" rtlCol="0" anchor="t"/>
          <a:lstStyle/>
          <a:p>
            <a:pPr marL="0" indent="0" algn="l">
              <a:buNone/>
            </a:pPr>
            <a:r>
              <a:rPr lang="en-US" sz="1400">
                <a:solidFill>
                  <a:srgbClr val="D6E4F0"/>
                </a:solidFill>
                <a:latin typeface="Calibri" pitchFamily="34" charset="0"/>
                <a:ea typeface="Calibri" pitchFamily="34" charset="-122"/>
                <a:cs typeface="Calibri" pitchFamily="34" charset="-120"/>
              </a:rPr>
              <a:t>PIF (lead)  •  Silver Lake (operating)  •  Affinity Partners</a:t>
            </a:r>
            <a:endParaRPr lang="en-US" sz="1400"/>
          </a:p>
        </p:txBody>
      </p:sp>
      <p:sp>
        <p:nvSpPr>
          <p:cNvPr id="10" name="Text 8"/>
          <p:cNvSpPr/>
          <p:nvPr/>
        </p:nvSpPr>
        <p:spPr>
          <a:xfrm>
            <a:off x="6949440" y="2103120"/>
            <a:ext cx="5029200" cy="411480"/>
          </a:xfrm>
          <a:prstGeom prst="rect">
            <a:avLst/>
          </a:prstGeom>
          <a:noFill/>
          <a:ln/>
        </p:spPr>
        <p:txBody>
          <a:bodyPr wrap="square" lIns="0" tIns="0" rIns="0" bIns="0" rtlCol="0" anchor="ctr"/>
          <a:lstStyle/>
          <a:p>
            <a:pPr marL="0" indent="0" algn="l">
              <a:buNone/>
            </a:pPr>
            <a:r>
              <a:rPr lang="en-US" sz="1600" b="1" kern="0" spc="200">
                <a:solidFill>
                  <a:srgbClr val="1F4E79"/>
                </a:solidFill>
                <a:latin typeface="Calibri" pitchFamily="34" charset="0"/>
                <a:ea typeface="Calibri" pitchFamily="34" charset="-122"/>
                <a:cs typeface="Calibri" pitchFamily="34" charset="-120"/>
              </a:rPr>
              <a:t>UNIVERSITY OF ARKANSAS</a:t>
            </a:r>
            <a:endParaRPr lang="en-US" sz="1600"/>
          </a:p>
        </p:txBody>
      </p:sp>
      <p:sp>
        <p:nvSpPr>
          <p:cNvPr id="11" name="Text 9"/>
          <p:cNvSpPr/>
          <p:nvPr/>
        </p:nvSpPr>
        <p:spPr>
          <a:xfrm>
            <a:off x="6949440" y="2487168"/>
            <a:ext cx="5029200" cy="320040"/>
          </a:xfrm>
          <a:prstGeom prst="rect">
            <a:avLst/>
          </a:prstGeom>
          <a:noFill/>
          <a:ln/>
        </p:spPr>
        <p:txBody>
          <a:bodyPr wrap="square" lIns="0" tIns="0" rIns="0" bIns="0" rtlCol="0" anchor="ctr"/>
          <a:lstStyle/>
          <a:p>
            <a:pPr marL="0" indent="0" algn="l">
              <a:buNone/>
            </a:pPr>
            <a:r>
              <a:rPr lang="en-US" sz="1200" i="1">
                <a:solidFill>
                  <a:srgbClr val="595959"/>
                </a:solidFill>
                <a:latin typeface="Calibri" pitchFamily="34" charset="0"/>
                <a:ea typeface="Calibri" pitchFamily="34" charset="-122"/>
                <a:cs typeface="Calibri" pitchFamily="34" charset="-120"/>
              </a:rPr>
              <a:t>Sam M. Walton College of Business</a:t>
            </a:r>
            <a:endParaRPr lang="en-US" sz="1200"/>
          </a:p>
        </p:txBody>
      </p:sp>
      <p:sp>
        <p:nvSpPr>
          <p:cNvPr id="12" name="Text 10"/>
          <p:cNvSpPr/>
          <p:nvPr/>
        </p:nvSpPr>
        <p:spPr>
          <a:xfrm>
            <a:off x="6949440" y="2788920"/>
            <a:ext cx="5029200" cy="320040"/>
          </a:xfrm>
          <a:prstGeom prst="rect">
            <a:avLst/>
          </a:prstGeom>
          <a:noFill/>
          <a:ln/>
        </p:spPr>
        <p:txBody>
          <a:bodyPr wrap="square" lIns="0" tIns="0" rIns="0" bIns="0" rtlCol="0" anchor="ctr"/>
          <a:lstStyle/>
          <a:p>
            <a:pPr marL="0" indent="0" algn="l">
              <a:buNone/>
            </a:pPr>
            <a:r>
              <a:rPr lang="en-US" sz="1200" i="1">
                <a:solidFill>
                  <a:srgbClr val="595959"/>
                </a:solidFill>
                <a:latin typeface="Calibri" pitchFamily="34" charset="0"/>
                <a:ea typeface="Calibri" pitchFamily="34" charset="-122"/>
                <a:cs typeface="Calibri" pitchFamily="34" charset="-120"/>
              </a:rPr>
              <a:t>Master of Science in Finance</a:t>
            </a:r>
            <a:endParaRPr lang="en-US" sz="1200"/>
          </a:p>
        </p:txBody>
      </p:sp>
      <p:sp>
        <p:nvSpPr>
          <p:cNvPr id="13" name="Shape 11"/>
          <p:cNvSpPr/>
          <p:nvPr/>
        </p:nvSpPr>
        <p:spPr>
          <a:xfrm>
            <a:off x="6949440" y="3246120"/>
            <a:ext cx="914400" cy="36576"/>
          </a:xfrm>
          <a:prstGeom prst="rect">
            <a:avLst/>
          </a:prstGeom>
          <a:solidFill>
            <a:srgbClr val="C9A961"/>
          </a:solidFill>
          <a:ln/>
        </p:spPr>
        <p:txBody>
          <a:bodyPr/>
          <a:lstStyle/>
          <a:p>
            <a:endParaRPr lang="en-US"/>
          </a:p>
        </p:txBody>
      </p:sp>
      <p:sp>
        <p:nvSpPr>
          <p:cNvPr id="14" name="Text 12"/>
          <p:cNvSpPr/>
          <p:nvPr/>
        </p:nvSpPr>
        <p:spPr>
          <a:xfrm>
            <a:off x="6949440" y="3429000"/>
            <a:ext cx="5029200" cy="365760"/>
          </a:xfrm>
          <a:prstGeom prst="rect">
            <a:avLst/>
          </a:prstGeom>
          <a:noFill/>
          <a:ln/>
        </p:spPr>
        <p:txBody>
          <a:bodyPr wrap="square" lIns="0" tIns="0" rIns="0" bIns="0" rtlCol="0" anchor="ctr"/>
          <a:lstStyle/>
          <a:p>
            <a:pPr marL="0" indent="0" algn="l">
              <a:buNone/>
            </a:pPr>
            <a:r>
              <a:rPr lang="en-US" sz="1300">
                <a:solidFill>
                  <a:srgbClr val="595959"/>
                </a:solidFill>
                <a:latin typeface="Calibri" pitchFamily="34" charset="0"/>
                <a:ea typeface="Calibri" pitchFamily="34" charset="-122"/>
                <a:cs typeface="Calibri" pitchFamily="34" charset="-120"/>
              </a:rPr>
              <a:t>Final Investment Memorandum</a:t>
            </a:r>
            <a:endParaRPr lang="en-US" sz="1300"/>
          </a:p>
        </p:txBody>
      </p:sp>
      <p:sp>
        <p:nvSpPr>
          <p:cNvPr id="15" name="Text 13"/>
          <p:cNvSpPr/>
          <p:nvPr/>
        </p:nvSpPr>
        <p:spPr>
          <a:xfrm>
            <a:off x="6949440" y="3794760"/>
            <a:ext cx="5029200" cy="365760"/>
          </a:xfrm>
          <a:prstGeom prst="rect">
            <a:avLst/>
          </a:prstGeom>
          <a:noFill/>
          <a:ln/>
        </p:spPr>
        <p:txBody>
          <a:bodyPr wrap="square" lIns="0" tIns="0" rIns="0" bIns="0" rtlCol="0" anchor="ctr"/>
          <a:lstStyle/>
          <a:p>
            <a:pPr marL="0" indent="0" algn="l">
              <a:buNone/>
            </a:pPr>
            <a:r>
              <a:rPr lang="en-US" sz="1200" i="1">
                <a:solidFill>
                  <a:srgbClr val="595959"/>
                </a:solidFill>
                <a:latin typeface="Calibri" pitchFamily="34" charset="0"/>
                <a:ea typeface="Calibri" pitchFamily="34" charset="-122"/>
                <a:cs typeface="Calibri" pitchFamily="34" charset="-120"/>
              </a:rPr>
              <a:t>April 26, 2026</a:t>
            </a:r>
            <a:endParaRPr lang="en-US"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49" name="Picture 48">
            <a:extLst>
              <a:ext uri="{FF2B5EF4-FFF2-40B4-BE49-F238E27FC236}">
                <a16:creationId xmlns:a16="http://schemas.microsoft.com/office/drawing/2014/main" id="{47340B38-58BA-2EE9-7509-B7D9680B3F5D}"/>
              </a:ext>
            </a:extLst>
          </p:cNvPr>
          <p:cNvPicPr>
            <a:picLocks noChangeAspect="1"/>
          </p:cNvPicPr>
          <p:nvPr/>
        </p:nvPicPr>
        <p:blipFill>
          <a:blip r:embed="rId3"/>
          <a:stretch>
            <a:fillRect/>
          </a:stretch>
        </p:blipFill>
        <p:spPr>
          <a:xfrm>
            <a:off x="746609" y="1371601"/>
            <a:ext cx="2468879" cy="2194560"/>
          </a:xfrm>
          <a:prstGeom prst="rect">
            <a:avLst/>
          </a:prstGeom>
        </p:spPr>
      </p:pic>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Project Madden Deal Team</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8" name="Text 6"/>
          <p:cNvSpPr/>
          <p:nvPr/>
        </p:nvSpPr>
        <p:spPr>
          <a:xfrm>
            <a:off x="746608" y="2286000"/>
            <a:ext cx="2468880" cy="365760"/>
          </a:xfrm>
          <a:prstGeom prst="rect">
            <a:avLst/>
          </a:prstGeom>
          <a:noFill/>
          <a:ln/>
        </p:spPr>
        <p:txBody>
          <a:bodyPr wrap="square" lIns="0" tIns="0" rIns="0" bIns="0" rtlCol="0" anchor="ctr"/>
          <a:lstStyle/>
          <a:p>
            <a:pPr marL="0" indent="0" algn="ctr">
              <a:buNone/>
            </a:pPr>
            <a:endParaRPr lang="en-US" sz="1100"/>
          </a:p>
        </p:txBody>
      </p:sp>
      <p:sp>
        <p:nvSpPr>
          <p:cNvPr id="9" name="Shape 7"/>
          <p:cNvSpPr/>
          <p:nvPr/>
        </p:nvSpPr>
        <p:spPr>
          <a:xfrm>
            <a:off x="929488" y="3474720"/>
            <a:ext cx="2103120" cy="41148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10" name="Text 8"/>
          <p:cNvSpPr/>
          <p:nvPr/>
        </p:nvSpPr>
        <p:spPr>
          <a:xfrm>
            <a:off x="929488" y="3474720"/>
            <a:ext cx="210312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Mason Bennett</a:t>
            </a:r>
            <a:endParaRPr lang="en-US" sz="1300"/>
          </a:p>
        </p:txBody>
      </p:sp>
      <p:sp>
        <p:nvSpPr>
          <p:cNvPr id="11" name="Text 9"/>
          <p:cNvSpPr/>
          <p:nvPr/>
        </p:nvSpPr>
        <p:spPr>
          <a:xfrm>
            <a:off x="746609" y="4156108"/>
            <a:ext cx="2468880" cy="274320"/>
          </a:xfrm>
          <a:prstGeom prst="rect">
            <a:avLst/>
          </a:prstGeom>
          <a:noFill/>
          <a:ln/>
        </p:spPr>
        <p:txBody>
          <a:bodyPr wrap="square" lIns="0" tIns="0" rIns="0" bIns="0" rtlCol="0" anchor="ctr"/>
          <a:lstStyle/>
          <a:p>
            <a:pPr algn="ct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13" name="Text 11"/>
          <p:cNvSpPr/>
          <p:nvPr/>
        </p:nvSpPr>
        <p:spPr>
          <a:xfrm>
            <a:off x="746607" y="4663440"/>
            <a:ext cx="2468881"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15" name="Text 13"/>
          <p:cNvSpPr/>
          <p:nvPr/>
        </p:nvSpPr>
        <p:spPr>
          <a:xfrm>
            <a:off x="746607" y="5257800"/>
            <a:ext cx="2468881"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Major:   Masters in Finance – May, 2026</a:t>
            </a:r>
            <a:endParaRPr lang="en-US" sz="1100"/>
          </a:p>
        </p:txBody>
      </p:sp>
      <p:sp>
        <p:nvSpPr>
          <p:cNvPr id="17" name="Shape 15"/>
          <p:cNvSpPr/>
          <p:nvPr/>
        </p:nvSpPr>
        <p:spPr>
          <a:xfrm>
            <a:off x="3489808" y="1371600"/>
            <a:ext cx="2468880" cy="2194560"/>
          </a:xfrm>
          <a:prstGeom prst="rect">
            <a:avLst/>
          </a:prstGeom>
          <a:solidFill>
            <a:srgbClr val="F2F2F2"/>
          </a:solidFill>
          <a:ln w="19050">
            <a:solidFill>
              <a:srgbClr val="1F4E79"/>
            </a:solidFill>
            <a:prstDash val="solid"/>
          </a:ln>
        </p:spPr>
        <p:txBody>
          <a:bodyPr/>
          <a:lstStyle/>
          <a:p>
            <a:endParaRPr lang="en-US"/>
          </a:p>
        </p:txBody>
      </p:sp>
      <p:sp>
        <p:nvSpPr>
          <p:cNvPr id="18" name="Text 16"/>
          <p:cNvSpPr/>
          <p:nvPr/>
        </p:nvSpPr>
        <p:spPr>
          <a:xfrm>
            <a:off x="3489808" y="2286000"/>
            <a:ext cx="2468880" cy="365760"/>
          </a:xfrm>
          <a:prstGeom prst="rect">
            <a:avLst/>
          </a:prstGeom>
          <a:noFill/>
          <a:ln/>
        </p:spPr>
        <p:txBody>
          <a:bodyPr wrap="square" lIns="0" tIns="0" rIns="0" bIns="0" rtlCol="0" anchor="ctr"/>
          <a:lstStyle/>
          <a:p>
            <a:pPr marL="0" indent="0" algn="ctr">
              <a:buNone/>
            </a:pPr>
            <a:r>
              <a:rPr lang="en-US" sz="1100" i="1">
                <a:solidFill>
                  <a:srgbClr val="BFBFBF"/>
                </a:solidFill>
                <a:latin typeface="Calibri" pitchFamily="34" charset="0"/>
                <a:ea typeface="Calibri" pitchFamily="34" charset="-122"/>
                <a:cs typeface="Calibri" pitchFamily="34" charset="-120"/>
              </a:rPr>
              <a:t/>
            </a:r>
            <a:endParaRPr lang="en-US" sz="1100"/>
          </a:p>
        </p:txBody>
      </p:sp>
      <p:sp>
        <p:nvSpPr>
          <p:cNvPr id="19" name="Shape 17"/>
          <p:cNvSpPr/>
          <p:nvPr/>
        </p:nvSpPr>
        <p:spPr>
          <a:xfrm>
            <a:off x="3672688" y="3474720"/>
            <a:ext cx="2103120" cy="41148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20" name="Text 18"/>
          <p:cNvSpPr/>
          <p:nvPr/>
        </p:nvSpPr>
        <p:spPr>
          <a:xfrm>
            <a:off x="3672688" y="3474720"/>
            <a:ext cx="210312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Camden Jones</a:t>
            </a:r>
            <a:endParaRPr lang="en-US" sz="1300"/>
          </a:p>
        </p:txBody>
      </p:sp>
      <p:sp>
        <p:nvSpPr>
          <p:cNvPr id="21" name="Text 19"/>
          <p:cNvSpPr/>
          <p:nvPr/>
        </p:nvSpPr>
        <p:spPr>
          <a:xfrm>
            <a:off x="3489808" y="4156108"/>
            <a:ext cx="2468880"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23" name="Text 21"/>
          <p:cNvSpPr/>
          <p:nvPr/>
        </p:nvSpPr>
        <p:spPr>
          <a:xfrm>
            <a:off x="3489808" y="4663440"/>
            <a:ext cx="2468880"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25" name="Text 23"/>
          <p:cNvSpPr/>
          <p:nvPr/>
        </p:nvSpPr>
        <p:spPr>
          <a:xfrm>
            <a:off x="3489808" y="5257800"/>
            <a:ext cx="2468880" cy="274320"/>
          </a:xfrm>
          <a:prstGeom prst="rect">
            <a:avLst/>
          </a:prstGeom>
          <a:noFill/>
          <a:ln/>
        </p:spPr>
        <p:txBody>
          <a:bodyPr wrap="square" lIns="0" tIns="0" rIns="0" bIns="0" rtlCol="0" anchor="ctr"/>
          <a:lstStyle/>
          <a:p>
            <a:pPr algn="ctr"/>
            <a:r>
              <a:rPr lang="en-US" sz="1100" b="1">
                <a:solidFill>
                  <a:srgbClr val="1F4E79"/>
                </a:solidFill>
                <a:latin typeface="Calibri" pitchFamily="34" charset="0"/>
                <a:ea typeface="Calibri" pitchFamily="34" charset="-122"/>
                <a:cs typeface="Calibri" pitchFamily="34" charset="-120"/>
              </a:rPr>
              <a:t>Major:   Masters in Finance – May, 2026</a:t>
            </a:r>
            <a:endParaRPr lang="en-US" sz="1100"/>
          </a:p>
        </p:txBody>
      </p:sp>
      <p:sp>
        <p:nvSpPr>
          <p:cNvPr id="27" name="Shape 25"/>
          <p:cNvSpPr/>
          <p:nvPr/>
        </p:nvSpPr>
        <p:spPr>
          <a:xfrm>
            <a:off x="6233008" y="1371600"/>
            <a:ext cx="2468880" cy="2194560"/>
          </a:xfrm>
          <a:prstGeom prst="rect">
            <a:avLst/>
          </a:prstGeom>
          <a:solidFill>
            <a:srgbClr val="F2F2F2"/>
          </a:solidFill>
          <a:ln w="19050">
            <a:solidFill>
              <a:srgbClr val="1F4E79"/>
            </a:solidFill>
            <a:prstDash val="solid"/>
          </a:ln>
        </p:spPr>
        <p:txBody>
          <a:bodyPr/>
          <a:lstStyle/>
          <a:p>
            <a:endParaRPr lang="en-US"/>
          </a:p>
        </p:txBody>
      </p:sp>
      <p:sp>
        <p:nvSpPr>
          <p:cNvPr id="28" name="Text 26"/>
          <p:cNvSpPr/>
          <p:nvPr/>
        </p:nvSpPr>
        <p:spPr>
          <a:xfrm>
            <a:off x="6233008" y="2286000"/>
            <a:ext cx="2468880" cy="365760"/>
          </a:xfrm>
          <a:prstGeom prst="rect">
            <a:avLst/>
          </a:prstGeom>
          <a:noFill/>
          <a:ln/>
        </p:spPr>
        <p:txBody>
          <a:bodyPr wrap="square" lIns="0" tIns="0" rIns="0" bIns="0" rtlCol="0" anchor="ctr"/>
          <a:lstStyle/>
          <a:p>
            <a:pPr marL="0" indent="0" algn="ctr">
              <a:buNone/>
            </a:pPr>
            <a:r>
              <a:rPr lang="en-US" sz="1100" i="1">
                <a:solidFill>
                  <a:srgbClr val="BFBFBF"/>
                </a:solidFill>
                <a:latin typeface="Calibri" pitchFamily="34" charset="0"/>
                <a:ea typeface="Calibri" pitchFamily="34" charset="-122"/>
                <a:cs typeface="Calibri" pitchFamily="34" charset="-120"/>
              </a:rPr>
              <a:t/>
            </a:r>
            <a:endParaRPr lang="en-US" sz="1100"/>
          </a:p>
        </p:txBody>
      </p:sp>
      <p:sp>
        <p:nvSpPr>
          <p:cNvPr id="29" name="Shape 27"/>
          <p:cNvSpPr/>
          <p:nvPr/>
        </p:nvSpPr>
        <p:spPr>
          <a:xfrm>
            <a:off x="6415888" y="3474720"/>
            <a:ext cx="2103120" cy="41148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30" name="Text 28"/>
          <p:cNvSpPr/>
          <p:nvPr/>
        </p:nvSpPr>
        <p:spPr>
          <a:xfrm>
            <a:off x="6415888" y="3474720"/>
            <a:ext cx="210312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Aidan Hutchinson</a:t>
            </a:r>
            <a:endParaRPr lang="en-US" sz="1300"/>
          </a:p>
        </p:txBody>
      </p:sp>
      <p:sp>
        <p:nvSpPr>
          <p:cNvPr id="31" name="Text 29"/>
          <p:cNvSpPr/>
          <p:nvPr/>
        </p:nvSpPr>
        <p:spPr>
          <a:xfrm>
            <a:off x="6233008" y="4156108"/>
            <a:ext cx="2468880"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33" name="Text 31"/>
          <p:cNvSpPr/>
          <p:nvPr/>
        </p:nvSpPr>
        <p:spPr>
          <a:xfrm>
            <a:off x="6233008" y="4663440"/>
            <a:ext cx="2468880"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35" name="Text 33"/>
          <p:cNvSpPr/>
          <p:nvPr/>
        </p:nvSpPr>
        <p:spPr>
          <a:xfrm>
            <a:off x="6233007" y="5257800"/>
            <a:ext cx="2468879" cy="274320"/>
          </a:xfrm>
          <a:prstGeom prst="rect">
            <a:avLst/>
          </a:prstGeom>
          <a:noFill/>
          <a:ln/>
        </p:spPr>
        <p:txBody>
          <a:bodyPr wrap="square" lIns="0" tIns="0" rIns="0" bIns="0" rtlCol="0" anchor="ctr"/>
          <a:lstStyle/>
          <a:p>
            <a:pPr algn="ctr"/>
            <a:r>
              <a:rPr lang="en-US" sz="1100" b="1">
                <a:solidFill>
                  <a:srgbClr val="1F4E79"/>
                </a:solidFill>
                <a:latin typeface="Calibri" pitchFamily="34" charset="0"/>
                <a:ea typeface="Calibri" pitchFamily="34" charset="-122"/>
                <a:cs typeface="Calibri" pitchFamily="34" charset="-120"/>
              </a:rPr>
              <a:t>Major:   Masters in Finance – Dec, 2026</a:t>
            </a:r>
            <a:endParaRPr lang="en-US" sz="1100"/>
          </a:p>
        </p:txBody>
      </p:sp>
      <p:sp>
        <p:nvSpPr>
          <p:cNvPr id="37" name="Shape 35"/>
          <p:cNvSpPr/>
          <p:nvPr/>
        </p:nvSpPr>
        <p:spPr>
          <a:xfrm>
            <a:off x="8976208" y="1371600"/>
            <a:ext cx="2468880" cy="2194560"/>
          </a:xfrm>
          <a:prstGeom prst="rect">
            <a:avLst/>
          </a:prstGeom>
          <a:solidFill>
            <a:srgbClr val="F2F2F2"/>
          </a:solidFill>
          <a:ln w="19050">
            <a:solidFill>
              <a:srgbClr val="1F4E79"/>
            </a:solidFill>
            <a:prstDash val="solid"/>
          </a:ln>
        </p:spPr>
        <p:txBody>
          <a:bodyPr/>
          <a:lstStyle/>
          <a:p>
            <a:endParaRPr lang="en-US"/>
          </a:p>
        </p:txBody>
      </p:sp>
      <p:sp>
        <p:nvSpPr>
          <p:cNvPr id="38" name="Text 36"/>
          <p:cNvSpPr/>
          <p:nvPr/>
        </p:nvSpPr>
        <p:spPr>
          <a:xfrm>
            <a:off x="8976208" y="2286000"/>
            <a:ext cx="2468880" cy="365760"/>
          </a:xfrm>
          <a:prstGeom prst="rect">
            <a:avLst/>
          </a:prstGeom>
          <a:noFill/>
          <a:ln/>
        </p:spPr>
        <p:txBody>
          <a:bodyPr wrap="square" lIns="0" tIns="0" rIns="0" bIns="0" rtlCol="0" anchor="ctr"/>
          <a:lstStyle/>
          <a:p>
            <a:pPr marL="0" indent="0" algn="ctr">
              <a:buNone/>
            </a:pPr>
            <a:r>
              <a:rPr lang="en-US" sz="1100" i="1">
                <a:solidFill>
                  <a:srgbClr val="BFBFBF"/>
                </a:solidFill>
                <a:latin typeface="Calibri" pitchFamily="34" charset="0"/>
                <a:ea typeface="Calibri" pitchFamily="34" charset="-122"/>
                <a:cs typeface="Calibri" pitchFamily="34" charset="-120"/>
              </a:rPr>
              <a:t/>
            </a:r>
            <a:endParaRPr lang="en-US" sz="1100"/>
          </a:p>
        </p:txBody>
      </p:sp>
      <p:sp>
        <p:nvSpPr>
          <p:cNvPr id="39" name="Shape 37"/>
          <p:cNvSpPr/>
          <p:nvPr/>
        </p:nvSpPr>
        <p:spPr>
          <a:xfrm>
            <a:off x="9159088" y="3474720"/>
            <a:ext cx="2103120" cy="41148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40" name="Text 38"/>
          <p:cNvSpPr/>
          <p:nvPr/>
        </p:nvSpPr>
        <p:spPr>
          <a:xfrm>
            <a:off x="9159088" y="3474720"/>
            <a:ext cx="2103120" cy="411480"/>
          </a:xfrm>
          <a:prstGeom prst="rect">
            <a:avLst/>
          </a:prstGeom>
          <a:noFill/>
          <a:ln/>
        </p:spPr>
        <p:txBody>
          <a:bodyPr wrap="square" lIns="0" tIns="0" rIns="0" bIns="0" rtlCol="0" anchor="ctr"/>
          <a:lstStyle/>
          <a:p>
            <a:pPr marL="0" indent="0" algn="ctr">
              <a:buNone/>
            </a:pPr>
            <a:r>
              <a:rPr lang="en-US" sz="1300" b="1">
                <a:solidFill>
                  <a:srgbClr val="FFFFFF"/>
                </a:solidFill>
                <a:latin typeface="Calibri" pitchFamily="34" charset="0"/>
                <a:ea typeface="Calibri" pitchFamily="34" charset="-122"/>
                <a:cs typeface="Calibri" pitchFamily="34" charset="-120"/>
              </a:rPr>
              <a:t>Jacob Tyburski</a:t>
            </a:r>
            <a:endParaRPr lang="en-US" sz="1300"/>
          </a:p>
        </p:txBody>
      </p:sp>
      <p:sp>
        <p:nvSpPr>
          <p:cNvPr id="41" name="Text 39"/>
          <p:cNvSpPr/>
          <p:nvPr/>
        </p:nvSpPr>
        <p:spPr>
          <a:xfrm>
            <a:off x="8976208" y="4157151"/>
            <a:ext cx="2468880"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43" name="Text 41"/>
          <p:cNvSpPr/>
          <p:nvPr/>
        </p:nvSpPr>
        <p:spPr>
          <a:xfrm>
            <a:off x="8976208" y="4663440"/>
            <a:ext cx="2468880" cy="27432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
            </a:r>
            <a:endParaRPr lang="en-US" sz="1100"/>
          </a:p>
        </p:txBody>
      </p:sp>
      <p:sp>
        <p:nvSpPr>
          <p:cNvPr id="45" name="Text 43"/>
          <p:cNvSpPr/>
          <p:nvPr/>
        </p:nvSpPr>
        <p:spPr>
          <a:xfrm>
            <a:off x="8976207" y="5257800"/>
            <a:ext cx="2468879" cy="274320"/>
          </a:xfrm>
          <a:prstGeom prst="rect">
            <a:avLst/>
          </a:prstGeom>
          <a:noFill/>
          <a:ln/>
        </p:spPr>
        <p:txBody>
          <a:bodyPr wrap="square" lIns="0" tIns="0" rIns="0" bIns="0" rtlCol="0" anchor="ctr"/>
          <a:lstStyle/>
          <a:p>
            <a:pPr algn="ctr"/>
            <a:r>
              <a:rPr lang="en-US" sz="1100" b="1">
                <a:solidFill>
                  <a:srgbClr val="1F4E79"/>
                </a:solidFill>
                <a:latin typeface="Calibri" pitchFamily="34" charset="0"/>
                <a:ea typeface="Calibri" pitchFamily="34" charset="-122"/>
                <a:cs typeface="Calibri" pitchFamily="34" charset="-120"/>
              </a:rPr>
              <a:t>Major:   Masters in Finance – May, 2027</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64592" y="6437376"/>
            <a:ext cx="292608" cy="292608"/>
          </a:xfrm>
          <a:prstGeom prst="rect">
            <a:avLst/>
          </a:prstGeom>
          <a:solidFill>
            <a:srgbClr val="1F4E79"/>
          </a:solidFill>
          <a:ln/>
        </p:spPr>
        <p:txBody>
          <a:bodyPr/>
          <a:lstStyle/>
          <a:p>
            <a:endParaRPr lang="en-US"/>
          </a:p>
        </p:txBody>
      </p:sp>
      <p:sp>
        <p:nvSpPr>
          <p:cNvPr id="3" name="Text 1"/>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a:t>
            </a:r>
            <a:endParaRPr lang="en-US" sz="1200"/>
          </a:p>
        </p:txBody>
      </p:sp>
      <p:sp>
        <p:nvSpPr>
          <p:cNvPr id="4" name="Text 2"/>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5" name="Shape 3"/>
          <p:cNvSpPr/>
          <p:nvPr/>
        </p:nvSpPr>
        <p:spPr>
          <a:xfrm>
            <a:off x="981111" y="6384237"/>
            <a:ext cx="10054949" cy="182880"/>
          </a:xfrm>
          <a:prstGeom prst="rect">
            <a:avLst/>
          </a:prstGeom>
          <a:solidFill>
            <a:srgbClr val="FFFFFF"/>
          </a:solidFill>
          <a:ln w="9525">
            <a:solidFill>
              <a:srgbClr val="595959"/>
            </a:solidFill>
            <a:prstDash val="solid"/>
          </a:ln>
        </p:spPr>
        <p:txBody>
          <a:bodyPr/>
          <a:lstStyle/>
          <a:p>
            <a:endParaRPr lang="en-US"/>
          </a:p>
        </p:txBody>
      </p:sp>
      <p:sp>
        <p:nvSpPr>
          <p:cNvPr id="6" name="Text 4"/>
          <p:cNvSpPr/>
          <p:nvPr/>
        </p:nvSpPr>
        <p:spPr>
          <a:xfrm>
            <a:off x="1106769" y="6338517"/>
            <a:ext cx="10588061" cy="274320"/>
          </a:xfrm>
          <a:prstGeom prst="rect">
            <a:avLst/>
          </a:prstGeom>
          <a:noFill/>
          <a:ln/>
        </p:spPr>
        <p:txBody>
          <a:bodyPr wrap="square" lIns="0" tIns="0" rIns="0" bIns="0" rtlCol="0" anchor="ctr"/>
          <a:lstStyle/>
          <a:p>
            <a:r>
              <a:rPr lang="en-US" sz="800" b="1" i="1">
                <a:solidFill>
                  <a:srgbClr val="595959"/>
                </a:solidFill>
                <a:latin typeface="Calibri" pitchFamily="34" charset="0"/>
                <a:ea typeface="Calibri" pitchFamily="34" charset="-122"/>
                <a:cs typeface="Calibri" pitchFamily="34" charset="-120"/>
              </a:rPr>
              <a:t>Disclaimer: </a:t>
            </a:r>
            <a:r>
              <a:rPr lang="en-US" sz="800" i="1">
                <a:solidFill>
                  <a:srgbClr val="595959"/>
                </a:solidFill>
                <a:latin typeface="Calibri" pitchFamily="34" charset="0"/>
                <a:ea typeface="Calibri" pitchFamily="34" charset="-122"/>
                <a:cs typeface="Calibri" pitchFamily="34" charset="-120"/>
              </a:rPr>
              <a:t>This presentation is for academic purposes only and does not constitute financial advice. Analysis includes non-GAAP financial metrics such as 'Adjusted EBITDA.' No guarantee of analytical accuracy, express or implied, is granted.</a:t>
            </a:r>
            <a:endParaRPr lang="en-US" sz="800"/>
          </a:p>
        </p:txBody>
      </p:sp>
      <p:sp>
        <p:nvSpPr>
          <p:cNvPr id="7" name="Shape 5"/>
          <p:cNvSpPr/>
          <p:nvPr/>
        </p:nvSpPr>
        <p:spPr>
          <a:xfrm>
            <a:off x="356616" y="502920"/>
            <a:ext cx="5486400" cy="5488298"/>
          </a:xfrm>
          <a:prstGeom prst="rect">
            <a:avLst/>
          </a:prstGeom>
          <a:solidFill>
            <a:srgbClr val="1F4E79"/>
          </a:solidFill>
          <a:ln/>
        </p:spPr>
        <p:txBody>
          <a:bodyPr/>
          <a:lstStyle/>
          <a:p>
            <a:endParaRPr lang="en-US"/>
          </a:p>
        </p:txBody>
      </p:sp>
      <p:sp>
        <p:nvSpPr>
          <p:cNvPr id="8" name="Text 6"/>
          <p:cNvSpPr/>
          <p:nvPr/>
        </p:nvSpPr>
        <p:spPr>
          <a:xfrm>
            <a:off x="310896" y="1318116"/>
            <a:ext cx="5486400" cy="2286000"/>
          </a:xfrm>
          <a:prstGeom prst="rect">
            <a:avLst/>
          </a:prstGeom>
          <a:noFill/>
          <a:ln/>
        </p:spPr>
        <p:txBody>
          <a:bodyPr wrap="square" lIns="0" tIns="0" rIns="0" bIns="0" rtlCol="0" anchor="ctr"/>
          <a:lstStyle/>
          <a:p>
            <a:pPr marL="0" indent="0" algn="ctr">
              <a:buNone/>
            </a:pPr>
            <a:r>
              <a:rPr lang="en-US" sz="20000" b="1" i="1">
                <a:solidFill>
                  <a:srgbClr val="FFFFFF"/>
                </a:solidFill>
                <a:latin typeface="Calibri" pitchFamily="34" charset="0"/>
                <a:ea typeface="Calibri" pitchFamily="34" charset="-122"/>
                <a:cs typeface="Calibri" pitchFamily="34" charset="-120"/>
              </a:rPr>
              <a:t>EA</a:t>
            </a:r>
            <a:endParaRPr lang="en-US" sz="20000"/>
          </a:p>
        </p:txBody>
      </p:sp>
      <p:sp>
        <p:nvSpPr>
          <p:cNvPr id="9" name="Shape 7"/>
          <p:cNvSpPr/>
          <p:nvPr/>
        </p:nvSpPr>
        <p:spPr>
          <a:xfrm>
            <a:off x="2194560" y="3720486"/>
            <a:ext cx="1828800" cy="54864"/>
          </a:xfrm>
          <a:prstGeom prst="rect">
            <a:avLst/>
          </a:prstGeom>
          <a:solidFill>
            <a:srgbClr val="2E75B6"/>
          </a:solidFill>
          <a:ln/>
        </p:spPr>
        <p:txBody>
          <a:bodyPr/>
          <a:lstStyle/>
          <a:p>
            <a:endParaRPr lang="en-US"/>
          </a:p>
        </p:txBody>
      </p:sp>
      <p:sp>
        <p:nvSpPr>
          <p:cNvPr id="10" name="Text 8"/>
          <p:cNvSpPr/>
          <p:nvPr/>
        </p:nvSpPr>
        <p:spPr>
          <a:xfrm>
            <a:off x="365760" y="3917342"/>
            <a:ext cx="5486400" cy="365760"/>
          </a:xfrm>
          <a:prstGeom prst="rect">
            <a:avLst/>
          </a:prstGeom>
          <a:noFill/>
          <a:ln/>
        </p:spPr>
        <p:txBody>
          <a:bodyPr wrap="square" lIns="0" tIns="0" rIns="0" bIns="0" rtlCol="0" anchor="ctr"/>
          <a:lstStyle/>
          <a:p>
            <a:pPr marL="0" indent="0" algn="ctr">
              <a:buNone/>
            </a:pPr>
            <a:r>
              <a:rPr lang="en-US" sz="1600" b="1" kern="0" spc="300">
                <a:solidFill>
                  <a:srgbClr val="FFFFFF"/>
                </a:solidFill>
                <a:latin typeface="Calibri" pitchFamily="34" charset="0"/>
                <a:ea typeface="Calibri" pitchFamily="34" charset="-122"/>
                <a:cs typeface="Calibri" pitchFamily="34" charset="-120"/>
              </a:rPr>
              <a:t>ELECTRONIC ARTS INC.</a:t>
            </a:r>
            <a:endParaRPr lang="en-US" sz="1600"/>
          </a:p>
        </p:txBody>
      </p:sp>
      <p:sp>
        <p:nvSpPr>
          <p:cNvPr id="11" name="Text 9"/>
          <p:cNvSpPr/>
          <p:nvPr/>
        </p:nvSpPr>
        <p:spPr>
          <a:xfrm>
            <a:off x="365760" y="4321316"/>
            <a:ext cx="5486400" cy="365760"/>
          </a:xfrm>
          <a:prstGeom prst="rect">
            <a:avLst/>
          </a:prstGeom>
          <a:noFill/>
          <a:ln/>
        </p:spPr>
        <p:txBody>
          <a:bodyPr wrap="square" lIns="0" tIns="0" rIns="0" bIns="0" rtlCol="0" anchor="ctr"/>
          <a:lstStyle/>
          <a:p>
            <a:pPr marL="0" indent="0" algn="ctr">
              <a:buNone/>
            </a:pPr>
            <a:r>
              <a:rPr lang="en-US" sz="1400" i="1">
                <a:solidFill>
                  <a:srgbClr val="D6E4F0"/>
                </a:solidFill>
                <a:latin typeface="Calibri" pitchFamily="34" charset="0"/>
                <a:ea typeface="Calibri" pitchFamily="34" charset="-122"/>
                <a:cs typeface="Calibri" pitchFamily="34" charset="-120"/>
              </a:rPr>
              <a:t>NASDAQ: EA  →  Take-Private</a:t>
            </a:r>
            <a:endParaRPr lang="en-US" sz="1400"/>
          </a:p>
        </p:txBody>
      </p:sp>
      <p:sp>
        <p:nvSpPr>
          <p:cNvPr id="12" name="Text 10"/>
          <p:cNvSpPr/>
          <p:nvPr/>
        </p:nvSpPr>
        <p:spPr>
          <a:xfrm>
            <a:off x="6126480" y="502920"/>
            <a:ext cx="5760720" cy="594360"/>
          </a:xfrm>
          <a:prstGeom prst="rect">
            <a:avLst/>
          </a:prstGeom>
          <a:noFill/>
          <a:ln/>
        </p:spPr>
        <p:txBody>
          <a:bodyPr wrap="square" lIns="0" tIns="0" rIns="0" bIns="0" rtlCol="0" anchor="ctr"/>
          <a:lstStyle/>
          <a:p>
            <a:pPr marL="0" indent="0" algn="l">
              <a:buNone/>
            </a:pPr>
            <a:r>
              <a:rPr lang="en-US" sz="3200" b="1" i="1">
                <a:solidFill>
                  <a:srgbClr val="1F4E79"/>
                </a:solidFill>
                <a:latin typeface="Calibri" pitchFamily="34" charset="0"/>
                <a:ea typeface="Calibri" pitchFamily="34" charset="-122"/>
                <a:cs typeface="Calibri" pitchFamily="34" charset="-120"/>
              </a:rPr>
              <a:t>Table of Contents</a:t>
            </a:r>
            <a:endParaRPr lang="en-US" sz="3200"/>
          </a:p>
        </p:txBody>
      </p:sp>
      <p:sp>
        <p:nvSpPr>
          <p:cNvPr id="13" name="Shape 11"/>
          <p:cNvSpPr/>
          <p:nvPr/>
        </p:nvSpPr>
        <p:spPr>
          <a:xfrm>
            <a:off x="6126480" y="1143000"/>
            <a:ext cx="1645920" cy="54864"/>
          </a:xfrm>
          <a:prstGeom prst="rect">
            <a:avLst/>
          </a:prstGeom>
          <a:solidFill>
            <a:srgbClr val="2E75B6"/>
          </a:solidFill>
          <a:ln/>
        </p:spPr>
        <p:txBody>
          <a:bodyPr/>
          <a:lstStyle/>
          <a:p>
            <a:endParaRPr lang="en-US"/>
          </a:p>
        </p:txBody>
      </p:sp>
      <p:sp>
        <p:nvSpPr>
          <p:cNvPr id="14" name="Text 12"/>
          <p:cNvSpPr/>
          <p:nvPr/>
        </p:nvSpPr>
        <p:spPr>
          <a:xfrm>
            <a:off x="6339842" y="1506517"/>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4</a:t>
            </a:r>
            <a:endParaRPr lang="en-US" sz="1600"/>
          </a:p>
        </p:txBody>
      </p:sp>
      <p:sp>
        <p:nvSpPr>
          <p:cNvPr id="15" name="Text 13"/>
          <p:cNvSpPr/>
          <p:nvPr/>
        </p:nvSpPr>
        <p:spPr>
          <a:xfrm>
            <a:off x="6979922" y="1506517"/>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EA's Strategic Crossroads</a:t>
            </a:r>
            <a:endParaRPr lang="en-US" sz="1600"/>
          </a:p>
        </p:txBody>
      </p:sp>
      <p:sp>
        <p:nvSpPr>
          <p:cNvPr id="16" name="Text 14"/>
          <p:cNvSpPr/>
          <p:nvPr/>
        </p:nvSpPr>
        <p:spPr>
          <a:xfrm>
            <a:off x="6339842" y="1835701"/>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5</a:t>
            </a:r>
            <a:endParaRPr lang="en-US" sz="1600"/>
          </a:p>
        </p:txBody>
      </p:sp>
      <p:sp>
        <p:nvSpPr>
          <p:cNvPr id="17" name="Text 15"/>
          <p:cNvSpPr/>
          <p:nvPr/>
        </p:nvSpPr>
        <p:spPr>
          <a:xfrm>
            <a:off x="6979922" y="1835701"/>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Why EA is the Right Take-Private</a:t>
            </a:r>
            <a:endParaRPr lang="en-US" sz="1600"/>
          </a:p>
        </p:txBody>
      </p:sp>
      <p:sp>
        <p:nvSpPr>
          <p:cNvPr id="18" name="Text 16"/>
          <p:cNvSpPr/>
          <p:nvPr/>
        </p:nvSpPr>
        <p:spPr>
          <a:xfrm>
            <a:off x="6339842" y="2164885"/>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6</a:t>
            </a:r>
            <a:endParaRPr lang="en-US" sz="1600"/>
          </a:p>
        </p:txBody>
      </p:sp>
      <p:sp>
        <p:nvSpPr>
          <p:cNvPr id="19" name="Text 17"/>
          <p:cNvSpPr/>
          <p:nvPr/>
        </p:nvSpPr>
        <p:spPr>
          <a:xfrm>
            <a:off x="6979922" y="2164885"/>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Investment Thesis</a:t>
            </a:r>
            <a:endParaRPr lang="en-US" sz="1600"/>
          </a:p>
        </p:txBody>
      </p:sp>
      <p:sp>
        <p:nvSpPr>
          <p:cNvPr id="20" name="Text 18"/>
          <p:cNvSpPr/>
          <p:nvPr/>
        </p:nvSpPr>
        <p:spPr>
          <a:xfrm>
            <a:off x="6339842" y="2494069"/>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7</a:t>
            </a:r>
            <a:endParaRPr lang="en-US" sz="1600"/>
          </a:p>
        </p:txBody>
      </p:sp>
      <p:sp>
        <p:nvSpPr>
          <p:cNvPr id="21" name="Text 19"/>
          <p:cNvSpPr/>
          <p:nvPr/>
        </p:nvSpPr>
        <p:spPr>
          <a:xfrm>
            <a:off x="6979922" y="2494069"/>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SWOT Analysis</a:t>
            </a:r>
            <a:endParaRPr lang="en-US" sz="1600"/>
          </a:p>
        </p:txBody>
      </p:sp>
      <p:sp>
        <p:nvSpPr>
          <p:cNvPr id="22" name="Text 20"/>
          <p:cNvSpPr/>
          <p:nvPr/>
        </p:nvSpPr>
        <p:spPr>
          <a:xfrm>
            <a:off x="6339842" y="2823253"/>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8</a:t>
            </a:r>
            <a:endParaRPr lang="en-US" sz="1600"/>
          </a:p>
        </p:txBody>
      </p:sp>
      <p:sp>
        <p:nvSpPr>
          <p:cNvPr id="23" name="Text 21"/>
          <p:cNvSpPr/>
          <p:nvPr/>
        </p:nvSpPr>
        <p:spPr>
          <a:xfrm>
            <a:off x="6979922" y="2823253"/>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Transaction Overview</a:t>
            </a:r>
            <a:endParaRPr lang="en-US" sz="1600"/>
          </a:p>
        </p:txBody>
      </p:sp>
      <p:sp>
        <p:nvSpPr>
          <p:cNvPr id="24" name="Text 22"/>
          <p:cNvSpPr/>
          <p:nvPr/>
        </p:nvSpPr>
        <p:spPr>
          <a:xfrm>
            <a:off x="6339842" y="3152437"/>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9</a:t>
            </a:r>
            <a:endParaRPr lang="en-US" sz="1600"/>
          </a:p>
        </p:txBody>
      </p:sp>
      <p:sp>
        <p:nvSpPr>
          <p:cNvPr id="25" name="Text 23"/>
          <p:cNvSpPr/>
          <p:nvPr/>
        </p:nvSpPr>
        <p:spPr>
          <a:xfrm>
            <a:off x="6979922" y="3152437"/>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Sources &amp; Uses</a:t>
            </a:r>
            <a:endParaRPr lang="en-US" sz="1600"/>
          </a:p>
        </p:txBody>
      </p:sp>
      <p:sp>
        <p:nvSpPr>
          <p:cNvPr id="26" name="Text 24"/>
          <p:cNvSpPr/>
          <p:nvPr/>
        </p:nvSpPr>
        <p:spPr>
          <a:xfrm>
            <a:off x="6339842" y="3481621"/>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10</a:t>
            </a:r>
            <a:endParaRPr lang="en-US" sz="1600"/>
          </a:p>
        </p:txBody>
      </p:sp>
      <p:sp>
        <p:nvSpPr>
          <p:cNvPr id="27" name="Text 25"/>
          <p:cNvSpPr/>
          <p:nvPr/>
        </p:nvSpPr>
        <p:spPr>
          <a:xfrm>
            <a:off x="6979922" y="3481621"/>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Three-Case EBITDA Projections</a:t>
            </a:r>
            <a:endParaRPr lang="en-US" sz="1600"/>
          </a:p>
        </p:txBody>
      </p:sp>
      <p:sp>
        <p:nvSpPr>
          <p:cNvPr id="28" name="Text 26"/>
          <p:cNvSpPr/>
          <p:nvPr/>
        </p:nvSpPr>
        <p:spPr>
          <a:xfrm>
            <a:off x="6339842" y="3810805"/>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11</a:t>
            </a:r>
            <a:endParaRPr lang="en-US" sz="1600"/>
          </a:p>
        </p:txBody>
      </p:sp>
      <p:sp>
        <p:nvSpPr>
          <p:cNvPr id="29" name="Text 27"/>
          <p:cNvSpPr/>
          <p:nvPr/>
        </p:nvSpPr>
        <p:spPr>
          <a:xfrm>
            <a:off x="6979922" y="3810805"/>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Value-Creation Bridge</a:t>
            </a:r>
            <a:endParaRPr lang="en-US" sz="1600"/>
          </a:p>
        </p:txBody>
      </p:sp>
      <p:sp>
        <p:nvSpPr>
          <p:cNvPr id="30" name="Text 28"/>
          <p:cNvSpPr/>
          <p:nvPr/>
        </p:nvSpPr>
        <p:spPr>
          <a:xfrm>
            <a:off x="6339842" y="4139989"/>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12</a:t>
            </a:r>
            <a:endParaRPr lang="en-US" sz="1600"/>
          </a:p>
        </p:txBody>
      </p:sp>
      <p:sp>
        <p:nvSpPr>
          <p:cNvPr id="31" name="Text 29"/>
          <p:cNvSpPr/>
          <p:nvPr/>
        </p:nvSpPr>
        <p:spPr>
          <a:xfrm>
            <a:off x="6979922" y="4139989"/>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LBO Returns &amp; Sensitivity</a:t>
            </a:r>
            <a:endParaRPr lang="en-US" sz="1600"/>
          </a:p>
        </p:txBody>
      </p:sp>
      <p:sp>
        <p:nvSpPr>
          <p:cNvPr id="32" name="Text 30"/>
          <p:cNvSpPr/>
          <p:nvPr/>
        </p:nvSpPr>
        <p:spPr>
          <a:xfrm>
            <a:off x="6339842" y="4469173"/>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13</a:t>
            </a:r>
            <a:endParaRPr lang="en-US" sz="1600"/>
          </a:p>
        </p:txBody>
      </p:sp>
      <p:sp>
        <p:nvSpPr>
          <p:cNvPr id="33" name="Text 31"/>
          <p:cNvSpPr/>
          <p:nvPr/>
        </p:nvSpPr>
        <p:spPr>
          <a:xfrm>
            <a:off x="6979922" y="4469173"/>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Valuation Football Field</a:t>
            </a:r>
            <a:endParaRPr lang="en-US" sz="1600"/>
          </a:p>
        </p:txBody>
      </p:sp>
      <p:sp>
        <p:nvSpPr>
          <p:cNvPr id="34" name="Text 32"/>
          <p:cNvSpPr/>
          <p:nvPr/>
        </p:nvSpPr>
        <p:spPr>
          <a:xfrm>
            <a:off x="6339842" y="4798357"/>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14</a:t>
            </a:r>
            <a:endParaRPr lang="en-US" sz="1600"/>
          </a:p>
        </p:txBody>
      </p:sp>
      <p:sp>
        <p:nvSpPr>
          <p:cNvPr id="35" name="Text 33"/>
          <p:cNvSpPr/>
          <p:nvPr/>
        </p:nvSpPr>
        <p:spPr>
          <a:xfrm>
            <a:off x="6979922" y="4798357"/>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Recommendation</a:t>
            </a:r>
            <a:endParaRPr lang="en-US" sz="1600"/>
          </a:p>
        </p:txBody>
      </p:sp>
      <p:sp>
        <p:nvSpPr>
          <p:cNvPr id="36" name="Text 34"/>
          <p:cNvSpPr/>
          <p:nvPr/>
        </p:nvSpPr>
        <p:spPr>
          <a:xfrm>
            <a:off x="6339842" y="5127541"/>
            <a:ext cx="548640" cy="292608"/>
          </a:xfrm>
          <a:prstGeom prst="rect">
            <a:avLst/>
          </a:prstGeom>
          <a:noFill/>
          <a:ln/>
        </p:spPr>
        <p:txBody>
          <a:bodyPr wrap="square" lIns="0" tIns="0" rIns="0" bIns="0" rtlCol="0" anchor="ctr"/>
          <a:lstStyle/>
          <a:p>
            <a:pPr marL="0" indent="0" algn="l">
              <a:buNone/>
            </a:pPr>
            <a:r>
              <a:rPr lang="en-US" sz="1600" b="1">
                <a:solidFill>
                  <a:srgbClr val="2E75B6"/>
                </a:solidFill>
                <a:latin typeface="Calibri" pitchFamily="34" charset="0"/>
                <a:ea typeface="Calibri" pitchFamily="34" charset="-122"/>
                <a:cs typeface="Calibri" pitchFamily="34" charset="-120"/>
              </a:rPr>
              <a:t>15</a:t>
            </a:r>
            <a:endParaRPr lang="en-US" sz="1600"/>
          </a:p>
        </p:txBody>
      </p:sp>
      <p:sp>
        <p:nvSpPr>
          <p:cNvPr id="37" name="Text 35"/>
          <p:cNvSpPr/>
          <p:nvPr/>
        </p:nvSpPr>
        <p:spPr>
          <a:xfrm>
            <a:off x="6979922" y="5127541"/>
            <a:ext cx="5029200" cy="292608"/>
          </a:xfrm>
          <a:prstGeom prst="rect">
            <a:avLst/>
          </a:prstGeom>
          <a:noFill/>
          <a:ln/>
        </p:spPr>
        <p:txBody>
          <a:bodyPr wrap="square" lIns="0" tIns="0" rIns="0" bIns="0" rtlCol="0" anchor="ctr"/>
          <a:lstStyle/>
          <a:p>
            <a:pPr marL="0" indent="0" algn="l">
              <a:buNone/>
            </a:pPr>
            <a:r>
              <a:rPr lang="en-US" sz="1600" b="1">
                <a:solidFill>
                  <a:srgbClr val="1F4E79"/>
                </a:solidFill>
                <a:latin typeface="Calibri" pitchFamily="34" charset="0"/>
                <a:ea typeface="Calibri" pitchFamily="34" charset="-122"/>
                <a:cs typeface="Calibri" pitchFamily="34" charset="-120"/>
              </a:rPr>
              <a:t>Appendices</a:t>
            </a:r>
            <a:endParaRPr lang="en-US"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EA's Strategic Crossroads</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4</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478766" y="1325880"/>
            <a:ext cx="5440680" cy="15087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8" name="Shape 6"/>
          <p:cNvSpPr/>
          <p:nvPr/>
        </p:nvSpPr>
        <p:spPr>
          <a:xfrm>
            <a:off x="685800" y="1463040"/>
            <a:ext cx="1417320" cy="365760"/>
          </a:xfrm>
          <a:prstGeom prst="rect">
            <a:avLst/>
          </a:prstGeom>
          <a:solidFill>
            <a:srgbClr val="1F4E79"/>
          </a:solidFill>
          <a:ln/>
        </p:spPr>
        <p:txBody>
          <a:bodyPr/>
          <a:lstStyle/>
          <a:p>
            <a:endParaRPr lang="en-US"/>
          </a:p>
        </p:txBody>
      </p:sp>
      <p:sp>
        <p:nvSpPr>
          <p:cNvPr id="9" name="Text 7"/>
          <p:cNvSpPr/>
          <p:nvPr/>
        </p:nvSpPr>
        <p:spPr>
          <a:xfrm>
            <a:off x="685800" y="1463040"/>
            <a:ext cx="1417320" cy="3657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FY2023</a:t>
            </a:r>
            <a:endParaRPr lang="en-US" sz="1100"/>
          </a:p>
        </p:txBody>
      </p:sp>
      <p:sp>
        <p:nvSpPr>
          <p:cNvPr id="10" name="Text 8"/>
          <p:cNvSpPr/>
          <p:nvPr/>
        </p:nvSpPr>
        <p:spPr>
          <a:xfrm>
            <a:off x="685800" y="1874520"/>
            <a:ext cx="4983480" cy="329184"/>
          </a:xfrm>
          <a:prstGeom prst="rect">
            <a:avLst/>
          </a:prstGeom>
          <a:noFill/>
          <a:ln/>
        </p:spPr>
        <p:txBody>
          <a:bodyPr wrap="square" lIns="0" tIns="0" rIns="0" bIns="0" rtlCol="0" anchor="ctr"/>
          <a:lstStyle/>
          <a:p>
            <a:pPr marL="0" indent="0" algn="l">
              <a:buNone/>
            </a:pPr>
            <a:r>
              <a:rPr lang="en-US" sz="1400" b="1">
                <a:solidFill>
                  <a:srgbClr val="1F4E79"/>
                </a:solidFill>
                <a:latin typeface="Calibri" pitchFamily="34" charset="0"/>
                <a:ea typeface="Calibri" pitchFamily="34" charset="-122"/>
                <a:cs typeface="Calibri" pitchFamily="34" charset="-120"/>
              </a:rPr>
              <a:t>FIFA License Loss</a:t>
            </a:r>
            <a:endParaRPr lang="en-US" sz="1400"/>
          </a:p>
        </p:txBody>
      </p:sp>
      <p:sp>
        <p:nvSpPr>
          <p:cNvPr id="11" name="Text 9"/>
          <p:cNvSpPr/>
          <p:nvPr/>
        </p:nvSpPr>
        <p:spPr>
          <a:xfrm>
            <a:off x="685800" y="2203704"/>
            <a:ext cx="4983480" cy="566928"/>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EA loses long-running FIFA license. Rebrands its global soccer franchise to EA Sports FC. The franchise survives the transition with revenue base sustained — a successful proof-of-IP-resilience.</a:t>
            </a:r>
            <a:endParaRPr lang="en-US" sz="1050"/>
          </a:p>
        </p:txBody>
      </p:sp>
      <p:sp>
        <p:nvSpPr>
          <p:cNvPr id="12" name="Shape 10"/>
          <p:cNvSpPr/>
          <p:nvPr/>
        </p:nvSpPr>
        <p:spPr>
          <a:xfrm>
            <a:off x="457200" y="2999232"/>
            <a:ext cx="5440680" cy="15087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3" name="Shape 11"/>
          <p:cNvSpPr/>
          <p:nvPr/>
        </p:nvSpPr>
        <p:spPr>
          <a:xfrm>
            <a:off x="685800" y="3136392"/>
            <a:ext cx="1417320" cy="365760"/>
          </a:xfrm>
          <a:prstGeom prst="rect">
            <a:avLst/>
          </a:prstGeom>
          <a:solidFill>
            <a:srgbClr val="1F4E79"/>
          </a:solidFill>
          <a:ln/>
        </p:spPr>
        <p:txBody>
          <a:bodyPr/>
          <a:lstStyle/>
          <a:p>
            <a:endParaRPr lang="en-US"/>
          </a:p>
        </p:txBody>
      </p:sp>
      <p:sp>
        <p:nvSpPr>
          <p:cNvPr id="14" name="Text 12"/>
          <p:cNvSpPr/>
          <p:nvPr/>
        </p:nvSpPr>
        <p:spPr>
          <a:xfrm>
            <a:off x="685800" y="3136392"/>
            <a:ext cx="1417320" cy="3657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FY2025</a:t>
            </a:r>
            <a:endParaRPr lang="en-US" sz="1100"/>
          </a:p>
        </p:txBody>
      </p:sp>
      <p:sp>
        <p:nvSpPr>
          <p:cNvPr id="15" name="Text 13"/>
          <p:cNvSpPr/>
          <p:nvPr/>
        </p:nvSpPr>
        <p:spPr>
          <a:xfrm>
            <a:off x="685800" y="3547872"/>
            <a:ext cx="4983480" cy="329184"/>
          </a:xfrm>
          <a:prstGeom prst="rect">
            <a:avLst/>
          </a:prstGeom>
          <a:noFill/>
          <a:ln/>
        </p:spPr>
        <p:txBody>
          <a:bodyPr wrap="square" lIns="0" tIns="0" rIns="0" bIns="0" rtlCol="0" anchor="ctr"/>
          <a:lstStyle/>
          <a:p>
            <a:pPr marL="0" indent="0" algn="l">
              <a:buNone/>
            </a:pPr>
            <a:r>
              <a:rPr lang="en-US" sz="1400" b="1">
                <a:solidFill>
                  <a:srgbClr val="1F4E79"/>
                </a:solidFill>
                <a:latin typeface="Calibri" pitchFamily="34" charset="0"/>
                <a:ea typeface="Calibri" pitchFamily="34" charset="-122"/>
                <a:cs typeface="Calibri" pitchFamily="34" charset="-120"/>
              </a:rPr>
              <a:t>Live Services Maturity</a:t>
            </a:r>
            <a:endParaRPr lang="en-US" sz="1400"/>
          </a:p>
        </p:txBody>
      </p:sp>
      <p:sp>
        <p:nvSpPr>
          <p:cNvPr id="16" name="Text 14"/>
          <p:cNvSpPr/>
          <p:nvPr/>
        </p:nvSpPr>
        <p:spPr>
          <a:xfrm>
            <a:off x="685800" y="3877056"/>
            <a:ext cx="4983480" cy="566928"/>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73.2% of FY25 net revenue ($5.461B of $7.463B) is recurring live services. Adj. EBITDA margins expand from 30.7% (FY22) to 34.5% (FY25). EBITDA reaches $2.575B with $1.858B of free cash flow.</a:t>
            </a:r>
            <a:endParaRPr lang="en-US" sz="1050"/>
          </a:p>
        </p:txBody>
      </p:sp>
      <p:sp>
        <p:nvSpPr>
          <p:cNvPr id="17" name="Shape 15"/>
          <p:cNvSpPr/>
          <p:nvPr/>
        </p:nvSpPr>
        <p:spPr>
          <a:xfrm>
            <a:off x="457200" y="4672584"/>
            <a:ext cx="5440680" cy="15087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8" name="Shape 16"/>
          <p:cNvSpPr/>
          <p:nvPr/>
        </p:nvSpPr>
        <p:spPr>
          <a:xfrm>
            <a:off x="685800" y="4809744"/>
            <a:ext cx="1417320" cy="365760"/>
          </a:xfrm>
          <a:prstGeom prst="rect">
            <a:avLst/>
          </a:prstGeom>
          <a:solidFill>
            <a:srgbClr val="1F4E79"/>
          </a:solidFill>
          <a:ln/>
        </p:spPr>
        <p:txBody>
          <a:bodyPr/>
          <a:lstStyle/>
          <a:p>
            <a:endParaRPr lang="en-US"/>
          </a:p>
        </p:txBody>
      </p:sp>
      <p:sp>
        <p:nvSpPr>
          <p:cNvPr id="19" name="Text 17"/>
          <p:cNvSpPr/>
          <p:nvPr/>
        </p:nvSpPr>
        <p:spPr>
          <a:xfrm>
            <a:off x="685800" y="4809744"/>
            <a:ext cx="1417320" cy="36576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Aug–Sep 2025</a:t>
            </a:r>
            <a:endParaRPr lang="en-US" sz="1100"/>
          </a:p>
        </p:txBody>
      </p:sp>
      <p:sp>
        <p:nvSpPr>
          <p:cNvPr id="20" name="Text 18"/>
          <p:cNvSpPr/>
          <p:nvPr/>
        </p:nvSpPr>
        <p:spPr>
          <a:xfrm>
            <a:off x="685800" y="5221224"/>
            <a:ext cx="4983480" cy="329184"/>
          </a:xfrm>
          <a:prstGeom prst="rect">
            <a:avLst/>
          </a:prstGeom>
          <a:noFill/>
          <a:ln/>
        </p:spPr>
        <p:txBody>
          <a:bodyPr wrap="square" lIns="0" tIns="0" rIns="0" bIns="0" rtlCol="0" anchor="ctr"/>
          <a:lstStyle/>
          <a:p>
            <a:pPr marL="0" indent="0" algn="l">
              <a:buNone/>
            </a:pPr>
            <a:r>
              <a:rPr lang="en-US" sz="1400" b="1">
                <a:solidFill>
                  <a:srgbClr val="1F4E79"/>
                </a:solidFill>
                <a:latin typeface="Calibri" pitchFamily="34" charset="0"/>
                <a:ea typeface="Calibri" pitchFamily="34" charset="-122"/>
                <a:cs typeface="Calibri" pitchFamily="34" charset="-120"/>
              </a:rPr>
              <a:t>Stock Below 52-Week High</a:t>
            </a:r>
            <a:endParaRPr lang="en-US" sz="1400"/>
          </a:p>
        </p:txBody>
      </p:sp>
      <p:sp>
        <p:nvSpPr>
          <p:cNvPr id="21" name="Text 19"/>
          <p:cNvSpPr/>
          <p:nvPr/>
        </p:nvSpPr>
        <p:spPr>
          <a:xfrm>
            <a:off x="685800" y="5550408"/>
            <a:ext cx="4983480" cy="566928"/>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Stock at $168.32 (unaffected, 9/25/2025) — 6% below 52-week high of $179.01. PIF holds 9.9% existing stake, building toward gaming consolidation. Battlefield 6 launch and FY28 EBITDA step-change still unmonetized in public valuation.</a:t>
            </a:r>
            <a:endParaRPr lang="en-US" sz="1050"/>
          </a:p>
        </p:txBody>
      </p:sp>
      <p:sp>
        <p:nvSpPr>
          <p:cNvPr id="22" name="Text 20"/>
          <p:cNvSpPr/>
          <p:nvPr/>
        </p:nvSpPr>
        <p:spPr>
          <a:xfrm>
            <a:off x="6263640" y="1325880"/>
            <a:ext cx="5486400" cy="365760"/>
          </a:xfrm>
          <a:prstGeom prst="rect">
            <a:avLst/>
          </a:prstGeom>
          <a:noFill/>
          <a:ln/>
        </p:spPr>
        <p:txBody>
          <a:bodyPr wrap="square" lIns="0" tIns="0" rIns="0" bIns="0" rtlCol="0" anchor="ctr"/>
          <a:lstStyle/>
          <a:p>
            <a:pPr marL="0" indent="0" algn="l">
              <a:buNone/>
            </a:pPr>
            <a:r>
              <a:rPr lang="en-US" sz="1600" b="1" i="1">
                <a:solidFill>
                  <a:srgbClr val="1F4E79"/>
                </a:solidFill>
                <a:latin typeface="Calibri" pitchFamily="34" charset="0"/>
                <a:ea typeface="Calibri" pitchFamily="34" charset="-122"/>
                <a:cs typeface="Calibri" pitchFamily="34" charset="-120"/>
              </a:rPr>
              <a:t>Why PIF Is the Natural Acquirer</a:t>
            </a:r>
            <a:endParaRPr lang="en-US" sz="1600"/>
          </a:p>
        </p:txBody>
      </p:sp>
      <p:sp>
        <p:nvSpPr>
          <p:cNvPr id="23" name="Shape 21"/>
          <p:cNvSpPr/>
          <p:nvPr/>
        </p:nvSpPr>
        <p:spPr>
          <a:xfrm>
            <a:off x="6263640" y="1691640"/>
            <a:ext cx="1463040" cy="45720"/>
          </a:xfrm>
          <a:prstGeom prst="rect">
            <a:avLst/>
          </a:prstGeom>
          <a:solidFill>
            <a:srgbClr val="2E75B6"/>
          </a:solidFill>
          <a:ln/>
        </p:spPr>
        <p:txBody>
          <a:bodyPr/>
          <a:lstStyle/>
          <a:p>
            <a:endParaRPr lang="en-US"/>
          </a:p>
        </p:txBody>
      </p:sp>
      <p:sp>
        <p:nvSpPr>
          <p:cNvPr id="24" name="Shape 22"/>
          <p:cNvSpPr/>
          <p:nvPr/>
        </p:nvSpPr>
        <p:spPr>
          <a:xfrm>
            <a:off x="6263640" y="1920240"/>
            <a:ext cx="5486400" cy="1005840"/>
          </a:xfrm>
          <a:prstGeom prst="rect">
            <a:avLst/>
          </a:prstGeom>
          <a:solidFill>
            <a:srgbClr val="FFFFFF"/>
          </a:solidFill>
          <a:ln w="12700">
            <a:solidFill>
              <a:srgbClr val="D9D9D9"/>
            </a:solidFill>
            <a:prstDash val="solid"/>
          </a:ln>
        </p:spPr>
        <p:txBody>
          <a:bodyPr/>
          <a:lstStyle/>
          <a:p>
            <a:endParaRPr lang="en-US"/>
          </a:p>
        </p:txBody>
      </p:sp>
      <p:sp>
        <p:nvSpPr>
          <p:cNvPr id="25" name="Shape 23"/>
          <p:cNvSpPr/>
          <p:nvPr/>
        </p:nvSpPr>
        <p:spPr>
          <a:xfrm>
            <a:off x="6263640" y="1920240"/>
            <a:ext cx="91440" cy="1005840"/>
          </a:xfrm>
          <a:prstGeom prst="rect">
            <a:avLst/>
          </a:prstGeom>
          <a:solidFill>
            <a:srgbClr val="1F4E79"/>
          </a:solidFill>
          <a:ln/>
        </p:spPr>
        <p:txBody>
          <a:bodyPr/>
          <a:lstStyle/>
          <a:p>
            <a:endParaRPr lang="en-US"/>
          </a:p>
        </p:txBody>
      </p:sp>
      <p:sp>
        <p:nvSpPr>
          <p:cNvPr id="26" name="Text 24"/>
          <p:cNvSpPr/>
          <p:nvPr/>
        </p:nvSpPr>
        <p:spPr>
          <a:xfrm>
            <a:off x="6492240" y="2011680"/>
            <a:ext cx="5120640" cy="320040"/>
          </a:xfrm>
          <a:prstGeom prst="rect">
            <a:avLst/>
          </a:prstGeom>
          <a:noFill/>
          <a:ln/>
        </p:spPr>
        <p:txBody>
          <a:bodyPr wrap="square" lIns="0" tIns="0" rIns="0" bIns="0" rtlCol="0" anchor="ctr"/>
          <a:lstStyle/>
          <a:p>
            <a:pPr marL="0" indent="0" algn="l">
              <a:buNone/>
            </a:pPr>
            <a:r>
              <a:rPr lang="en-US" sz="1250" b="1">
                <a:solidFill>
                  <a:srgbClr val="1F4E79"/>
                </a:solidFill>
                <a:latin typeface="Calibri" pitchFamily="34" charset="0"/>
                <a:ea typeface="Calibri" pitchFamily="34" charset="-122"/>
                <a:cs typeface="Calibri" pitchFamily="34" charset="-120"/>
              </a:rPr>
              <a:t>9.9% Pre-Deal Stake</a:t>
            </a:r>
            <a:endParaRPr lang="en-US" sz="1250"/>
          </a:p>
        </p:txBody>
      </p:sp>
      <p:sp>
        <p:nvSpPr>
          <p:cNvPr id="27" name="Text 25"/>
          <p:cNvSpPr/>
          <p:nvPr/>
        </p:nvSpPr>
        <p:spPr>
          <a:xfrm>
            <a:off x="6492240" y="2331720"/>
            <a:ext cx="5120640" cy="54864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PIF rolling $5.2B existing stake into the deal — incumbent acquirer with existing economics</a:t>
            </a:r>
            <a:endParaRPr lang="en-US" sz="1050"/>
          </a:p>
        </p:txBody>
      </p:sp>
      <p:sp>
        <p:nvSpPr>
          <p:cNvPr id="28" name="Shape 26"/>
          <p:cNvSpPr/>
          <p:nvPr/>
        </p:nvSpPr>
        <p:spPr>
          <a:xfrm>
            <a:off x="6263640" y="3017520"/>
            <a:ext cx="5486400" cy="1005840"/>
          </a:xfrm>
          <a:prstGeom prst="rect">
            <a:avLst/>
          </a:prstGeom>
          <a:solidFill>
            <a:srgbClr val="FFFFFF"/>
          </a:solidFill>
          <a:ln w="12700">
            <a:solidFill>
              <a:srgbClr val="D9D9D9"/>
            </a:solidFill>
            <a:prstDash val="solid"/>
          </a:ln>
        </p:spPr>
        <p:txBody>
          <a:bodyPr/>
          <a:lstStyle/>
          <a:p>
            <a:endParaRPr lang="en-US"/>
          </a:p>
        </p:txBody>
      </p:sp>
      <p:sp>
        <p:nvSpPr>
          <p:cNvPr id="29" name="Shape 27"/>
          <p:cNvSpPr/>
          <p:nvPr/>
        </p:nvSpPr>
        <p:spPr>
          <a:xfrm>
            <a:off x="6263640" y="3017520"/>
            <a:ext cx="91440" cy="1005840"/>
          </a:xfrm>
          <a:prstGeom prst="rect">
            <a:avLst/>
          </a:prstGeom>
          <a:solidFill>
            <a:srgbClr val="1F4E79"/>
          </a:solidFill>
          <a:ln/>
        </p:spPr>
        <p:txBody>
          <a:bodyPr/>
          <a:lstStyle/>
          <a:p>
            <a:endParaRPr lang="en-US"/>
          </a:p>
        </p:txBody>
      </p:sp>
      <p:sp>
        <p:nvSpPr>
          <p:cNvPr id="30" name="Text 28"/>
          <p:cNvSpPr/>
          <p:nvPr/>
        </p:nvSpPr>
        <p:spPr>
          <a:xfrm>
            <a:off x="6492240" y="3108960"/>
            <a:ext cx="5120640" cy="320040"/>
          </a:xfrm>
          <a:prstGeom prst="rect">
            <a:avLst/>
          </a:prstGeom>
          <a:noFill/>
          <a:ln/>
        </p:spPr>
        <p:txBody>
          <a:bodyPr wrap="square" lIns="0" tIns="0" rIns="0" bIns="0" rtlCol="0" anchor="ctr"/>
          <a:lstStyle/>
          <a:p>
            <a:pPr marL="0" indent="0" algn="l">
              <a:buNone/>
            </a:pPr>
            <a:r>
              <a:rPr lang="en-US" sz="1250" b="1">
                <a:solidFill>
                  <a:srgbClr val="1F4E79"/>
                </a:solidFill>
                <a:latin typeface="Calibri" pitchFamily="34" charset="0"/>
                <a:ea typeface="Calibri" pitchFamily="34" charset="-122"/>
                <a:cs typeface="Calibri" pitchFamily="34" charset="-120"/>
              </a:rPr>
              <a:t>Vision 2030 Alignment</a:t>
            </a:r>
            <a:endParaRPr lang="en-US" sz="1250"/>
          </a:p>
        </p:txBody>
      </p:sp>
      <p:sp>
        <p:nvSpPr>
          <p:cNvPr id="31" name="Text 29"/>
          <p:cNvSpPr/>
          <p:nvPr/>
        </p:nvSpPr>
        <p:spPr>
          <a:xfrm>
            <a:off x="6492240" y="3429000"/>
            <a:ext cx="5120640" cy="54864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Saudi Arabia investing tens of billions into gaming, esports (Esports World Cup), and content</a:t>
            </a:r>
            <a:endParaRPr lang="en-US" sz="1050"/>
          </a:p>
        </p:txBody>
      </p:sp>
      <p:sp>
        <p:nvSpPr>
          <p:cNvPr id="32" name="Shape 30"/>
          <p:cNvSpPr/>
          <p:nvPr/>
        </p:nvSpPr>
        <p:spPr>
          <a:xfrm>
            <a:off x="6263640" y="4114800"/>
            <a:ext cx="5486400" cy="1005840"/>
          </a:xfrm>
          <a:prstGeom prst="rect">
            <a:avLst/>
          </a:prstGeom>
          <a:solidFill>
            <a:srgbClr val="FFFFFF"/>
          </a:solidFill>
          <a:ln w="12700">
            <a:solidFill>
              <a:srgbClr val="D9D9D9"/>
            </a:solidFill>
            <a:prstDash val="solid"/>
          </a:ln>
        </p:spPr>
        <p:txBody>
          <a:bodyPr/>
          <a:lstStyle/>
          <a:p>
            <a:endParaRPr lang="en-US"/>
          </a:p>
        </p:txBody>
      </p:sp>
      <p:sp>
        <p:nvSpPr>
          <p:cNvPr id="33" name="Shape 31"/>
          <p:cNvSpPr/>
          <p:nvPr/>
        </p:nvSpPr>
        <p:spPr>
          <a:xfrm>
            <a:off x="6263640" y="4114800"/>
            <a:ext cx="91440" cy="1005840"/>
          </a:xfrm>
          <a:prstGeom prst="rect">
            <a:avLst/>
          </a:prstGeom>
          <a:solidFill>
            <a:srgbClr val="1F4E79"/>
          </a:solidFill>
          <a:ln/>
        </p:spPr>
        <p:txBody>
          <a:bodyPr/>
          <a:lstStyle/>
          <a:p>
            <a:endParaRPr lang="en-US"/>
          </a:p>
        </p:txBody>
      </p:sp>
      <p:sp>
        <p:nvSpPr>
          <p:cNvPr id="34" name="Text 32"/>
          <p:cNvSpPr/>
          <p:nvPr/>
        </p:nvSpPr>
        <p:spPr>
          <a:xfrm>
            <a:off x="6492240" y="4206240"/>
            <a:ext cx="5120640" cy="320040"/>
          </a:xfrm>
          <a:prstGeom prst="rect">
            <a:avLst/>
          </a:prstGeom>
          <a:noFill/>
          <a:ln/>
        </p:spPr>
        <p:txBody>
          <a:bodyPr wrap="square" lIns="0" tIns="0" rIns="0" bIns="0" rtlCol="0" anchor="ctr"/>
          <a:lstStyle/>
          <a:p>
            <a:pPr marL="0" indent="0" algn="l">
              <a:buNone/>
            </a:pPr>
            <a:r>
              <a:rPr lang="en-US" sz="1250" b="1">
                <a:solidFill>
                  <a:srgbClr val="1F4E79"/>
                </a:solidFill>
                <a:latin typeface="Calibri" pitchFamily="34" charset="0"/>
                <a:ea typeface="Calibri" pitchFamily="34" charset="-122"/>
                <a:cs typeface="Calibri" pitchFamily="34" charset="-120"/>
              </a:rPr>
              <a:t>Patient Sovereign Capital</a:t>
            </a:r>
            <a:endParaRPr lang="en-US" sz="1250"/>
          </a:p>
        </p:txBody>
      </p:sp>
      <p:sp>
        <p:nvSpPr>
          <p:cNvPr id="35" name="Text 33"/>
          <p:cNvSpPr/>
          <p:nvPr/>
        </p:nvSpPr>
        <p:spPr>
          <a:xfrm>
            <a:off x="6492240" y="4526280"/>
            <a:ext cx="5120640" cy="54864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Multi-decade investment horizon — no quarterly EPS pressure on multi-year content bets</a:t>
            </a:r>
            <a:endParaRPr lang="en-US" sz="1050"/>
          </a:p>
        </p:txBody>
      </p:sp>
      <p:sp>
        <p:nvSpPr>
          <p:cNvPr id="36" name="Shape 34"/>
          <p:cNvSpPr/>
          <p:nvPr/>
        </p:nvSpPr>
        <p:spPr>
          <a:xfrm>
            <a:off x="6263640" y="5212080"/>
            <a:ext cx="5486400" cy="1005840"/>
          </a:xfrm>
          <a:prstGeom prst="rect">
            <a:avLst/>
          </a:prstGeom>
          <a:solidFill>
            <a:srgbClr val="FFFFFF"/>
          </a:solidFill>
          <a:ln w="12700">
            <a:solidFill>
              <a:srgbClr val="D9D9D9"/>
            </a:solidFill>
            <a:prstDash val="solid"/>
          </a:ln>
        </p:spPr>
        <p:txBody>
          <a:bodyPr/>
          <a:lstStyle/>
          <a:p>
            <a:endParaRPr lang="en-US"/>
          </a:p>
        </p:txBody>
      </p:sp>
      <p:sp>
        <p:nvSpPr>
          <p:cNvPr id="37" name="Shape 35"/>
          <p:cNvSpPr/>
          <p:nvPr/>
        </p:nvSpPr>
        <p:spPr>
          <a:xfrm>
            <a:off x="6263640" y="5212080"/>
            <a:ext cx="91440" cy="1005840"/>
          </a:xfrm>
          <a:prstGeom prst="rect">
            <a:avLst/>
          </a:prstGeom>
          <a:solidFill>
            <a:srgbClr val="1F4E79"/>
          </a:solidFill>
          <a:ln/>
        </p:spPr>
        <p:txBody>
          <a:bodyPr/>
          <a:lstStyle/>
          <a:p>
            <a:endParaRPr lang="en-US"/>
          </a:p>
        </p:txBody>
      </p:sp>
      <p:sp>
        <p:nvSpPr>
          <p:cNvPr id="38" name="Text 36"/>
          <p:cNvSpPr/>
          <p:nvPr/>
        </p:nvSpPr>
        <p:spPr>
          <a:xfrm>
            <a:off x="6492240" y="5303520"/>
            <a:ext cx="5120640" cy="320040"/>
          </a:xfrm>
          <a:prstGeom prst="rect">
            <a:avLst/>
          </a:prstGeom>
          <a:noFill/>
          <a:ln/>
        </p:spPr>
        <p:txBody>
          <a:bodyPr wrap="square" lIns="0" tIns="0" rIns="0" bIns="0" rtlCol="0" anchor="ctr"/>
          <a:lstStyle/>
          <a:p>
            <a:pPr marL="0" indent="0" algn="l">
              <a:buNone/>
            </a:pPr>
            <a:r>
              <a:rPr lang="en-US" sz="1250" b="1">
                <a:solidFill>
                  <a:srgbClr val="1F4E79"/>
                </a:solidFill>
                <a:latin typeface="Calibri" pitchFamily="34" charset="0"/>
                <a:ea typeface="Calibri" pitchFamily="34" charset="-122"/>
                <a:cs typeface="Calibri" pitchFamily="34" charset="-120"/>
              </a:rPr>
              <a:t>Silver Lake as Operating Sponsor</a:t>
            </a:r>
            <a:endParaRPr lang="en-US" sz="1250"/>
          </a:p>
        </p:txBody>
      </p:sp>
      <p:sp>
        <p:nvSpPr>
          <p:cNvPr id="39" name="Text 37"/>
          <p:cNvSpPr/>
          <p:nvPr/>
        </p:nvSpPr>
        <p:spPr>
          <a:xfrm>
            <a:off x="6492240" y="5623560"/>
            <a:ext cx="5120640" cy="54864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Tech-focused PE with Dell take-private precedent providing operating discipline alongside PIF</a:t>
            </a:r>
            <a:endParaRPr lang="en-US" sz="10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Why EA is the Right Take-Private</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5</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457200" y="1325880"/>
            <a:ext cx="5349240" cy="1508760"/>
          </a:xfrm>
          <a:prstGeom prst="roundRect">
            <a:avLst>
              <a:gd name="adj" fmla="val 4848"/>
            </a:avLst>
          </a:prstGeom>
          <a:solidFill>
            <a:srgbClr val="EAF2F9"/>
          </a:solidFill>
          <a:ln w="12700">
            <a:solidFill>
              <a:srgbClr val="2E75B6"/>
            </a:solidFill>
            <a:prstDash val="solid"/>
          </a:ln>
        </p:spPr>
        <p:txBody>
          <a:bodyPr/>
          <a:lstStyle/>
          <a:p>
            <a:endParaRPr lang="en-US"/>
          </a:p>
        </p:txBody>
      </p:sp>
      <p:sp>
        <p:nvSpPr>
          <p:cNvPr id="8" name="Text 6"/>
          <p:cNvSpPr/>
          <p:nvPr/>
        </p:nvSpPr>
        <p:spPr>
          <a:xfrm>
            <a:off x="731520" y="1490472"/>
            <a:ext cx="4800600" cy="365760"/>
          </a:xfrm>
          <a:prstGeom prst="rect">
            <a:avLst/>
          </a:prstGeom>
          <a:noFill/>
          <a:ln/>
        </p:spPr>
        <p:txBody>
          <a:bodyPr wrap="square" lIns="0" tIns="0" rIns="0" bIns="0" rtlCol="0" anchor="ctr"/>
          <a:lstStyle/>
          <a:p>
            <a:pPr marL="0" indent="0" algn="l">
              <a:buNone/>
            </a:pPr>
            <a:r>
              <a:rPr lang="en-US" sz="1500" b="1">
                <a:solidFill>
                  <a:srgbClr val="1F4E79"/>
                </a:solidFill>
                <a:latin typeface="Calibri" pitchFamily="34" charset="0"/>
                <a:ea typeface="Calibri" pitchFamily="34" charset="-122"/>
                <a:cs typeface="Calibri" pitchFamily="34" charset="-120"/>
              </a:rPr>
              <a:t>Live Services Anchor</a:t>
            </a:r>
            <a:endParaRPr lang="en-US" sz="1500"/>
          </a:p>
        </p:txBody>
      </p:sp>
      <p:sp>
        <p:nvSpPr>
          <p:cNvPr id="9" name="Text 7"/>
          <p:cNvSpPr/>
          <p:nvPr/>
        </p:nvSpPr>
        <p:spPr>
          <a:xfrm>
            <a:off x="731520" y="1892808"/>
            <a:ext cx="4800600" cy="868680"/>
          </a:xfrm>
          <a:prstGeom prst="rect">
            <a:avLst/>
          </a:prstGeom>
          <a:noFill/>
          <a:ln/>
        </p:spPr>
        <p:txBody>
          <a:bodyPr wrap="square" lIns="0" tIns="0" rIns="0" bIns="0" rtlCol="0" anchor="t"/>
          <a:lstStyle/>
          <a:p>
            <a:pPr marL="0" indent="0" algn="l">
              <a:buNone/>
            </a:pPr>
            <a:r>
              <a:rPr lang="en-US" sz="1100">
                <a:solidFill>
                  <a:srgbClr val="595959"/>
                </a:solidFill>
                <a:latin typeface="Calibri" pitchFamily="34" charset="0"/>
                <a:ea typeface="Calibri" pitchFamily="34" charset="-122"/>
                <a:cs typeface="Calibri" pitchFamily="34" charset="-120"/>
              </a:rPr>
              <a:t>73% recurring revenue ($5.5B FY25). Network-effect monetization across Ultimate Team modes. Margins expanded from 30.7% to 34.5% as the mix matured.</a:t>
            </a:r>
            <a:endParaRPr lang="en-US" sz="1100"/>
          </a:p>
        </p:txBody>
      </p:sp>
      <p:sp>
        <p:nvSpPr>
          <p:cNvPr id="10" name="Shape 8"/>
          <p:cNvSpPr/>
          <p:nvPr/>
        </p:nvSpPr>
        <p:spPr>
          <a:xfrm>
            <a:off x="457200" y="2999232"/>
            <a:ext cx="5349240" cy="1508760"/>
          </a:xfrm>
          <a:prstGeom prst="roundRect">
            <a:avLst>
              <a:gd name="adj" fmla="val 4848"/>
            </a:avLst>
          </a:prstGeom>
          <a:solidFill>
            <a:srgbClr val="EAF2F9"/>
          </a:solidFill>
          <a:ln w="12700">
            <a:solidFill>
              <a:srgbClr val="2E75B6"/>
            </a:solidFill>
            <a:prstDash val="solid"/>
          </a:ln>
        </p:spPr>
        <p:txBody>
          <a:bodyPr/>
          <a:lstStyle/>
          <a:p>
            <a:endParaRPr lang="en-US"/>
          </a:p>
        </p:txBody>
      </p:sp>
      <p:sp>
        <p:nvSpPr>
          <p:cNvPr id="11" name="Text 9"/>
          <p:cNvSpPr/>
          <p:nvPr/>
        </p:nvSpPr>
        <p:spPr>
          <a:xfrm>
            <a:off x="731520" y="3163824"/>
            <a:ext cx="4800600" cy="365760"/>
          </a:xfrm>
          <a:prstGeom prst="rect">
            <a:avLst/>
          </a:prstGeom>
          <a:noFill/>
          <a:ln/>
        </p:spPr>
        <p:txBody>
          <a:bodyPr wrap="square" lIns="0" tIns="0" rIns="0" bIns="0" rtlCol="0" anchor="ctr"/>
          <a:lstStyle/>
          <a:p>
            <a:pPr marL="0" indent="0" algn="l">
              <a:buNone/>
            </a:pPr>
            <a:r>
              <a:rPr lang="en-US" sz="1500" b="1">
                <a:solidFill>
                  <a:srgbClr val="1F4E79"/>
                </a:solidFill>
                <a:latin typeface="Calibri" pitchFamily="34" charset="0"/>
                <a:ea typeface="Calibri" pitchFamily="34" charset="-122"/>
                <a:cs typeface="Calibri" pitchFamily="34" charset="-120"/>
              </a:rPr>
              <a:t>Conservative LBO Structure</a:t>
            </a:r>
            <a:endParaRPr lang="en-US" sz="1500"/>
          </a:p>
        </p:txBody>
      </p:sp>
      <p:sp>
        <p:nvSpPr>
          <p:cNvPr id="12" name="Text 10"/>
          <p:cNvSpPr/>
          <p:nvPr/>
        </p:nvSpPr>
        <p:spPr>
          <a:xfrm>
            <a:off x="731520" y="3566160"/>
            <a:ext cx="4800600" cy="868680"/>
          </a:xfrm>
          <a:prstGeom prst="rect">
            <a:avLst/>
          </a:prstGeom>
          <a:noFill/>
          <a:ln/>
        </p:spPr>
        <p:txBody>
          <a:bodyPr wrap="square" lIns="0" tIns="0" rIns="0" bIns="0" rtlCol="0" anchor="t"/>
          <a:lstStyle/>
          <a:p>
            <a:pPr marL="0" indent="0" algn="l">
              <a:buNone/>
            </a:pPr>
            <a:r>
              <a:rPr lang="en-US" sz="1100">
                <a:solidFill>
                  <a:srgbClr val="595959"/>
                </a:solidFill>
                <a:latin typeface="Calibri" pitchFamily="34" charset="0"/>
                <a:ea typeface="Calibri" pitchFamily="34" charset="-122"/>
                <a:cs typeface="Calibri" pitchFamily="34" charset="-120"/>
              </a:rPr>
              <a:t>Initial leverage of ~7.0x LTM Adj. EBITDA — well below the 8–10x typical of large-cap take-privates. Preserves balance-sheet capacity for content and add-on M&amp;A.</a:t>
            </a:r>
            <a:endParaRPr lang="en-US" sz="1100"/>
          </a:p>
        </p:txBody>
      </p:sp>
      <p:sp>
        <p:nvSpPr>
          <p:cNvPr id="13" name="Shape 11"/>
          <p:cNvSpPr/>
          <p:nvPr/>
        </p:nvSpPr>
        <p:spPr>
          <a:xfrm>
            <a:off x="457200" y="4672584"/>
            <a:ext cx="5349240" cy="1508760"/>
          </a:xfrm>
          <a:prstGeom prst="roundRect">
            <a:avLst>
              <a:gd name="adj" fmla="val 4848"/>
            </a:avLst>
          </a:prstGeom>
          <a:solidFill>
            <a:srgbClr val="EAF2F9"/>
          </a:solidFill>
          <a:ln w="12700">
            <a:solidFill>
              <a:srgbClr val="2E75B6"/>
            </a:solidFill>
            <a:prstDash val="solid"/>
          </a:ln>
        </p:spPr>
        <p:txBody>
          <a:bodyPr/>
          <a:lstStyle/>
          <a:p>
            <a:endParaRPr lang="en-US"/>
          </a:p>
        </p:txBody>
      </p:sp>
      <p:sp>
        <p:nvSpPr>
          <p:cNvPr id="14" name="Text 12"/>
          <p:cNvSpPr/>
          <p:nvPr/>
        </p:nvSpPr>
        <p:spPr>
          <a:xfrm>
            <a:off x="731520" y="4837176"/>
            <a:ext cx="4800600" cy="365760"/>
          </a:xfrm>
          <a:prstGeom prst="rect">
            <a:avLst/>
          </a:prstGeom>
          <a:noFill/>
          <a:ln/>
        </p:spPr>
        <p:txBody>
          <a:bodyPr wrap="square" lIns="0" tIns="0" rIns="0" bIns="0" rtlCol="0" anchor="ctr"/>
          <a:lstStyle/>
          <a:p>
            <a:pPr marL="0" indent="0" algn="l">
              <a:buNone/>
            </a:pPr>
            <a:r>
              <a:rPr lang="en-US" sz="1500" b="1">
                <a:solidFill>
                  <a:srgbClr val="1F4E79"/>
                </a:solidFill>
                <a:latin typeface="Calibri" pitchFamily="34" charset="0"/>
                <a:ea typeface="Calibri" pitchFamily="34" charset="-122"/>
                <a:cs typeface="Calibri" pitchFamily="34" charset="-120"/>
              </a:rPr>
              <a:t>PIF Strategic Synergies</a:t>
            </a:r>
            <a:endParaRPr lang="en-US" sz="1500"/>
          </a:p>
        </p:txBody>
      </p:sp>
      <p:sp>
        <p:nvSpPr>
          <p:cNvPr id="15" name="Text 13"/>
          <p:cNvSpPr/>
          <p:nvPr/>
        </p:nvSpPr>
        <p:spPr>
          <a:xfrm>
            <a:off x="731520" y="5239512"/>
            <a:ext cx="4800600" cy="868680"/>
          </a:xfrm>
          <a:prstGeom prst="rect">
            <a:avLst/>
          </a:prstGeom>
          <a:noFill/>
          <a:ln/>
        </p:spPr>
        <p:txBody>
          <a:bodyPr wrap="square" lIns="0" tIns="0" rIns="0" bIns="0" rtlCol="0" anchor="t"/>
          <a:lstStyle/>
          <a:p>
            <a:pPr marL="0" indent="0" algn="l">
              <a:buNone/>
            </a:pPr>
            <a:r>
              <a:rPr lang="en-US" sz="1100">
                <a:solidFill>
                  <a:srgbClr val="595959"/>
                </a:solidFill>
                <a:latin typeface="Calibri" pitchFamily="34" charset="0"/>
                <a:ea typeface="Calibri" pitchFamily="34" charset="-122"/>
                <a:cs typeface="Calibri" pitchFamily="34" charset="-120"/>
              </a:rPr>
              <a:t>Vision 2030 alignment provides MENA distribution, sovereign-aligned licensing, and patient capital — sources of value no other acquirer could provide at this scale.</a:t>
            </a:r>
            <a:endParaRPr lang="en-US" sz="1100"/>
          </a:p>
        </p:txBody>
      </p:sp>
      <p:sp>
        <p:nvSpPr>
          <p:cNvPr id="16" name="Text 14"/>
          <p:cNvSpPr/>
          <p:nvPr/>
        </p:nvSpPr>
        <p:spPr>
          <a:xfrm>
            <a:off x="6217920" y="1325880"/>
            <a:ext cx="5577840" cy="1097280"/>
          </a:xfrm>
          <a:prstGeom prst="rect">
            <a:avLst/>
          </a:prstGeom>
          <a:noFill/>
          <a:ln/>
        </p:spPr>
        <p:txBody>
          <a:bodyPr wrap="square" lIns="0" tIns="0" rIns="0" bIns="0" rtlCol="0" anchor="ctr"/>
          <a:lstStyle/>
          <a:p>
            <a:pPr marL="0" indent="0" algn="ctr">
              <a:buNone/>
            </a:pPr>
            <a:r>
              <a:rPr lang="en-US" sz="9000" b="1" i="1">
                <a:solidFill>
                  <a:srgbClr val="1F4E79"/>
                </a:solidFill>
                <a:latin typeface="Calibri" pitchFamily="34" charset="0"/>
                <a:ea typeface="Calibri" pitchFamily="34" charset="-122"/>
                <a:cs typeface="Calibri" pitchFamily="34" charset="-120"/>
              </a:rPr>
              <a:t>EA</a:t>
            </a:r>
            <a:endParaRPr lang="en-US" sz="9000"/>
          </a:p>
        </p:txBody>
      </p:sp>
      <p:sp>
        <p:nvSpPr>
          <p:cNvPr id="17" name="Shape 15"/>
          <p:cNvSpPr/>
          <p:nvPr/>
        </p:nvSpPr>
        <p:spPr>
          <a:xfrm>
            <a:off x="7589520" y="2423160"/>
            <a:ext cx="2834640" cy="54864"/>
          </a:xfrm>
          <a:prstGeom prst="rect">
            <a:avLst/>
          </a:prstGeom>
          <a:solidFill>
            <a:srgbClr val="2E75B6"/>
          </a:solidFill>
          <a:ln/>
        </p:spPr>
        <p:txBody>
          <a:bodyPr/>
          <a:lstStyle/>
          <a:p>
            <a:endParaRPr lang="en-US"/>
          </a:p>
        </p:txBody>
      </p:sp>
      <p:sp>
        <p:nvSpPr>
          <p:cNvPr id="18" name="Shape 16"/>
          <p:cNvSpPr/>
          <p:nvPr/>
        </p:nvSpPr>
        <p:spPr>
          <a:xfrm>
            <a:off x="6217920" y="2697480"/>
            <a:ext cx="2697480" cy="685800"/>
          </a:xfrm>
          <a:prstGeom prst="rect">
            <a:avLst/>
          </a:prstGeom>
          <a:solidFill>
            <a:srgbClr val="FFFFFF"/>
          </a:solidFill>
          <a:ln w="12700">
            <a:solidFill>
              <a:srgbClr val="1F4E79"/>
            </a:solidFill>
            <a:prstDash val="solid"/>
          </a:ln>
        </p:spPr>
        <p:txBody>
          <a:bodyPr/>
          <a:lstStyle/>
          <a:p>
            <a:endParaRPr lang="en-US"/>
          </a:p>
        </p:txBody>
      </p:sp>
      <p:sp>
        <p:nvSpPr>
          <p:cNvPr id="19" name="Text 17"/>
          <p:cNvSpPr/>
          <p:nvPr/>
        </p:nvSpPr>
        <p:spPr>
          <a:xfrm>
            <a:off x="6309360" y="2697480"/>
            <a:ext cx="2514600" cy="685800"/>
          </a:xfrm>
          <a:prstGeom prst="rect">
            <a:avLst/>
          </a:prstGeom>
          <a:noFill/>
          <a:ln/>
        </p:spPr>
        <p:txBody>
          <a:bodyPr wrap="square" lIns="0" tIns="0" rIns="0" bIns="0" rtlCol="0" anchor="ctr"/>
          <a:lstStyle/>
          <a:p>
            <a:pPr marL="0" indent="0" algn="ctr">
              <a:buNone/>
            </a:pPr>
            <a:r>
              <a:rPr lang="en-US" sz="1150" b="1">
                <a:solidFill>
                  <a:srgbClr val="1F4E79"/>
                </a:solidFill>
                <a:latin typeface="Calibri" pitchFamily="34" charset="0"/>
                <a:ea typeface="Calibri" pitchFamily="34" charset="-122"/>
                <a:cs typeface="Calibri" pitchFamily="34" charset="-120"/>
              </a:rPr>
              <a:t>73% live services FY25</a:t>
            </a:r>
            <a:endParaRPr lang="en-US" sz="1150"/>
          </a:p>
        </p:txBody>
      </p:sp>
      <p:sp>
        <p:nvSpPr>
          <p:cNvPr id="20" name="Shape 18"/>
          <p:cNvSpPr/>
          <p:nvPr/>
        </p:nvSpPr>
        <p:spPr>
          <a:xfrm>
            <a:off x="9006840" y="2697480"/>
            <a:ext cx="2697480" cy="685800"/>
          </a:xfrm>
          <a:prstGeom prst="rect">
            <a:avLst/>
          </a:prstGeom>
          <a:solidFill>
            <a:srgbClr val="FFFFFF"/>
          </a:solidFill>
          <a:ln w="12700">
            <a:solidFill>
              <a:srgbClr val="1F4E79"/>
            </a:solidFill>
            <a:prstDash val="solid"/>
          </a:ln>
        </p:spPr>
        <p:txBody>
          <a:bodyPr/>
          <a:lstStyle/>
          <a:p>
            <a:endParaRPr lang="en-US"/>
          </a:p>
        </p:txBody>
      </p:sp>
      <p:sp>
        <p:nvSpPr>
          <p:cNvPr id="21" name="Text 19"/>
          <p:cNvSpPr/>
          <p:nvPr/>
        </p:nvSpPr>
        <p:spPr>
          <a:xfrm>
            <a:off x="9098280" y="2697480"/>
            <a:ext cx="2514600" cy="685800"/>
          </a:xfrm>
          <a:prstGeom prst="rect">
            <a:avLst/>
          </a:prstGeom>
          <a:noFill/>
          <a:ln/>
        </p:spPr>
        <p:txBody>
          <a:bodyPr wrap="square" lIns="0" tIns="0" rIns="0" bIns="0" rtlCol="0" anchor="ctr"/>
          <a:lstStyle/>
          <a:p>
            <a:pPr marL="0" indent="0" algn="ctr">
              <a:buNone/>
            </a:pPr>
            <a:r>
              <a:rPr lang="en-US" sz="1150" b="1">
                <a:solidFill>
                  <a:srgbClr val="1F4E79"/>
                </a:solidFill>
                <a:latin typeface="Calibri" pitchFamily="34" charset="0"/>
                <a:ea typeface="Calibri" pitchFamily="34" charset="-122"/>
                <a:cs typeface="Calibri" pitchFamily="34" charset="-120"/>
              </a:rPr>
              <a:t>$2.575B FY25 Adj. EBITDA</a:t>
            </a:r>
            <a:endParaRPr lang="en-US" sz="1150"/>
          </a:p>
        </p:txBody>
      </p:sp>
      <p:sp>
        <p:nvSpPr>
          <p:cNvPr id="22" name="Shape 20"/>
          <p:cNvSpPr/>
          <p:nvPr/>
        </p:nvSpPr>
        <p:spPr>
          <a:xfrm>
            <a:off x="6217920" y="3474720"/>
            <a:ext cx="2697480" cy="685800"/>
          </a:xfrm>
          <a:prstGeom prst="rect">
            <a:avLst/>
          </a:prstGeom>
          <a:solidFill>
            <a:srgbClr val="FFFFFF"/>
          </a:solidFill>
          <a:ln w="12700">
            <a:solidFill>
              <a:srgbClr val="1F4E79"/>
            </a:solidFill>
            <a:prstDash val="solid"/>
          </a:ln>
        </p:spPr>
        <p:txBody>
          <a:bodyPr/>
          <a:lstStyle/>
          <a:p>
            <a:endParaRPr lang="en-US"/>
          </a:p>
        </p:txBody>
      </p:sp>
      <p:sp>
        <p:nvSpPr>
          <p:cNvPr id="23" name="Text 21"/>
          <p:cNvSpPr/>
          <p:nvPr/>
        </p:nvSpPr>
        <p:spPr>
          <a:xfrm>
            <a:off x="6309360" y="3474720"/>
            <a:ext cx="2514600" cy="685800"/>
          </a:xfrm>
          <a:prstGeom prst="rect">
            <a:avLst/>
          </a:prstGeom>
          <a:noFill/>
          <a:ln/>
        </p:spPr>
        <p:txBody>
          <a:bodyPr wrap="square" lIns="0" tIns="0" rIns="0" bIns="0" rtlCol="0" anchor="ctr"/>
          <a:lstStyle/>
          <a:p>
            <a:pPr marL="0" indent="0" algn="ctr">
              <a:buNone/>
            </a:pPr>
            <a:r>
              <a:rPr lang="en-US" sz="1150" b="1">
                <a:solidFill>
                  <a:srgbClr val="1F4E79"/>
                </a:solidFill>
                <a:latin typeface="Calibri" pitchFamily="34" charset="0"/>
                <a:ea typeface="Calibri" pitchFamily="34" charset="-122"/>
                <a:cs typeface="Calibri" pitchFamily="34" charset="-120"/>
              </a:rPr>
              <a:t>34.5% Adj. EBITDA margin</a:t>
            </a:r>
            <a:endParaRPr lang="en-US" sz="1150"/>
          </a:p>
        </p:txBody>
      </p:sp>
      <p:sp>
        <p:nvSpPr>
          <p:cNvPr id="24" name="Shape 22"/>
          <p:cNvSpPr/>
          <p:nvPr/>
        </p:nvSpPr>
        <p:spPr>
          <a:xfrm>
            <a:off x="9006840" y="3474720"/>
            <a:ext cx="2697480" cy="685800"/>
          </a:xfrm>
          <a:prstGeom prst="rect">
            <a:avLst/>
          </a:prstGeom>
          <a:solidFill>
            <a:srgbClr val="FFFFFF"/>
          </a:solidFill>
          <a:ln w="12700">
            <a:solidFill>
              <a:srgbClr val="1F4E79"/>
            </a:solidFill>
            <a:prstDash val="solid"/>
          </a:ln>
        </p:spPr>
        <p:txBody>
          <a:bodyPr/>
          <a:lstStyle/>
          <a:p>
            <a:endParaRPr lang="en-US"/>
          </a:p>
        </p:txBody>
      </p:sp>
      <p:sp>
        <p:nvSpPr>
          <p:cNvPr id="25" name="Text 23"/>
          <p:cNvSpPr/>
          <p:nvPr/>
        </p:nvSpPr>
        <p:spPr>
          <a:xfrm>
            <a:off x="9098280" y="3474720"/>
            <a:ext cx="2514600" cy="685800"/>
          </a:xfrm>
          <a:prstGeom prst="rect">
            <a:avLst/>
          </a:prstGeom>
          <a:noFill/>
          <a:ln/>
        </p:spPr>
        <p:txBody>
          <a:bodyPr wrap="square" lIns="0" tIns="0" rIns="0" bIns="0" rtlCol="0" anchor="ctr"/>
          <a:lstStyle/>
          <a:p>
            <a:pPr marL="0" indent="0" algn="ctr">
              <a:buNone/>
            </a:pPr>
            <a:r>
              <a:rPr lang="en-US" sz="1150" b="1">
                <a:solidFill>
                  <a:srgbClr val="1F4E79"/>
                </a:solidFill>
                <a:latin typeface="Calibri" pitchFamily="34" charset="0"/>
                <a:ea typeface="Calibri" pitchFamily="34" charset="-122"/>
                <a:cs typeface="Calibri" pitchFamily="34" charset="-120"/>
              </a:rPr>
              <a:t>Sports IP through 2030+</a:t>
            </a:r>
            <a:endParaRPr lang="en-US" sz="1150"/>
          </a:p>
        </p:txBody>
      </p:sp>
      <p:sp>
        <p:nvSpPr>
          <p:cNvPr id="26" name="Shape 24"/>
          <p:cNvSpPr/>
          <p:nvPr/>
        </p:nvSpPr>
        <p:spPr>
          <a:xfrm>
            <a:off x="6217920" y="4251960"/>
            <a:ext cx="2697480" cy="685800"/>
          </a:xfrm>
          <a:prstGeom prst="rect">
            <a:avLst/>
          </a:prstGeom>
          <a:solidFill>
            <a:srgbClr val="FFFFFF"/>
          </a:solidFill>
          <a:ln w="12700">
            <a:solidFill>
              <a:srgbClr val="1F4E79"/>
            </a:solidFill>
            <a:prstDash val="solid"/>
          </a:ln>
        </p:spPr>
        <p:txBody>
          <a:bodyPr/>
          <a:lstStyle/>
          <a:p>
            <a:endParaRPr lang="en-US"/>
          </a:p>
        </p:txBody>
      </p:sp>
      <p:sp>
        <p:nvSpPr>
          <p:cNvPr id="27" name="Text 25"/>
          <p:cNvSpPr/>
          <p:nvPr/>
        </p:nvSpPr>
        <p:spPr>
          <a:xfrm>
            <a:off x="6309360" y="4251960"/>
            <a:ext cx="2514600" cy="685800"/>
          </a:xfrm>
          <a:prstGeom prst="rect">
            <a:avLst/>
          </a:prstGeom>
          <a:noFill/>
          <a:ln/>
        </p:spPr>
        <p:txBody>
          <a:bodyPr wrap="square" lIns="0" tIns="0" rIns="0" bIns="0" rtlCol="0" anchor="ctr"/>
          <a:lstStyle/>
          <a:p>
            <a:pPr marL="0" indent="0" algn="ctr">
              <a:buNone/>
            </a:pPr>
            <a:r>
              <a:rPr lang="en-US" sz="1150" b="1">
                <a:solidFill>
                  <a:srgbClr val="1F4E79"/>
                </a:solidFill>
                <a:latin typeface="Calibri" pitchFamily="34" charset="0"/>
                <a:ea typeface="Calibri" pitchFamily="34" charset="-122"/>
                <a:cs typeface="Calibri" pitchFamily="34" charset="-120"/>
              </a:rPr>
              <a:t>$1.858B free cash flow</a:t>
            </a:r>
            <a:endParaRPr lang="en-US" sz="1150"/>
          </a:p>
        </p:txBody>
      </p:sp>
      <p:sp>
        <p:nvSpPr>
          <p:cNvPr id="28" name="Shape 26"/>
          <p:cNvSpPr/>
          <p:nvPr/>
        </p:nvSpPr>
        <p:spPr>
          <a:xfrm>
            <a:off x="9006840" y="4251960"/>
            <a:ext cx="2697480" cy="685800"/>
          </a:xfrm>
          <a:prstGeom prst="rect">
            <a:avLst/>
          </a:prstGeom>
          <a:solidFill>
            <a:srgbClr val="FFFFFF"/>
          </a:solidFill>
          <a:ln w="12700">
            <a:solidFill>
              <a:srgbClr val="1F4E79"/>
            </a:solidFill>
            <a:prstDash val="solid"/>
          </a:ln>
        </p:spPr>
        <p:txBody>
          <a:bodyPr/>
          <a:lstStyle/>
          <a:p>
            <a:endParaRPr lang="en-US"/>
          </a:p>
        </p:txBody>
      </p:sp>
      <p:sp>
        <p:nvSpPr>
          <p:cNvPr id="29" name="Text 27"/>
          <p:cNvSpPr/>
          <p:nvPr/>
        </p:nvSpPr>
        <p:spPr>
          <a:xfrm>
            <a:off x="9098280" y="4251960"/>
            <a:ext cx="2514600" cy="685800"/>
          </a:xfrm>
          <a:prstGeom prst="rect">
            <a:avLst/>
          </a:prstGeom>
          <a:noFill/>
          <a:ln/>
        </p:spPr>
        <p:txBody>
          <a:bodyPr wrap="square" lIns="0" tIns="0" rIns="0" bIns="0" rtlCol="0" anchor="ctr"/>
          <a:lstStyle/>
          <a:p>
            <a:pPr marL="0" indent="0" algn="ctr">
              <a:buNone/>
            </a:pPr>
            <a:r>
              <a:rPr lang="en-US" sz="1150" b="1">
                <a:solidFill>
                  <a:srgbClr val="1F4E79"/>
                </a:solidFill>
                <a:latin typeface="Calibri" pitchFamily="34" charset="0"/>
                <a:ea typeface="Calibri" pitchFamily="34" charset="-122"/>
                <a:cs typeface="Calibri" pitchFamily="34" charset="-120"/>
              </a:rPr>
              <a:t>$364M net cash position</a:t>
            </a:r>
            <a:endParaRPr lang="en-US" sz="1150"/>
          </a:p>
        </p:txBody>
      </p:sp>
      <p:sp>
        <p:nvSpPr>
          <p:cNvPr id="30" name="Shape 28"/>
          <p:cNvSpPr/>
          <p:nvPr/>
        </p:nvSpPr>
        <p:spPr>
          <a:xfrm>
            <a:off x="6583680" y="5166360"/>
            <a:ext cx="4846320" cy="50292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31" name="Text 29"/>
          <p:cNvSpPr/>
          <p:nvPr/>
        </p:nvSpPr>
        <p:spPr>
          <a:xfrm>
            <a:off x="6583680" y="5166360"/>
            <a:ext cx="4846320" cy="502920"/>
          </a:xfrm>
          <a:prstGeom prst="rect">
            <a:avLst/>
          </a:prstGeom>
          <a:noFill/>
          <a:ln/>
        </p:spPr>
        <p:txBody>
          <a:bodyPr wrap="square" lIns="0" tIns="0" rIns="0" bIns="0" rtlCol="0" anchor="ctr"/>
          <a:lstStyle/>
          <a:p>
            <a:pPr marL="0" indent="0" algn="ctr">
              <a:buNone/>
            </a:pPr>
            <a:r>
              <a:rPr lang="en-US" sz="1400" b="1" i="1">
                <a:solidFill>
                  <a:srgbClr val="FFFFFF"/>
                </a:solidFill>
                <a:latin typeface="Calibri" pitchFamily="34" charset="0"/>
                <a:ea typeface="Calibri" pitchFamily="34" charset="-122"/>
                <a:cs typeface="Calibri" pitchFamily="34" charset="-120"/>
              </a:rPr>
              <a:t>EA is an ideal LBO candidate.</a:t>
            </a:r>
            <a:endParaRPr lang="en-US" sz="1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Investment Thesis — Six Pillars</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6</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548640" y="1097280"/>
            <a:ext cx="11064240" cy="365760"/>
          </a:xfrm>
          <a:prstGeom prst="rect">
            <a:avLst/>
          </a:prstGeom>
          <a:noFill/>
          <a:ln/>
        </p:spPr>
        <p:txBody>
          <a:bodyPr wrap="square" lIns="0" tIns="0" rIns="0" bIns="0" rtlCol="0" anchor="ctr"/>
          <a:lstStyle/>
          <a:p>
            <a:pPr marL="0" indent="0" algn="ctr">
              <a:buNone/>
            </a:pPr>
            <a:r>
              <a:rPr lang="en-US" sz="1150" i="1">
                <a:solidFill>
                  <a:srgbClr val="595959"/>
                </a:solidFill>
                <a:latin typeface="Calibri" pitchFamily="34" charset="0"/>
                <a:ea typeface="Calibri" pitchFamily="34" charset="-122"/>
                <a:cs typeface="Calibri" pitchFamily="34" charset="-120"/>
              </a:rPr>
              <a:t>Each pillar independently sufficient at lower-MoM outcomes; together they support the underwriting base case of 1.76x MoM / 12.0% gross IRR over a 5-year hold.</a:t>
            </a:r>
            <a:endParaRPr lang="en-US" sz="1150"/>
          </a:p>
        </p:txBody>
      </p:sp>
      <p:sp>
        <p:nvSpPr>
          <p:cNvPr id="8" name="Shape 6"/>
          <p:cNvSpPr/>
          <p:nvPr/>
        </p:nvSpPr>
        <p:spPr>
          <a:xfrm>
            <a:off x="289408" y="1600200"/>
            <a:ext cx="3749040" cy="21945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9" name="Shape 7"/>
          <p:cNvSpPr/>
          <p:nvPr/>
        </p:nvSpPr>
        <p:spPr>
          <a:xfrm>
            <a:off x="289408" y="1600200"/>
            <a:ext cx="777240" cy="502920"/>
          </a:xfrm>
          <a:prstGeom prst="rect">
            <a:avLst/>
          </a:prstGeom>
          <a:solidFill>
            <a:srgbClr val="1F4E79"/>
          </a:solidFill>
          <a:ln/>
        </p:spPr>
        <p:txBody>
          <a:bodyPr/>
          <a:lstStyle/>
          <a:p>
            <a:endParaRPr lang="en-US"/>
          </a:p>
        </p:txBody>
      </p:sp>
      <p:sp>
        <p:nvSpPr>
          <p:cNvPr id="10" name="Text 8"/>
          <p:cNvSpPr/>
          <p:nvPr/>
        </p:nvSpPr>
        <p:spPr>
          <a:xfrm>
            <a:off x="289408" y="1600200"/>
            <a:ext cx="77724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01</a:t>
            </a:r>
            <a:endParaRPr lang="en-US" sz="1600"/>
          </a:p>
        </p:txBody>
      </p:sp>
      <p:sp>
        <p:nvSpPr>
          <p:cNvPr id="11" name="Text 9"/>
          <p:cNvSpPr/>
          <p:nvPr/>
        </p:nvSpPr>
        <p:spPr>
          <a:xfrm>
            <a:off x="1158088" y="1645920"/>
            <a:ext cx="2788920" cy="45720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Recurring Live Services</a:t>
            </a:r>
            <a:endParaRPr lang="en-US" sz="1300"/>
          </a:p>
        </p:txBody>
      </p:sp>
      <p:sp>
        <p:nvSpPr>
          <p:cNvPr id="12" name="Text 10"/>
          <p:cNvSpPr/>
          <p:nvPr/>
        </p:nvSpPr>
        <p:spPr>
          <a:xfrm>
            <a:off x="472288" y="2240280"/>
            <a:ext cx="3383280" cy="141732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73% of FY25 revenue from live services. Adj. EBITDA margins from 30.7% (FY22) to 34.5% (FY25). Network-effect monetization across Ultimate Team modes.</a:t>
            </a:r>
            <a:endParaRPr lang="en-US" sz="1050"/>
          </a:p>
        </p:txBody>
      </p:sp>
      <p:sp>
        <p:nvSpPr>
          <p:cNvPr id="13" name="Shape 11"/>
          <p:cNvSpPr/>
          <p:nvPr/>
        </p:nvSpPr>
        <p:spPr>
          <a:xfrm>
            <a:off x="4221328" y="1600200"/>
            <a:ext cx="3749040" cy="21945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4" name="Shape 12"/>
          <p:cNvSpPr/>
          <p:nvPr/>
        </p:nvSpPr>
        <p:spPr>
          <a:xfrm>
            <a:off x="4221328" y="1600200"/>
            <a:ext cx="777240" cy="502920"/>
          </a:xfrm>
          <a:prstGeom prst="rect">
            <a:avLst/>
          </a:prstGeom>
          <a:solidFill>
            <a:srgbClr val="1F4E79"/>
          </a:solidFill>
          <a:ln/>
        </p:spPr>
        <p:txBody>
          <a:bodyPr/>
          <a:lstStyle/>
          <a:p>
            <a:endParaRPr lang="en-US"/>
          </a:p>
        </p:txBody>
      </p:sp>
      <p:sp>
        <p:nvSpPr>
          <p:cNvPr id="15" name="Text 13"/>
          <p:cNvSpPr/>
          <p:nvPr/>
        </p:nvSpPr>
        <p:spPr>
          <a:xfrm>
            <a:off x="4221328" y="1600200"/>
            <a:ext cx="77724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02</a:t>
            </a:r>
            <a:endParaRPr lang="en-US" sz="1600"/>
          </a:p>
        </p:txBody>
      </p:sp>
      <p:sp>
        <p:nvSpPr>
          <p:cNvPr id="16" name="Text 14"/>
          <p:cNvSpPr/>
          <p:nvPr/>
        </p:nvSpPr>
        <p:spPr>
          <a:xfrm>
            <a:off x="5090008" y="1645920"/>
            <a:ext cx="2788920" cy="45720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Irreplaceable Sports IP</a:t>
            </a:r>
            <a:endParaRPr lang="en-US" sz="1300"/>
          </a:p>
        </p:txBody>
      </p:sp>
      <p:sp>
        <p:nvSpPr>
          <p:cNvPr id="17" name="Text 15"/>
          <p:cNvSpPr/>
          <p:nvPr/>
        </p:nvSpPr>
        <p:spPr>
          <a:xfrm>
            <a:off x="4404208" y="2240280"/>
            <a:ext cx="3383280" cy="141732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NFL through 2030+, College Football, NHL, F1, UFC, PGA Tour. EA Sports FC sustained the soccer franchise post-FIFA loss — proven IP resilience.</a:t>
            </a:r>
            <a:endParaRPr lang="en-US" sz="1050"/>
          </a:p>
        </p:txBody>
      </p:sp>
      <p:sp>
        <p:nvSpPr>
          <p:cNvPr id="18" name="Shape 16"/>
          <p:cNvSpPr/>
          <p:nvPr/>
        </p:nvSpPr>
        <p:spPr>
          <a:xfrm>
            <a:off x="8153248" y="1600200"/>
            <a:ext cx="3749040" cy="21945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9" name="Shape 17"/>
          <p:cNvSpPr/>
          <p:nvPr/>
        </p:nvSpPr>
        <p:spPr>
          <a:xfrm>
            <a:off x="8153248" y="1600200"/>
            <a:ext cx="777240" cy="502920"/>
          </a:xfrm>
          <a:prstGeom prst="rect">
            <a:avLst/>
          </a:prstGeom>
          <a:solidFill>
            <a:srgbClr val="1F4E79"/>
          </a:solidFill>
          <a:ln/>
        </p:spPr>
        <p:txBody>
          <a:bodyPr/>
          <a:lstStyle/>
          <a:p>
            <a:endParaRPr lang="en-US"/>
          </a:p>
        </p:txBody>
      </p:sp>
      <p:sp>
        <p:nvSpPr>
          <p:cNvPr id="20" name="Text 18"/>
          <p:cNvSpPr/>
          <p:nvPr/>
        </p:nvSpPr>
        <p:spPr>
          <a:xfrm>
            <a:off x="8153248" y="1600200"/>
            <a:ext cx="77724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03</a:t>
            </a:r>
            <a:endParaRPr lang="en-US" sz="1600"/>
          </a:p>
        </p:txBody>
      </p:sp>
      <p:sp>
        <p:nvSpPr>
          <p:cNvPr id="21" name="Text 19"/>
          <p:cNvSpPr/>
          <p:nvPr/>
        </p:nvSpPr>
        <p:spPr>
          <a:xfrm>
            <a:off x="9021928" y="1645920"/>
            <a:ext cx="2788920" cy="45720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Conservative Cap Structure</a:t>
            </a:r>
            <a:endParaRPr lang="en-US" sz="1300"/>
          </a:p>
        </p:txBody>
      </p:sp>
      <p:sp>
        <p:nvSpPr>
          <p:cNvPr id="22" name="Text 20"/>
          <p:cNvSpPr/>
          <p:nvPr/>
        </p:nvSpPr>
        <p:spPr>
          <a:xfrm>
            <a:off x="8336128" y="2240280"/>
            <a:ext cx="3383280" cy="141732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Initial leverage ~7.0x LTM (vs. 8–10x typical). $18B funded debt deleveraging organically to ~$11.5B by FY31. Preserves capacity for content + M&amp;A.</a:t>
            </a:r>
            <a:endParaRPr lang="en-US" sz="1050"/>
          </a:p>
        </p:txBody>
      </p:sp>
      <p:sp>
        <p:nvSpPr>
          <p:cNvPr id="23" name="Shape 21"/>
          <p:cNvSpPr/>
          <p:nvPr/>
        </p:nvSpPr>
        <p:spPr>
          <a:xfrm>
            <a:off x="289408" y="3977640"/>
            <a:ext cx="3749040" cy="21945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4" name="Shape 22"/>
          <p:cNvSpPr/>
          <p:nvPr/>
        </p:nvSpPr>
        <p:spPr>
          <a:xfrm>
            <a:off x="289408" y="3977640"/>
            <a:ext cx="777240" cy="502920"/>
          </a:xfrm>
          <a:prstGeom prst="rect">
            <a:avLst/>
          </a:prstGeom>
          <a:solidFill>
            <a:srgbClr val="1F4E79"/>
          </a:solidFill>
          <a:ln/>
        </p:spPr>
        <p:txBody>
          <a:bodyPr/>
          <a:lstStyle/>
          <a:p>
            <a:endParaRPr lang="en-US"/>
          </a:p>
        </p:txBody>
      </p:sp>
      <p:sp>
        <p:nvSpPr>
          <p:cNvPr id="25" name="Text 23"/>
          <p:cNvSpPr/>
          <p:nvPr/>
        </p:nvSpPr>
        <p:spPr>
          <a:xfrm>
            <a:off x="289408" y="3977640"/>
            <a:ext cx="77724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04</a:t>
            </a:r>
            <a:endParaRPr lang="en-US" sz="1600"/>
          </a:p>
        </p:txBody>
      </p:sp>
      <p:sp>
        <p:nvSpPr>
          <p:cNvPr id="26" name="Text 24"/>
          <p:cNvSpPr/>
          <p:nvPr/>
        </p:nvSpPr>
        <p:spPr>
          <a:xfrm>
            <a:off x="1158088" y="4023360"/>
            <a:ext cx="2788920" cy="45720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PIF Strategic Synergies</a:t>
            </a:r>
            <a:endParaRPr lang="en-US" sz="1300"/>
          </a:p>
        </p:txBody>
      </p:sp>
      <p:sp>
        <p:nvSpPr>
          <p:cNvPr id="27" name="Text 25"/>
          <p:cNvSpPr/>
          <p:nvPr/>
        </p:nvSpPr>
        <p:spPr>
          <a:xfrm>
            <a:off x="472288" y="4617720"/>
            <a:ext cx="3383280" cy="141732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MENA distribution, Vision 2030 esports investments, sovereign-aligned licensing. Patient capital permits multi-year content bets without quarterly EPS pressure.</a:t>
            </a:r>
            <a:endParaRPr lang="en-US" sz="1050"/>
          </a:p>
        </p:txBody>
      </p:sp>
      <p:sp>
        <p:nvSpPr>
          <p:cNvPr id="28" name="Shape 26"/>
          <p:cNvSpPr/>
          <p:nvPr/>
        </p:nvSpPr>
        <p:spPr>
          <a:xfrm>
            <a:off x="4221328" y="3977640"/>
            <a:ext cx="3749040" cy="21945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9" name="Shape 27"/>
          <p:cNvSpPr/>
          <p:nvPr/>
        </p:nvSpPr>
        <p:spPr>
          <a:xfrm>
            <a:off x="4221328" y="3977640"/>
            <a:ext cx="777240" cy="502920"/>
          </a:xfrm>
          <a:prstGeom prst="rect">
            <a:avLst/>
          </a:prstGeom>
          <a:solidFill>
            <a:srgbClr val="1F4E79"/>
          </a:solidFill>
          <a:ln/>
        </p:spPr>
        <p:txBody>
          <a:bodyPr/>
          <a:lstStyle/>
          <a:p>
            <a:endParaRPr lang="en-US"/>
          </a:p>
        </p:txBody>
      </p:sp>
      <p:sp>
        <p:nvSpPr>
          <p:cNvPr id="30" name="Text 28"/>
          <p:cNvSpPr/>
          <p:nvPr/>
        </p:nvSpPr>
        <p:spPr>
          <a:xfrm>
            <a:off x="4221328" y="3977640"/>
            <a:ext cx="77724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05</a:t>
            </a:r>
            <a:endParaRPr lang="en-US" sz="1600"/>
          </a:p>
        </p:txBody>
      </p:sp>
      <p:sp>
        <p:nvSpPr>
          <p:cNvPr id="31" name="Text 29"/>
          <p:cNvSpPr/>
          <p:nvPr/>
        </p:nvSpPr>
        <p:spPr>
          <a:xfrm>
            <a:off x="5090008" y="4023360"/>
            <a:ext cx="2788920" cy="45720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Multiple Re-Rating Optionality</a:t>
            </a:r>
            <a:endParaRPr lang="en-US" sz="1300"/>
          </a:p>
        </p:txBody>
      </p:sp>
      <p:sp>
        <p:nvSpPr>
          <p:cNvPr id="32" name="Text 30"/>
          <p:cNvSpPr/>
          <p:nvPr/>
        </p:nvSpPr>
        <p:spPr>
          <a:xfrm>
            <a:off x="4404208" y="4617720"/>
            <a:ext cx="3383280" cy="141732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Entry 21.0x LTM / 18.0x FY27E sits modestly below the gaming-precedent median of 21.5x ex-outliers. Microsoft/Activision at 19x; Take-Two/Zynga at 24x; valuation cushion vs. strategic-acquirer subset that has historically paid 24x+.</a:t>
            </a:r>
            <a:endParaRPr lang="en-US" sz="1050"/>
          </a:p>
        </p:txBody>
      </p:sp>
      <p:sp>
        <p:nvSpPr>
          <p:cNvPr id="33" name="Shape 31"/>
          <p:cNvSpPr/>
          <p:nvPr/>
        </p:nvSpPr>
        <p:spPr>
          <a:xfrm>
            <a:off x="8153248" y="3977640"/>
            <a:ext cx="3749040" cy="219456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34" name="Shape 32"/>
          <p:cNvSpPr/>
          <p:nvPr/>
        </p:nvSpPr>
        <p:spPr>
          <a:xfrm>
            <a:off x="8153248" y="3977640"/>
            <a:ext cx="777240" cy="502920"/>
          </a:xfrm>
          <a:prstGeom prst="rect">
            <a:avLst/>
          </a:prstGeom>
          <a:solidFill>
            <a:srgbClr val="1F4E79"/>
          </a:solidFill>
          <a:ln/>
        </p:spPr>
        <p:txBody>
          <a:bodyPr/>
          <a:lstStyle/>
          <a:p>
            <a:endParaRPr lang="en-US"/>
          </a:p>
        </p:txBody>
      </p:sp>
      <p:sp>
        <p:nvSpPr>
          <p:cNvPr id="35" name="Text 33"/>
          <p:cNvSpPr/>
          <p:nvPr/>
        </p:nvSpPr>
        <p:spPr>
          <a:xfrm>
            <a:off x="8153248" y="3977640"/>
            <a:ext cx="77724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06</a:t>
            </a:r>
            <a:endParaRPr lang="en-US" sz="1600"/>
          </a:p>
        </p:txBody>
      </p:sp>
      <p:sp>
        <p:nvSpPr>
          <p:cNvPr id="36" name="Text 34"/>
          <p:cNvSpPr/>
          <p:nvPr/>
        </p:nvSpPr>
        <p:spPr>
          <a:xfrm>
            <a:off x="9021928" y="4023360"/>
            <a:ext cx="2788920" cy="45720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Goldman Sachs Convergence</a:t>
            </a:r>
            <a:endParaRPr lang="en-US" sz="1300"/>
          </a:p>
        </p:txBody>
      </p:sp>
      <p:sp>
        <p:nvSpPr>
          <p:cNvPr id="37" name="Text 35"/>
          <p:cNvSpPr/>
          <p:nvPr/>
        </p:nvSpPr>
        <p:spPr>
          <a:xfrm>
            <a:off x="8336128" y="4617720"/>
            <a:ext cx="3383280" cy="1417320"/>
          </a:xfrm>
          <a:prstGeom prst="rect">
            <a:avLst/>
          </a:prstGeom>
          <a:noFill/>
          <a:ln/>
        </p:spPr>
        <p:txBody>
          <a:bodyPr wrap="square" lIns="0" tIns="0" rIns="0" bIns="0" rtlCol="0" anchor="t"/>
          <a:lstStyle/>
          <a:p>
            <a:pPr marL="0" indent="0" algn="l">
              <a:buNone/>
            </a:pPr>
            <a:r>
              <a:rPr lang="en-US" sz="1050">
                <a:solidFill>
                  <a:srgbClr val="595959"/>
                </a:solidFill>
                <a:latin typeface="Calibri" pitchFamily="34" charset="0"/>
                <a:ea typeface="Calibri" pitchFamily="34" charset="-122"/>
                <a:cs typeface="Calibri" pitchFamily="34" charset="-120"/>
              </a:rPr>
              <a:t>$210 fair per Goldman Fairness Opinion. DCF range $137–$220, FSP $157–$236, Premia Paid $203–$255 all bracket the offer — independent methodologies converge.</a:t>
            </a:r>
            <a:endParaRPr lang="en-US" sz="10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SWOT Analysis</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7</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457200" y="1097280"/>
            <a:ext cx="11277295" cy="292608"/>
          </a:xfrm>
          <a:prstGeom prst="rect">
            <a:avLst/>
          </a:prstGeom>
          <a:noFill/>
          <a:ln/>
        </p:spPr>
        <p:txBody>
          <a:bodyPr wrap="square" lIns="0" tIns="0" rIns="0" bIns="0" rtlCol="0" anchor="ctr"/>
          <a:lstStyle/>
          <a:p>
            <a:pPr marL="0" indent="0" algn="ctr">
              <a:buNone/>
            </a:pPr>
            <a:r>
              <a:rPr lang="en-US" sz="1200" i="1">
                <a:solidFill>
                  <a:srgbClr val="595959"/>
                </a:solidFill>
                <a:latin typeface="Calibri" pitchFamily="34" charset="0"/>
                <a:ea typeface="Calibri" pitchFamily="34" charset="-122"/>
                <a:cs typeface="Calibri" pitchFamily="34" charset="-120"/>
              </a:rPr>
              <a:t>Internal factors (S/W) and external factors (O/T) framing the IC decision.</a:t>
            </a:r>
            <a:endParaRPr lang="en-US" sz="1200"/>
          </a:p>
        </p:txBody>
      </p:sp>
      <p:sp>
        <p:nvSpPr>
          <p:cNvPr id="8" name="Shape 6"/>
          <p:cNvSpPr/>
          <p:nvPr/>
        </p:nvSpPr>
        <p:spPr>
          <a:xfrm>
            <a:off x="457200" y="1508760"/>
            <a:ext cx="5547665" cy="2286000"/>
          </a:xfrm>
          <a:prstGeom prst="rect">
            <a:avLst/>
          </a:prstGeom>
          <a:solidFill>
            <a:srgbClr val="FFFFFF"/>
          </a:solidFill>
          <a:ln w="6350">
            <a:solidFill>
              <a:srgbClr val="D9D9D9"/>
            </a:solidFill>
            <a:prstDash val="solid"/>
          </a:ln>
        </p:spPr>
        <p:txBody>
          <a:bodyPr/>
          <a:lstStyle/>
          <a:p>
            <a:endParaRPr lang="en-US"/>
          </a:p>
        </p:txBody>
      </p:sp>
      <p:sp>
        <p:nvSpPr>
          <p:cNvPr id="9" name="Shape 7"/>
          <p:cNvSpPr/>
          <p:nvPr/>
        </p:nvSpPr>
        <p:spPr>
          <a:xfrm>
            <a:off x="457200" y="1508760"/>
            <a:ext cx="5547665" cy="457200"/>
          </a:xfrm>
          <a:prstGeom prst="rect">
            <a:avLst/>
          </a:prstGeom>
          <a:solidFill>
            <a:srgbClr val="2E7D32"/>
          </a:solidFill>
          <a:ln/>
        </p:spPr>
        <p:txBody>
          <a:bodyPr/>
          <a:lstStyle/>
          <a:p>
            <a:endParaRPr lang="en-US"/>
          </a:p>
        </p:txBody>
      </p:sp>
      <p:sp>
        <p:nvSpPr>
          <p:cNvPr id="10" name="Text 8"/>
          <p:cNvSpPr/>
          <p:nvPr/>
        </p:nvSpPr>
        <p:spPr>
          <a:xfrm>
            <a:off x="640080" y="1545336"/>
            <a:ext cx="5181905" cy="274320"/>
          </a:xfrm>
          <a:prstGeom prst="rect">
            <a:avLst/>
          </a:prstGeom>
          <a:noFill/>
          <a:ln/>
        </p:spPr>
        <p:txBody>
          <a:bodyPr wrap="square" lIns="0" tIns="0" rIns="0" bIns="0" rtlCol="0" anchor="ctr"/>
          <a:lstStyle/>
          <a:p>
            <a:pPr marL="0" indent="0" algn="l">
              <a:buNone/>
            </a:pPr>
            <a:r>
              <a:rPr lang="en-US" sz="1400" b="1" kern="0" spc="100">
                <a:solidFill>
                  <a:srgbClr val="FFFFFF"/>
                </a:solidFill>
                <a:latin typeface="Calibri" pitchFamily="34" charset="0"/>
                <a:ea typeface="Calibri" pitchFamily="34" charset="-122"/>
                <a:cs typeface="Calibri" pitchFamily="34" charset="-120"/>
              </a:rPr>
              <a:t>STRENGTHS</a:t>
            </a:r>
            <a:endParaRPr lang="en-US" sz="1400"/>
          </a:p>
        </p:txBody>
      </p:sp>
      <p:sp>
        <p:nvSpPr>
          <p:cNvPr id="11" name="Text 9"/>
          <p:cNvSpPr/>
          <p:nvPr/>
        </p:nvSpPr>
        <p:spPr>
          <a:xfrm>
            <a:off x="640080" y="1783080"/>
            <a:ext cx="5181905" cy="164592"/>
          </a:xfrm>
          <a:prstGeom prst="rect">
            <a:avLst/>
          </a:prstGeom>
          <a:noFill/>
          <a:ln/>
        </p:spPr>
        <p:txBody>
          <a:bodyPr wrap="square" lIns="0" tIns="0" rIns="0" bIns="0" rtlCol="0" anchor="ctr"/>
          <a:lstStyle/>
          <a:p>
            <a:pPr marL="0" indent="0" algn="l">
              <a:buNone/>
            </a:pPr>
            <a:r>
              <a:rPr lang="en-US" sz="800" i="1" kern="0" spc="150">
                <a:solidFill>
                  <a:srgbClr val="FFFFFF"/>
                </a:solidFill>
                <a:latin typeface="Calibri" pitchFamily="34" charset="0"/>
                <a:ea typeface="Calibri" pitchFamily="34" charset="-122"/>
                <a:cs typeface="Calibri" pitchFamily="34" charset="-120"/>
              </a:rPr>
              <a:t>INTERNAL  ·  POSITIVE</a:t>
            </a:r>
            <a:endParaRPr lang="en-US" sz="800"/>
          </a:p>
        </p:txBody>
      </p:sp>
      <p:sp>
        <p:nvSpPr>
          <p:cNvPr id="12" name="Shape 10"/>
          <p:cNvSpPr/>
          <p:nvPr/>
        </p:nvSpPr>
        <p:spPr>
          <a:xfrm>
            <a:off x="457200" y="1965960"/>
            <a:ext cx="5547665" cy="594360"/>
          </a:xfrm>
          <a:prstGeom prst="rect">
            <a:avLst/>
          </a:prstGeom>
          <a:solidFill>
            <a:srgbClr val="FFFFFF"/>
          </a:solidFill>
          <a:ln w="3175">
            <a:solidFill>
              <a:srgbClr val="D9D9D9"/>
            </a:solidFill>
            <a:prstDash val="solid"/>
          </a:ln>
        </p:spPr>
        <p:txBody>
          <a:bodyPr/>
          <a:lstStyle/>
          <a:p>
            <a:endParaRPr lang="en-US"/>
          </a:p>
        </p:txBody>
      </p:sp>
      <p:sp>
        <p:nvSpPr>
          <p:cNvPr id="13" name="Shape 11"/>
          <p:cNvSpPr/>
          <p:nvPr/>
        </p:nvSpPr>
        <p:spPr>
          <a:xfrm>
            <a:off x="685800" y="2189988"/>
            <a:ext cx="146304" cy="146304"/>
          </a:xfrm>
          <a:prstGeom prst="ellipse">
            <a:avLst/>
          </a:prstGeom>
          <a:solidFill>
            <a:srgbClr val="2E7D32"/>
          </a:solidFill>
          <a:ln/>
        </p:spPr>
        <p:txBody>
          <a:bodyPr/>
          <a:lstStyle/>
          <a:p>
            <a:endParaRPr lang="en-US"/>
          </a:p>
        </p:txBody>
      </p:sp>
      <p:sp>
        <p:nvSpPr>
          <p:cNvPr id="14" name="Text 12"/>
          <p:cNvSpPr/>
          <p:nvPr/>
        </p:nvSpPr>
        <p:spPr>
          <a:xfrm>
            <a:off x="960120" y="196596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Live-services anchor (73% recurring)</a:t>
            </a:r>
            <a:endParaRPr lang="en-US" sz="1100"/>
          </a:p>
        </p:txBody>
      </p:sp>
      <p:sp>
        <p:nvSpPr>
          <p:cNvPr id="15" name="Shape 13"/>
          <p:cNvSpPr/>
          <p:nvPr/>
        </p:nvSpPr>
        <p:spPr>
          <a:xfrm>
            <a:off x="457200" y="2560320"/>
            <a:ext cx="5547665" cy="594360"/>
          </a:xfrm>
          <a:prstGeom prst="rect">
            <a:avLst/>
          </a:prstGeom>
          <a:solidFill>
            <a:srgbClr val="F2F2F2"/>
          </a:solidFill>
          <a:ln w="3175">
            <a:solidFill>
              <a:srgbClr val="D9D9D9"/>
            </a:solidFill>
            <a:prstDash val="solid"/>
          </a:ln>
        </p:spPr>
        <p:txBody>
          <a:bodyPr/>
          <a:lstStyle/>
          <a:p>
            <a:endParaRPr lang="en-US"/>
          </a:p>
        </p:txBody>
      </p:sp>
      <p:sp>
        <p:nvSpPr>
          <p:cNvPr id="16" name="Shape 14"/>
          <p:cNvSpPr/>
          <p:nvPr/>
        </p:nvSpPr>
        <p:spPr>
          <a:xfrm>
            <a:off x="685800" y="2784348"/>
            <a:ext cx="146304" cy="146304"/>
          </a:xfrm>
          <a:prstGeom prst="ellipse">
            <a:avLst/>
          </a:prstGeom>
          <a:solidFill>
            <a:srgbClr val="2E7D32"/>
          </a:solidFill>
          <a:ln/>
        </p:spPr>
        <p:txBody>
          <a:bodyPr/>
          <a:lstStyle/>
          <a:p>
            <a:endParaRPr lang="en-US"/>
          </a:p>
        </p:txBody>
      </p:sp>
      <p:sp>
        <p:nvSpPr>
          <p:cNvPr id="17" name="Text 15"/>
          <p:cNvSpPr/>
          <p:nvPr/>
        </p:nvSpPr>
        <p:spPr>
          <a:xfrm>
            <a:off x="960120" y="256032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Sports IP through 2030+</a:t>
            </a:r>
            <a:endParaRPr lang="en-US" sz="1100"/>
          </a:p>
        </p:txBody>
      </p:sp>
      <p:sp>
        <p:nvSpPr>
          <p:cNvPr id="18" name="Shape 16"/>
          <p:cNvSpPr/>
          <p:nvPr/>
        </p:nvSpPr>
        <p:spPr>
          <a:xfrm>
            <a:off x="457200" y="3154680"/>
            <a:ext cx="5547665" cy="594360"/>
          </a:xfrm>
          <a:prstGeom prst="rect">
            <a:avLst/>
          </a:prstGeom>
          <a:solidFill>
            <a:srgbClr val="FFFFFF"/>
          </a:solidFill>
          <a:ln w="3175">
            <a:solidFill>
              <a:srgbClr val="D9D9D9"/>
            </a:solidFill>
            <a:prstDash val="solid"/>
          </a:ln>
        </p:spPr>
        <p:txBody>
          <a:bodyPr/>
          <a:lstStyle/>
          <a:p>
            <a:endParaRPr lang="en-US"/>
          </a:p>
        </p:txBody>
      </p:sp>
      <p:sp>
        <p:nvSpPr>
          <p:cNvPr id="19" name="Shape 17"/>
          <p:cNvSpPr/>
          <p:nvPr/>
        </p:nvSpPr>
        <p:spPr>
          <a:xfrm>
            <a:off x="685800" y="3378708"/>
            <a:ext cx="146304" cy="146304"/>
          </a:xfrm>
          <a:prstGeom prst="ellipse">
            <a:avLst/>
          </a:prstGeom>
          <a:solidFill>
            <a:srgbClr val="2E7D32"/>
          </a:solidFill>
          <a:ln/>
        </p:spPr>
        <p:txBody>
          <a:bodyPr/>
          <a:lstStyle/>
          <a:p>
            <a:endParaRPr lang="en-US"/>
          </a:p>
        </p:txBody>
      </p:sp>
      <p:sp>
        <p:nvSpPr>
          <p:cNvPr id="20" name="Text 18"/>
          <p:cNvSpPr/>
          <p:nvPr/>
        </p:nvSpPr>
        <p:spPr>
          <a:xfrm>
            <a:off x="960120" y="315468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Conservative deal leverage (~7.0x)</a:t>
            </a:r>
            <a:endParaRPr lang="en-US" sz="1100"/>
          </a:p>
        </p:txBody>
      </p:sp>
      <p:sp>
        <p:nvSpPr>
          <p:cNvPr id="21" name="Shape 19"/>
          <p:cNvSpPr/>
          <p:nvPr/>
        </p:nvSpPr>
        <p:spPr>
          <a:xfrm>
            <a:off x="6187745" y="1508760"/>
            <a:ext cx="5547665" cy="2286000"/>
          </a:xfrm>
          <a:prstGeom prst="rect">
            <a:avLst/>
          </a:prstGeom>
          <a:solidFill>
            <a:srgbClr val="FFFFFF"/>
          </a:solidFill>
          <a:ln w="6350">
            <a:solidFill>
              <a:srgbClr val="D9D9D9"/>
            </a:solidFill>
            <a:prstDash val="solid"/>
          </a:ln>
        </p:spPr>
        <p:txBody>
          <a:bodyPr/>
          <a:lstStyle/>
          <a:p>
            <a:endParaRPr lang="en-US"/>
          </a:p>
        </p:txBody>
      </p:sp>
      <p:sp>
        <p:nvSpPr>
          <p:cNvPr id="22" name="Shape 20"/>
          <p:cNvSpPr/>
          <p:nvPr/>
        </p:nvSpPr>
        <p:spPr>
          <a:xfrm>
            <a:off x="6187745" y="1508760"/>
            <a:ext cx="5547665" cy="457200"/>
          </a:xfrm>
          <a:prstGeom prst="rect">
            <a:avLst/>
          </a:prstGeom>
          <a:solidFill>
            <a:srgbClr val="B8860B"/>
          </a:solidFill>
          <a:ln/>
        </p:spPr>
        <p:txBody>
          <a:bodyPr/>
          <a:lstStyle/>
          <a:p>
            <a:endParaRPr lang="en-US"/>
          </a:p>
        </p:txBody>
      </p:sp>
      <p:sp>
        <p:nvSpPr>
          <p:cNvPr id="23" name="Text 21"/>
          <p:cNvSpPr/>
          <p:nvPr/>
        </p:nvSpPr>
        <p:spPr>
          <a:xfrm>
            <a:off x="6370625" y="1545336"/>
            <a:ext cx="5181905" cy="274320"/>
          </a:xfrm>
          <a:prstGeom prst="rect">
            <a:avLst/>
          </a:prstGeom>
          <a:noFill/>
          <a:ln/>
        </p:spPr>
        <p:txBody>
          <a:bodyPr wrap="square" lIns="0" tIns="0" rIns="0" bIns="0" rtlCol="0" anchor="ctr"/>
          <a:lstStyle/>
          <a:p>
            <a:pPr marL="0" indent="0" algn="l">
              <a:buNone/>
            </a:pPr>
            <a:r>
              <a:rPr lang="en-US" sz="1400" b="1" kern="0" spc="100">
                <a:solidFill>
                  <a:srgbClr val="FFFFFF"/>
                </a:solidFill>
                <a:latin typeface="Calibri" pitchFamily="34" charset="0"/>
                <a:ea typeface="Calibri" pitchFamily="34" charset="-122"/>
                <a:cs typeface="Calibri" pitchFamily="34" charset="-120"/>
              </a:rPr>
              <a:t>WEAKNESSES</a:t>
            </a:r>
            <a:endParaRPr lang="en-US" sz="1400"/>
          </a:p>
        </p:txBody>
      </p:sp>
      <p:sp>
        <p:nvSpPr>
          <p:cNvPr id="24" name="Text 22"/>
          <p:cNvSpPr/>
          <p:nvPr/>
        </p:nvSpPr>
        <p:spPr>
          <a:xfrm>
            <a:off x="6370625" y="1783080"/>
            <a:ext cx="5181905" cy="164592"/>
          </a:xfrm>
          <a:prstGeom prst="rect">
            <a:avLst/>
          </a:prstGeom>
          <a:noFill/>
          <a:ln/>
        </p:spPr>
        <p:txBody>
          <a:bodyPr wrap="square" lIns="0" tIns="0" rIns="0" bIns="0" rtlCol="0" anchor="ctr"/>
          <a:lstStyle/>
          <a:p>
            <a:pPr marL="0" indent="0" algn="l">
              <a:buNone/>
            </a:pPr>
            <a:r>
              <a:rPr lang="en-US" sz="800" i="1" kern="0" spc="150">
                <a:solidFill>
                  <a:srgbClr val="FFFFFF"/>
                </a:solidFill>
                <a:latin typeface="Calibri" pitchFamily="34" charset="0"/>
                <a:ea typeface="Calibri" pitchFamily="34" charset="-122"/>
                <a:cs typeface="Calibri" pitchFamily="34" charset="-120"/>
              </a:rPr>
              <a:t>INTERNAL  ·  NEGATIVE</a:t>
            </a:r>
            <a:endParaRPr lang="en-US" sz="800"/>
          </a:p>
        </p:txBody>
      </p:sp>
      <p:sp>
        <p:nvSpPr>
          <p:cNvPr id="25" name="Shape 23"/>
          <p:cNvSpPr/>
          <p:nvPr/>
        </p:nvSpPr>
        <p:spPr>
          <a:xfrm>
            <a:off x="6187745" y="1965960"/>
            <a:ext cx="5547665" cy="594360"/>
          </a:xfrm>
          <a:prstGeom prst="rect">
            <a:avLst/>
          </a:prstGeom>
          <a:solidFill>
            <a:srgbClr val="FFFFFF"/>
          </a:solidFill>
          <a:ln w="3175">
            <a:solidFill>
              <a:srgbClr val="D9D9D9"/>
            </a:solidFill>
            <a:prstDash val="solid"/>
          </a:ln>
        </p:spPr>
        <p:txBody>
          <a:bodyPr/>
          <a:lstStyle/>
          <a:p>
            <a:endParaRPr lang="en-US"/>
          </a:p>
        </p:txBody>
      </p:sp>
      <p:sp>
        <p:nvSpPr>
          <p:cNvPr id="26" name="Shape 24"/>
          <p:cNvSpPr/>
          <p:nvPr/>
        </p:nvSpPr>
        <p:spPr>
          <a:xfrm>
            <a:off x="6416345" y="2189988"/>
            <a:ext cx="146304" cy="146304"/>
          </a:xfrm>
          <a:prstGeom prst="ellipse">
            <a:avLst/>
          </a:prstGeom>
          <a:solidFill>
            <a:srgbClr val="B8860B"/>
          </a:solidFill>
          <a:ln/>
        </p:spPr>
        <p:txBody>
          <a:bodyPr/>
          <a:lstStyle/>
          <a:p>
            <a:endParaRPr lang="en-US"/>
          </a:p>
        </p:txBody>
      </p:sp>
      <p:sp>
        <p:nvSpPr>
          <p:cNvPr id="27" name="Text 25"/>
          <p:cNvSpPr/>
          <p:nvPr/>
        </p:nvSpPr>
        <p:spPr>
          <a:xfrm>
            <a:off x="6690665" y="196596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Tentpole concentration</a:t>
            </a:r>
            <a:endParaRPr lang="en-US" sz="1100"/>
          </a:p>
        </p:txBody>
      </p:sp>
      <p:sp>
        <p:nvSpPr>
          <p:cNvPr id="28" name="Shape 26"/>
          <p:cNvSpPr/>
          <p:nvPr/>
        </p:nvSpPr>
        <p:spPr>
          <a:xfrm>
            <a:off x="6187745" y="2560320"/>
            <a:ext cx="5547665" cy="594360"/>
          </a:xfrm>
          <a:prstGeom prst="rect">
            <a:avLst/>
          </a:prstGeom>
          <a:solidFill>
            <a:srgbClr val="F2F2F2"/>
          </a:solidFill>
          <a:ln w="3175">
            <a:solidFill>
              <a:srgbClr val="D9D9D9"/>
            </a:solidFill>
            <a:prstDash val="solid"/>
          </a:ln>
        </p:spPr>
        <p:txBody>
          <a:bodyPr/>
          <a:lstStyle/>
          <a:p>
            <a:endParaRPr lang="en-US"/>
          </a:p>
        </p:txBody>
      </p:sp>
      <p:sp>
        <p:nvSpPr>
          <p:cNvPr id="29" name="Shape 27"/>
          <p:cNvSpPr/>
          <p:nvPr/>
        </p:nvSpPr>
        <p:spPr>
          <a:xfrm>
            <a:off x="6416345" y="2784348"/>
            <a:ext cx="146304" cy="146304"/>
          </a:xfrm>
          <a:prstGeom prst="ellipse">
            <a:avLst/>
          </a:prstGeom>
          <a:solidFill>
            <a:srgbClr val="B8860B"/>
          </a:solidFill>
          <a:ln/>
        </p:spPr>
        <p:txBody>
          <a:bodyPr/>
          <a:lstStyle/>
          <a:p>
            <a:endParaRPr lang="en-US"/>
          </a:p>
        </p:txBody>
      </p:sp>
      <p:sp>
        <p:nvSpPr>
          <p:cNvPr id="30" name="Text 28"/>
          <p:cNvSpPr/>
          <p:nvPr/>
        </p:nvSpPr>
        <p:spPr>
          <a:xfrm>
            <a:off x="6690665" y="256032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Wilson key-person risk</a:t>
            </a:r>
            <a:endParaRPr lang="en-US" sz="1100"/>
          </a:p>
        </p:txBody>
      </p:sp>
      <p:sp>
        <p:nvSpPr>
          <p:cNvPr id="31" name="Shape 29"/>
          <p:cNvSpPr/>
          <p:nvPr/>
        </p:nvSpPr>
        <p:spPr>
          <a:xfrm>
            <a:off x="6187745" y="3154680"/>
            <a:ext cx="5547665" cy="594360"/>
          </a:xfrm>
          <a:prstGeom prst="rect">
            <a:avLst/>
          </a:prstGeom>
          <a:solidFill>
            <a:srgbClr val="FFFFFF"/>
          </a:solidFill>
          <a:ln w="3175">
            <a:solidFill>
              <a:srgbClr val="D9D9D9"/>
            </a:solidFill>
            <a:prstDash val="solid"/>
          </a:ln>
        </p:spPr>
        <p:txBody>
          <a:bodyPr/>
          <a:lstStyle/>
          <a:p>
            <a:endParaRPr lang="en-US"/>
          </a:p>
        </p:txBody>
      </p:sp>
      <p:sp>
        <p:nvSpPr>
          <p:cNvPr id="32" name="Shape 30"/>
          <p:cNvSpPr/>
          <p:nvPr/>
        </p:nvSpPr>
        <p:spPr>
          <a:xfrm>
            <a:off x="6416345" y="3378708"/>
            <a:ext cx="146304" cy="146304"/>
          </a:xfrm>
          <a:prstGeom prst="ellipse">
            <a:avLst/>
          </a:prstGeom>
          <a:solidFill>
            <a:srgbClr val="B8860B"/>
          </a:solidFill>
          <a:ln/>
        </p:spPr>
        <p:txBody>
          <a:bodyPr/>
          <a:lstStyle/>
          <a:p>
            <a:endParaRPr lang="en-US"/>
          </a:p>
        </p:txBody>
      </p:sp>
      <p:sp>
        <p:nvSpPr>
          <p:cNvPr id="33" name="Text 31"/>
          <p:cNvSpPr/>
          <p:nvPr/>
        </p:nvSpPr>
        <p:spPr>
          <a:xfrm>
            <a:off x="6690665" y="315468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Battlefield 6 launch dependency</a:t>
            </a:r>
            <a:endParaRPr lang="en-US" sz="1100"/>
          </a:p>
        </p:txBody>
      </p:sp>
      <p:sp>
        <p:nvSpPr>
          <p:cNvPr id="34" name="Shape 32"/>
          <p:cNvSpPr/>
          <p:nvPr/>
        </p:nvSpPr>
        <p:spPr>
          <a:xfrm>
            <a:off x="457200" y="3977640"/>
            <a:ext cx="5547665" cy="2286000"/>
          </a:xfrm>
          <a:prstGeom prst="rect">
            <a:avLst/>
          </a:prstGeom>
          <a:solidFill>
            <a:srgbClr val="FFFFFF"/>
          </a:solidFill>
          <a:ln w="6350">
            <a:solidFill>
              <a:srgbClr val="D9D9D9"/>
            </a:solidFill>
            <a:prstDash val="solid"/>
          </a:ln>
        </p:spPr>
        <p:txBody>
          <a:bodyPr/>
          <a:lstStyle/>
          <a:p>
            <a:endParaRPr lang="en-US"/>
          </a:p>
        </p:txBody>
      </p:sp>
      <p:sp>
        <p:nvSpPr>
          <p:cNvPr id="35" name="Shape 33"/>
          <p:cNvSpPr/>
          <p:nvPr/>
        </p:nvSpPr>
        <p:spPr>
          <a:xfrm>
            <a:off x="457200" y="3977640"/>
            <a:ext cx="5547665" cy="457200"/>
          </a:xfrm>
          <a:prstGeom prst="rect">
            <a:avLst/>
          </a:prstGeom>
          <a:solidFill>
            <a:srgbClr val="2E75B6"/>
          </a:solidFill>
          <a:ln/>
        </p:spPr>
        <p:txBody>
          <a:bodyPr/>
          <a:lstStyle/>
          <a:p>
            <a:endParaRPr lang="en-US"/>
          </a:p>
        </p:txBody>
      </p:sp>
      <p:sp>
        <p:nvSpPr>
          <p:cNvPr id="36" name="Text 34"/>
          <p:cNvSpPr/>
          <p:nvPr/>
        </p:nvSpPr>
        <p:spPr>
          <a:xfrm>
            <a:off x="640080" y="4014216"/>
            <a:ext cx="5181905" cy="274320"/>
          </a:xfrm>
          <a:prstGeom prst="rect">
            <a:avLst/>
          </a:prstGeom>
          <a:noFill/>
          <a:ln/>
        </p:spPr>
        <p:txBody>
          <a:bodyPr wrap="square" lIns="0" tIns="0" rIns="0" bIns="0" rtlCol="0" anchor="ctr"/>
          <a:lstStyle/>
          <a:p>
            <a:pPr marL="0" indent="0" algn="l">
              <a:buNone/>
            </a:pPr>
            <a:r>
              <a:rPr lang="en-US" sz="1400" b="1" kern="0" spc="100">
                <a:solidFill>
                  <a:srgbClr val="FFFFFF"/>
                </a:solidFill>
                <a:latin typeface="Calibri" pitchFamily="34" charset="0"/>
                <a:ea typeface="Calibri" pitchFamily="34" charset="-122"/>
                <a:cs typeface="Calibri" pitchFamily="34" charset="-120"/>
              </a:rPr>
              <a:t>OPPORTUNITIES</a:t>
            </a:r>
            <a:endParaRPr lang="en-US" sz="1400"/>
          </a:p>
        </p:txBody>
      </p:sp>
      <p:sp>
        <p:nvSpPr>
          <p:cNvPr id="37" name="Text 35"/>
          <p:cNvSpPr/>
          <p:nvPr/>
        </p:nvSpPr>
        <p:spPr>
          <a:xfrm>
            <a:off x="640080" y="4251960"/>
            <a:ext cx="5181905" cy="164592"/>
          </a:xfrm>
          <a:prstGeom prst="rect">
            <a:avLst/>
          </a:prstGeom>
          <a:noFill/>
          <a:ln/>
        </p:spPr>
        <p:txBody>
          <a:bodyPr wrap="square" lIns="0" tIns="0" rIns="0" bIns="0" rtlCol="0" anchor="ctr"/>
          <a:lstStyle/>
          <a:p>
            <a:pPr marL="0" indent="0" algn="l">
              <a:buNone/>
            </a:pPr>
            <a:r>
              <a:rPr lang="en-US" sz="800" i="1" kern="0" spc="150">
                <a:solidFill>
                  <a:srgbClr val="FFFFFF"/>
                </a:solidFill>
                <a:latin typeface="Calibri" pitchFamily="34" charset="0"/>
                <a:ea typeface="Calibri" pitchFamily="34" charset="-122"/>
                <a:cs typeface="Calibri" pitchFamily="34" charset="-120"/>
              </a:rPr>
              <a:t>EXTERNAL  ·  POSITIVE</a:t>
            </a:r>
            <a:endParaRPr lang="en-US" sz="800"/>
          </a:p>
        </p:txBody>
      </p:sp>
      <p:sp>
        <p:nvSpPr>
          <p:cNvPr id="38" name="Shape 36"/>
          <p:cNvSpPr/>
          <p:nvPr/>
        </p:nvSpPr>
        <p:spPr>
          <a:xfrm>
            <a:off x="457200" y="4434840"/>
            <a:ext cx="5547665" cy="594360"/>
          </a:xfrm>
          <a:prstGeom prst="rect">
            <a:avLst/>
          </a:prstGeom>
          <a:solidFill>
            <a:srgbClr val="FFFFFF"/>
          </a:solidFill>
          <a:ln w="3175">
            <a:solidFill>
              <a:srgbClr val="D9D9D9"/>
            </a:solidFill>
            <a:prstDash val="solid"/>
          </a:ln>
        </p:spPr>
        <p:txBody>
          <a:bodyPr/>
          <a:lstStyle/>
          <a:p>
            <a:endParaRPr lang="en-US"/>
          </a:p>
        </p:txBody>
      </p:sp>
      <p:sp>
        <p:nvSpPr>
          <p:cNvPr id="39" name="Shape 37"/>
          <p:cNvSpPr/>
          <p:nvPr/>
        </p:nvSpPr>
        <p:spPr>
          <a:xfrm>
            <a:off x="685800" y="4658868"/>
            <a:ext cx="146304" cy="146304"/>
          </a:xfrm>
          <a:prstGeom prst="ellipse">
            <a:avLst/>
          </a:prstGeom>
          <a:solidFill>
            <a:srgbClr val="2E75B6"/>
          </a:solidFill>
          <a:ln/>
        </p:spPr>
        <p:txBody>
          <a:bodyPr/>
          <a:lstStyle/>
          <a:p>
            <a:endParaRPr lang="en-US"/>
          </a:p>
        </p:txBody>
      </p:sp>
      <p:sp>
        <p:nvSpPr>
          <p:cNvPr id="40" name="Text 38"/>
          <p:cNvSpPr/>
          <p:nvPr/>
        </p:nvSpPr>
        <p:spPr>
          <a:xfrm>
            <a:off x="960120" y="443484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PIF MENA distribution / Vision 2030</a:t>
            </a:r>
            <a:endParaRPr lang="en-US" sz="1100"/>
          </a:p>
        </p:txBody>
      </p:sp>
      <p:sp>
        <p:nvSpPr>
          <p:cNvPr id="41" name="Shape 39"/>
          <p:cNvSpPr/>
          <p:nvPr/>
        </p:nvSpPr>
        <p:spPr>
          <a:xfrm>
            <a:off x="457200" y="5029200"/>
            <a:ext cx="5547665" cy="594360"/>
          </a:xfrm>
          <a:prstGeom prst="rect">
            <a:avLst/>
          </a:prstGeom>
          <a:solidFill>
            <a:srgbClr val="F2F2F2"/>
          </a:solidFill>
          <a:ln w="3175">
            <a:solidFill>
              <a:srgbClr val="D9D9D9"/>
            </a:solidFill>
            <a:prstDash val="solid"/>
          </a:ln>
        </p:spPr>
        <p:txBody>
          <a:bodyPr/>
          <a:lstStyle/>
          <a:p>
            <a:endParaRPr lang="en-US"/>
          </a:p>
        </p:txBody>
      </p:sp>
      <p:sp>
        <p:nvSpPr>
          <p:cNvPr id="42" name="Shape 40"/>
          <p:cNvSpPr/>
          <p:nvPr/>
        </p:nvSpPr>
        <p:spPr>
          <a:xfrm>
            <a:off x="685800" y="5253228"/>
            <a:ext cx="146304" cy="146304"/>
          </a:xfrm>
          <a:prstGeom prst="ellipse">
            <a:avLst/>
          </a:prstGeom>
          <a:solidFill>
            <a:srgbClr val="2E75B6"/>
          </a:solidFill>
          <a:ln/>
        </p:spPr>
        <p:txBody>
          <a:bodyPr/>
          <a:lstStyle/>
          <a:p>
            <a:endParaRPr lang="en-US"/>
          </a:p>
        </p:txBody>
      </p:sp>
      <p:sp>
        <p:nvSpPr>
          <p:cNvPr id="43" name="Text 41"/>
          <p:cNvSpPr/>
          <p:nvPr/>
        </p:nvSpPr>
        <p:spPr>
          <a:xfrm>
            <a:off x="960120" y="502920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Multiple re-rating optionality</a:t>
            </a:r>
            <a:endParaRPr lang="en-US" sz="1100"/>
          </a:p>
        </p:txBody>
      </p:sp>
      <p:sp>
        <p:nvSpPr>
          <p:cNvPr id="44" name="Shape 42"/>
          <p:cNvSpPr/>
          <p:nvPr/>
        </p:nvSpPr>
        <p:spPr>
          <a:xfrm>
            <a:off x="457200" y="5623560"/>
            <a:ext cx="5547665" cy="594360"/>
          </a:xfrm>
          <a:prstGeom prst="rect">
            <a:avLst/>
          </a:prstGeom>
          <a:solidFill>
            <a:srgbClr val="FFFFFF"/>
          </a:solidFill>
          <a:ln w="3175">
            <a:solidFill>
              <a:srgbClr val="D9D9D9"/>
            </a:solidFill>
            <a:prstDash val="solid"/>
          </a:ln>
        </p:spPr>
        <p:txBody>
          <a:bodyPr/>
          <a:lstStyle/>
          <a:p>
            <a:endParaRPr lang="en-US"/>
          </a:p>
        </p:txBody>
      </p:sp>
      <p:sp>
        <p:nvSpPr>
          <p:cNvPr id="45" name="Shape 43"/>
          <p:cNvSpPr/>
          <p:nvPr/>
        </p:nvSpPr>
        <p:spPr>
          <a:xfrm>
            <a:off x="685800" y="5847588"/>
            <a:ext cx="146304" cy="146304"/>
          </a:xfrm>
          <a:prstGeom prst="ellipse">
            <a:avLst/>
          </a:prstGeom>
          <a:solidFill>
            <a:srgbClr val="2E75B6"/>
          </a:solidFill>
          <a:ln/>
        </p:spPr>
        <p:txBody>
          <a:bodyPr/>
          <a:lstStyle/>
          <a:p>
            <a:endParaRPr lang="en-US"/>
          </a:p>
        </p:txBody>
      </p:sp>
      <p:sp>
        <p:nvSpPr>
          <p:cNvPr id="46" name="Text 44"/>
          <p:cNvSpPr/>
          <p:nvPr/>
        </p:nvSpPr>
        <p:spPr>
          <a:xfrm>
            <a:off x="960120" y="562356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Add-on M&amp;A capacity</a:t>
            </a:r>
            <a:endParaRPr lang="en-US" sz="1100"/>
          </a:p>
        </p:txBody>
      </p:sp>
      <p:sp>
        <p:nvSpPr>
          <p:cNvPr id="47" name="Shape 45"/>
          <p:cNvSpPr/>
          <p:nvPr/>
        </p:nvSpPr>
        <p:spPr>
          <a:xfrm>
            <a:off x="6187745" y="3977640"/>
            <a:ext cx="5547665" cy="2286000"/>
          </a:xfrm>
          <a:prstGeom prst="rect">
            <a:avLst/>
          </a:prstGeom>
          <a:solidFill>
            <a:srgbClr val="FFFFFF"/>
          </a:solidFill>
          <a:ln w="6350">
            <a:solidFill>
              <a:srgbClr val="D9D9D9"/>
            </a:solidFill>
            <a:prstDash val="solid"/>
          </a:ln>
        </p:spPr>
        <p:txBody>
          <a:bodyPr/>
          <a:lstStyle/>
          <a:p>
            <a:endParaRPr lang="en-US"/>
          </a:p>
        </p:txBody>
      </p:sp>
      <p:sp>
        <p:nvSpPr>
          <p:cNvPr id="48" name="Shape 46"/>
          <p:cNvSpPr/>
          <p:nvPr/>
        </p:nvSpPr>
        <p:spPr>
          <a:xfrm>
            <a:off x="6187745" y="3977640"/>
            <a:ext cx="5547665" cy="457200"/>
          </a:xfrm>
          <a:prstGeom prst="rect">
            <a:avLst/>
          </a:prstGeom>
          <a:solidFill>
            <a:srgbClr val="C00000"/>
          </a:solidFill>
          <a:ln/>
        </p:spPr>
        <p:txBody>
          <a:bodyPr/>
          <a:lstStyle/>
          <a:p>
            <a:endParaRPr lang="en-US"/>
          </a:p>
        </p:txBody>
      </p:sp>
      <p:sp>
        <p:nvSpPr>
          <p:cNvPr id="49" name="Text 47"/>
          <p:cNvSpPr/>
          <p:nvPr/>
        </p:nvSpPr>
        <p:spPr>
          <a:xfrm>
            <a:off x="6370625" y="4014216"/>
            <a:ext cx="5181905" cy="274320"/>
          </a:xfrm>
          <a:prstGeom prst="rect">
            <a:avLst/>
          </a:prstGeom>
          <a:noFill/>
          <a:ln/>
        </p:spPr>
        <p:txBody>
          <a:bodyPr wrap="square" lIns="0" tIns="0" rIns="0" bIns="0" rtlCol="0" anchor="ctr"/>
          <a:lstStyle/>
          <a:p>
            <a:pPr marL="0" indent="0" algn="l">
              <a:buNone/>
            </a:pPr>
            <a:r>
              <a:rPr lang="en-US" sz="1400" b="1" kern="0" spc="100">
                <a:solidFill>
                  <a:srgbClr val="FFFFFF"/>
                </a:solidFill>
                <a:latin typeface="Calibri" pitchFamily="34" charset="0"/>
                <a:ea typeface="Calibri" pitchFamily="34" charset="-122"/>
                <a:cs typeface="Calibri" pitchFamily="34" charset="-120"/>
              </a:rPr>
              <a:t>THREATS</a:t>
            </a:r>
            <a:endParaRPr lang="en-US" sz="1400"/>
          </a:p>
        </p:txBody>
      </p:sp>
      <p:sp>
        <p:nvSpPr>
          <p:cNvPr id="50" name="Text 48"/>
          <p:cNvSpPr/>
          <p:nvPr/>
        </p:nvSpPr>
        <p:spPr>
          <a:xfrm>
            <a:off x="6370625" y="4251960"/>
            <a:ext cx="5181905" cy="164592"/>
          </a:xfrm>
          <a:prstGeom prst="rect">
            <a:avLst/>
          </a:prstGeom>
          <a:noFill/>
          <a:ln/>
        </p:spPr>
        <p:txBody>
          <a:bodyPr wrap="square" lIns="0" tIns="0" rIns="0" bIns="0" rtlCol="0" anchor="ctr"/>
          <a:lstStyle/>
          <a:p>
            <a:pPr marL="0" indent="0" algn="l">
              <a:buNone/>
            </a:pPr>
            <a:r>
              <a:rPr lang="en-US" sz="800" i="1" kern="0" spc="150">
                <a:solidFill>
                  <a:srgbClr val="FFFFFF"/>
                </a:solidFill>
                <a:latin typeface="Calibri" pitchFamily="34" charset="0"/>
                <a:ea typeface="Calibri" pitchFamily="34" charset="-122"/>
                <a:cs typeface="Calibri" pitchFamily="34" charset="-120"/>
              </a:rPr>
              <a:t>EXTERNAL  ·  NEGATIVE</a:t>
            </a:r>
            <a:endParaRPr lang="en-US" sz="800"/>
          </a:p>
        </p:txBody>
      </p:sp>
      <p:sp>
        <p:nvSpPr>
          <p:cNvPr id="51" name="Shape 49"/>
          <p:cNvSpPr/>
          <p:nvPr/>
        </p:nvSpPr>
        <p:spPr>
          <a:xfrm>
            <a:off x="6187745" y="4434840"/>
            <a:ext cx="5547665" cy="594360"/>
          </a:xfrm>
          <a:prstGeom prst="rect">
            <a:avLst/>
          </a:prstGeom>
          <a:solidFill>
            <a:srgbClr val="FFFFFF"/>
          </a:solidFill>
          <a:ln w="3175">
            <a:solidFill>
              <a:srgbClr val="D9D9D9"/>
            </a:solidFill>
            <a:prstDash val="solid"/>
          </a:ln>
        </p:spPr>
        <p:txBody>
          <a:bodyPr/>
          <a:lstStyle/>
          <a:p>
            <a:endParaRPr lang="en-US"/>
          </a:p>
        </p:txBody>
      </p:sp>
      <p:sp>
        <p:nvSpPr>
          <p:cNvPr id="52" name="Shape 50"/>
          <p:cNvSpPr/>
          <p:nvPr/>
        </p:nvSpPr>
        <p:spPr>
          <a:xfrm>
            <a:off x="6416345" y="4658868"/>
            <a:ext cx="146304" cy="146304"/>
          </a:xfrm>
          <a:prstGeom prst="ellipse">
            <a:avLst/>
          </a:prstGeom>
          <a:solidFill>
            <a:srgbClr val="C00000"/>
          </a:solidFill>
          <a:ln/>
        </p:spPr>
        <p:txBody>
          <a:bodyPr/>
          <a:lstStyle/>
          <a:p>
            <a:endParaRPr lang="en-US"/>
          </a:p>
        </p:txBody>
      </p:sp>
      <p:sp>
        <p:nvSpPr>
          <p:cNvPr id="53" name="Text 51"/>
          <p:cNvSpPr/>
          <p:nvPr/>
        </p:nvSpPr>
        <p:spPr>
          <a:xfrm>
            <a:off x="6690665" y="443484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CFIUS / political exposure</a:t>
            </a:r>
            <a:endParaRPr lang="en-US" sz="1100"/>
          </a:p>
        </p:txBody>
      </p:sp>
      <p:sp>
        <p:nvSpPr>
          <p:cNvPr id="54" name="Shape 52"/>
          <p:cNvSpPr/>
          <p:nvPr/>
        </p:nvSpPr>
        <p:spPr>
          <a:xfrm>
            <a:off x="6187745" y="5029200"/>
            <a:ext cx="5547665" cy="594360"/>
          </a:xfrm>
          <a:prstGeom prst="rect">
            <a:avLst/>
          </a:prstGeom>
          <a:solidFill>
            <a:srgbClr val="F2F2F2"/>
          </a:solidFill>
          <a:ln w="3175">
            <a:solidFill>
              <a:srgbClr val="D9D9D9"/>
            </a:solidFill>
            <a:prstDash val="solid"/>
          </a:ln>
        </p:spPr>
        <p:txBody>
          <a:bodyPr/>
          <a:lstStyle/>
          <a:p>
            <a:endParaRPr lang="en-US"/>
          </a:p>
        </p:txBody>
      </p:sp>
      <p:sp>
        <p:nvSpPr>
          <p:cNvPr id="55" name="Shape 53"/>
          <p:cNvSpPr/>
          <p:nvPr/>
        </p:nvSpPr>
        <p:spPr>
          <a:xfrm>
            <a:off x="6416345" y="5253228"/>
            <a:ext cx="146304" cy="146304"/>
          </a:xfrm>
          <a:prstGeom prst="ellipse">
            <a:avLst/>
          </a:prstGeom>
          <a:solidFill>
            <a:srgbClr val="C00000"/>
          </a:solidFill>
          <a:ln/>
        </p:spPr>
        <p:txBody>
          <a:bodyPr/>
          <a:lstStyle/>
          <a:p>
            <a:endParaRPr lang="en-US"/>
          </a:p>
        </p:txBody>
      </p:sp>
      <p:sp>
        <p:nvSpPr>
          <p:cNvPr id="56" name="Text 54"/>
          <p:cNvSpPr/>
          <p:nvPr/>
        </p:nvSpPr>
        <p:spPr>
          <a:xfrm>
            <a:off x="6690665" y="502920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EU loot-box / microtransaction regulation</a:t>
            </a:r>
            <a:endParaRPr lang="en-US" sz="1100"/>
          </a:p>
        </p:txBody>
      </p:sp>
      <p:sp>
        <p:nvSpPr>
          <p:cNvPr id="57" name="Shape 55"/>
          <p:cNvSpPr/>
          <p:nvPr/>
        </p:nvSpPr>
        <p:spPr>
          <a:xfrm>
            <a:off x="6187745" y="5623560"/>
            <a:ext cx="5547665" cy="594360"/>
          </a:xfrm>
          <a:prstGeom prst="rect">
            <a:avLst/>
          </a:prstGeom>
          <a:solidFill>
            <a:srgbClr val="FFFFFF"/>
          </a:solidFill>
          <a:ln w="3175">
            <a:solidFill>
              <a:srgbClr val="D9D9D9"/>
            </a:solidFill>
            <a:prstDash val="solid"/>
          </a:ln>
        </p:spPr>
        <p:txBody>
          <a:bodyPr/>
          <a:lstStyle/>
          <a:p>
            <a:endParaRPr lang="en-US"/>
          </a:p>
        </p:txBody>
      </p:sp>
      <p:sp>
        <p:nvSpPr>
          <p:cNvPr id="58" name="Shape 56"/>
          <p:cNvSpPr/>
          <p:nvPr/>
        </p:nvSpPr>
        <p:spPr>
          <a:xfrm>
            <a:off x="6416345" y="5847588"/>
            <a:ext cx="146304" cy="146304"/>
          </a:xfrm>
          <a:prstGeom prst="ellipse">
            <a:avLst/>
          </a:prstGeom>
          <a:solidFill>
            <a:srgbClr val="C00000"/>
          </a:solidFill>
          <a:ln/>
        </p:spPr>
        <p:txBody>
          <a:bodyPr/>
          <a:lstStyle/>
          <a:p>
            <a:endParaRPr lang="en-US"/>
          </a:p>
        </p:txBody>
      </p:sp>
      <p:sp>
        <p:nvSpPr>
          <p:cNvPr id="59" name="Text 57"/>
          <p:cNvSpPr/>
          <p:nvPr/>
        </p:nvSpPr>
        <p:spPr>
          <a:xfrm>
            <a:off x="6690665" y="5623560"/>
            <a:ext cx="4907585" cy="5943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Sports licensing renewal risk</a:t>
            </a:r>
            <a:endParaRPr lang="en-US" sz="1100"/>
          </a:p>
        </p:txBody>
      </p:sp>
      <p:sp>
        <p:nvSpPr>
          <p:cNvPr id="60" name="Text 58"/>
          <p:cNvSpPr/>
          <p:nvPr/>
        </p:nvSpPr>
        <p:spPr>
          <a:xfrm>
            <a:off x="457200" y="6446520"/>
            <a:ext cx="11277295" cy="274320"/>
          </a:xfrm>
          <a:prstGeom prst="rect">
            <a:avLst/>
          </a:prstGeom>
          <a:noFill/>
          <a:ln/>
        </p:spPr>
        <p:txBody>
          <a:bodyPr wrap="square" lIns="0" tIns="0" rIns="0" bIns="0" rtlCol="0" anchor="ctr"/>
          <a:lstStyle/>
          <a:p>
            <a:pPr marL="0" indent="0" algn="ctr">
              <a:buNone/>
            </a:pPr>
            <a:r>
              <a:rPr lang="en-US" sz="750" i="1">
                <a:solidFill>
                  <a:srgbClr val="595959"/>
                </a:solidFill>
                <a:latin typeface="Calibri" pitchFamily="34" charset="0"/>
                <a:ea typeface="Calibri" pitchFamily="34" charset="-122"/>
                <a:cs typeface="Calibri" pitchFamily="34" charset="-120"/>
              </a:rPr>
              <a:t>Items sourced from IM §3, §4, §10, §12. Internal/external classification per SWOT methodology. Severity, mitigation, and IM-verbatim detail in speaker notes.</a:t>
            </a:r>
            <a:endParaRPr lang="en-US" sz="7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Transaction Overview</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8</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457200" y="1401438"/>
            <a:ext cx="6400800" cy="365760"/>
          </a:xfrm>
          <a:prstGeom prst="rect">
            <a:avLst/>
          </a:prstGeom>
          <a:solidFill>
            <a:srgbClr val="1F4E79"/>
          </a:solidFill>
          <a:ln/>
        </p:spPr>
        <p:txBody>
          <a:bodyPr/>
          <a:lstStyle/>
          <a:p>
            <a:endParaRPr lang="en-US"/>
          </a:p>
        </p:txBody>
      </p:sp>
      <p:sp>
        <p:nvSpPr>
          <p:cNvPr id="8" name="Text 6"/>
          <p:cNvSpPr/>
          <p:nvPr/>
        </p:nvSpPr>
        <p:spPr>
          <a:xfrm>
            <a:off x="640080" y="1401438"/>
            <a:ext cx="6035040" cy="365760"/>
          </a:xfrm>
          <a:prstGeom prst="rect">
            <a:avLst/>
          </a:prstGeom>
          <a:noFill/>
          <a:ln/>
        </p:spPr>
        <p:txBody>
          <a:bodyPr wrap="square" lIns="0" tIns="0" rIns="0" bIns="0" rtlCol="0" anchor="ctr"/>
          <a:lstStyle/>
          <a:p>
            <a:pPr marL="0" indent="0" algn="l">
              <a:buNone/>
            </a:pPr>
            <a:r>
              <a:rPr lang="en-US" sz="1300" b="1">
                <a:solidFill>
                  <a:srgbClr val="FFFFFF"/>
                </a:solidFill>
                <a:latin typeface="Calibri" pitchFamily="34" charset="0"/>
                <a:ea typeface="Calibri" pitchFamily="34" charset="-122"/>
                <a:cs typeface="Calibri" pitchFamily="34" charset="-120"/>
              </a:rPr>
              <a:t>Transaction Snapshot</a:t>
            </a:r>
            <a:endParaRPr lang="en-US" sz="1300"/>
          </a:p>
        </p:txBody>
      </p:sp>
      <p:sp>
        <p:nvSpPr>
          <p:cNvPr id="9" name="Shape 7"/>
          <p:cNvSpPr/>
          <p:nvPr/>
        </p:nvSpPr>
        <p:spPr>
          <a:xfrm>
            <a:off x="457200" y="1767198"/>
            <a:ext cx="6400800" cy="292608"/>
          </a:xfrm>
          <a:prstGeom prst="rect">
            <a:avLst/>
          </a:prstGeom>
          <a:solidFill>
            <a:srgbClr val="FFFFFF"/>
          </a:solidFill>
          <a:ln w="3175">
            <a:solidFill>
              <a:srgbClr val="D9D9D9"/>
            </a:solidFill>
            <a:prstDash val="solid"/>
          </a:ln>
        </p:spPr>
        <p:txBody>
          <a:bodyPr/>
          <a:lstStyle/>
          <a:p>
            <a:endParaRPr lang="en-US"/>
          </a:p>
        </p:txBody>
      </p:sp>
      <p:sp>
        <p:nvSpPr>
          <p:cNvPr id="10" name="Text 8"/>
          <p:cNvSpPr/>
          <p:nvPr/>
        </p:nvSpPr>
        <p:spPr>
          <a:xfrm>
            <a:off x="594360" y="1767198"/>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Announcement Date</a:t>
            </a:r>
            <a:endParaRPr lang="en-US" sz="1000"/>
          </a:p>
        </p:txBody>
      </p:sp>
      <p:sp>
        <p:nvSpPr>
          <p:cNvPr id="11" name="Text 9"/>
          <p:cNvSpPr/>
          <p:nvPr/>
        </p:nvSpPr>
        <p:spPr>
          <a:xfrm>
            <a:off x="3703320" y="1767198"/>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September 29, 2025</a:t>
            </a:r>
            <a:endParaRPr lang="en-US" sz="1000"/>
          </a:p>
        </p:txBody>
      </p:sp>
      <p:sp>
        <p:nvSpPr>
          <p:cNvPr id="12" name="Shape 10"/>
          <p:cNvSpPr/>
          <p:nvPr/>
        </p:nvSpPr>
        <p:spPr>
          <a:xfrm>
            <a:off x="457200" y="2059806"/>
            <a:ext cx="6400800" cy="292608"/>
          </a:xfrm>
          <a:prstGeom prst="rect">
            <a:avLst/>
          </a:prstGeom>
          <a:solidFill>
            <a:srgbClr val="F2F2F2"/>
          </a:solidFill>
          <a:ln w="3175">
            <a:solidFill>
              <a:srgbClr val="D9D9D9"/>
            </a:solidFill>
            <a:prstDash val="solid"/>
          </a:ln>
        </p:spPr>
        <p:txBody>
          <a:bodyPr/>
          <a:lstStyle/>
          <a:p>
            <a:endParaRPr lang="en-US"/>
          </a:p>
        </p:txBody>
      </p:sp>
      <p:sp>
        <p:nvSpPr>
          <p:cNvPr id="13" name="Text 11"/>
          <p:cNvSpPr/>
          <p:nvPr/>
        </p:nvSpPr>
        <p:spPr>
          <a:xfrm>
            <a:off x="594360" y="2059806"/>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Offer Price</a:t>
            </a:r>
            <a:endParaRPr lang="en-US" sz="1000"/>
          </a:p>
        </p:txBody>
      </p:sp>
      <p:sp>
        <p:nvSpPr>
          <p:cNvPr id="14" name="Text 12"/>
          <p:cNvSpPr/>
          <p:nvPr/>
        </p:nvSpPr>
        <p:spPr>
          <a:xfrm>
            <a:off x="3703320" y="2059806"/>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$210.00 per share, all-cash</a:t>
            </a:r>
            <a:endParaRPr lang="en-US" sz="1000"/>
          </a:p>
        </p:txBody>
      </p:sp>
      <p:sp>
        <p:nvSpPr>
          <p:cNvPr id="15" name="Shape 13"/>
          <p:cNvSpPr/>
          <p:nvPr/>
        </p:nvSpPr>
        <p:spPr>
          <a:xfrm>
            <a:off x="457200" y="2352414"/>
            <a:ext cx="6400800" cy="292608"/>
          </a:xfrm>
          <a:prstGeom prst="rect">
            <a:avLst/>
          </a:prstGeom>
          <a:solidFill>
            <a:srgbClr val="FFFFFF"/>
          </a:solidFill>
          <a:ln w="3175">
            <a:solidFill>
              <a:srgbClr val="D9D9D9"/>
            </a:solidFill>
            <a:prstDash val="solid"/>
          </a:ln>
        </p:spPr>
        <p:txBody>
          <a:bodyPr/>
          <a:lstStyle/>
          <a:p>
            <a:endParaRPr lang="en-US"/>
          </a:p>
        </p:txBody>
      </p:sp>
      <p:sp>
        <p:nvSpPr>
          <p:cNvPr id="16" name="Text 14"/>
          <p:cNvSpPr/>
          <p:nvPr/>
        </p:nvSpPr>
        <p:spPr>
          <a:xfrm>
            <a:off x="594360" y="2352414"/>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Implied Enterprise Value</a:t>
            </a:r>
            <a:endParaRPr lang="en-US" sz="1000"/>
          </a:p>
        </p:txBody>
      </p:sp>
      <p:sp>
        <p:nvSpPr>
          <p:cNvPr id="17" name="Text 15"/>
          <p:cNvSpPr/>
          <p:nvPr/>
        </p:nvSpPr>
        <p:spPr>
          <a:xfrm>
            <a:off x="3703320" y="2352414"/>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~$55B</a:t>
            </a:r>
            <a:endParaRPr lang="en-US" sz="1000"/>
          </a:p>
        </p:txBody>
      </p:sp>
      <p:sp>
        <p:nvSpPr>
          <p:cNvPr id="18" name="Shape 16"/>
          <p:cNvSpPr/>
          <p:nvPr/>
        </p:nvSpPr>
        <p:spPr>
          <a:xfrm>
            <a:off x="457200" y="2645022"/>
            <a:ext cx="6400800" cy="292608"/>
          </a:xfrm>
          <a:prstGeom prst="rect">
            <a:avLst/>
          </a:prstGeom>
          <a:solidFill>
            <a:srgbClr val="F2F2F2"/>
          </a:solidFill>
          <a:ln w="3175">
            <a:solidFill>
              <a:srgbClr val="D9D9D9"/>
            </a:solidFill>
            <a:prstDash val="solid"/>
          </a:ln>
        </p:spPr>
        <p:txBody>
          <a:bodyPr/>
          <a:lstStyle/>
          <a:p>
            <a:endParaRPr lang="en-US"/>
          </a:p>
        </p:txBody>
      </p:sp>
      <p:sp>
        <p:nvSpPr>
          <p:cNvPr id="19" name="Text 17"/>
          <p:cNvSpPr/>
          <p:nvPr/>
        </p:nvSpPr>
        <p:spPr>
          <a:xfrm>
            <a:off x="594360" y="2645022"/>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Premium to Unaffected ($168.32)</a:t>
            </a:r>
            <a:endParaRPr lang="en-US" sz="1000"/>
          </a:p>
        </p:txBody>
      </p:sp>
      <p:sp>
        <p:nvSpPr>
          <p:cNvPr id="20" name="Text 18"/>
          <p:cNvSpPr/>
          <p:nvPr/>
        </p:nvSpPr>
        <p:spPr>
          <a:xfrm>
            <a:off x="3703320" y="2645022"/>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24.8%</a:t>
            </a:r>
            <a:endParaRPr lang="en-US" sz="1000"/>
          </a:p>
        </p:txBody>
      </p:sp>
      <p:sp>
        <p:nvSpPr>
          <p:cNvPr id="21" name="Shape 19"/>
          <p:cNvSpPr/>
          <p:nvPr/>
        </p:nvSpPr>
        <p:spPr>
          <a:xfrm>
            <a:off x="457200" y="2937630"/>
            <a:ext cx="6400800" cy="292608"/>
          </a:xfrm>
          <a:prstGeom prst="rect">
            <a:avLst/>
          </a:prstGeom>
          <a:solidFill>
            <a:srgbClr val="FFFFFF"/>
          </a:solidFill>
          <a:ln w="3175">
            <a:solidFill>
              <a:srgbClr val="D9D9D9"/>
            </a:solidFill>
            <a:prstDash val="solid"/>
          </a:ln>
        </p:spPr>
        <p:txBody>
          <a:bodyPr/>
          <a:lstStyle/>
          <a:p>
            <a:endParaRPr lang="en-US"/>
          </a:p>
        </p:txBody>
      </p:sp>
      <p:sp>
        <p:nvSpPr>
          <p:cNvPr id="22" name="Text 20"/>
          <p:cNvSpPr/>
          <p:nvPr/>
        </p:nvSpPr>
        <p:spPr>
          <a:xfrm>
            <a:off x="594360" y="2937630"/>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Premium to 52-Week High ($179.01)</a:t>
            </a:r>
            <a:endParaRPr lang="en-US" sz="1000"/>
          </a:p>
        </p:txBody>
      </p:sp>
      <p:sp>
        <p:nvSpPr>
          <p:cNvPr id="23" name="Text 21"/>
          <p:cNvSpPr/>
          <p:nvPr/>
        </p:nvSpPr>
        <p:spPr>
          <a:xfrm>
            <a:off x="3703320" y="2937630"/>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17.3%</a:t>
            </a:r>
            <a:endParaRPr lang="en-US" sz="1000"/>
          </a:p>
        </p:txBody>
      </p:sp>
      <p:sp>
        <p:nvSpPr>
          <p:cNvPr id="24" name="Shape 22"/>
          <p:cNvSpPr/>
          <p:nvPr/>
        </p:nvSpPr>
        <p:spPr>
          <a:xfrm>
            <a:off x="457200" y="3230238"/>
            <a:ext cx="6400800" cy="292608"/>
          </a:xfrm>
          <a:prstGeom prst="rect">
            <a:avLst/>
          </a:prstGeom>
          <a:solidFill>
            <a:srgbClr val="F2F2F2"/>
          </a:solidFill>
          <a:ln w="3175">
            <a:solidFill>
              <a:srgbClr val="D9D9D9"/>
            </a:solidFill>
            <a:prstDash val="solid"/>
          </a:ln>
        </p:spPr>
        <p:txBody>
          <a:bodyPr/>
          <a:lstStyle/>
          <a:p>
            <a:endParaRPr lang="en-US"/>
          </a:p>
        </p:txBody>
      </p:sp>
      <p:sp>
        <p:nvSpPr>
          <p:cNvPr id="25" name="Text 23"/>
          <p:cNvSpPr/>
          <p:nvPr/>
        </p:nvSpPr>
        <p:spPr>
          <a:xfrm>
            <a:off x="594360" y="3230238"/>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Total Equity Commitment</a:t>
            </a:r>
            <a:endParaRPr lang="en-US" sz="1000"/>
          </a:p>
        </p:txBody>
      </p:sp>
      <p:sp>
        <p:nvSpPr>
          <p:cNvPr id="26" name="Text 24"/>
          <p:cNvSpPr/>
          <p:nvPr/>
        </p:nvSpPr>
        <p:spPr>
          <a:xfrm>
            <a:off x="3703320" y="3230238"/>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$36.4B aggregate</a:t>
            </a:r>
            <a:endParaRPr lang="en-US" sz="1000"/>
          </a:p>
        </p:txBody>
      </p:sp>
      <p:sp>
        <p:nvSpPr>
          <p:cNvPr id="27" name="Shape 25"/>
          <p:cNvSpPr/>
          <p:nvPr/>
        </p:nvSpPr>
        <p:spPr>
          <a:xfrm>
            <a:off x="457200" y="3522846"/>
            <a:ext cx="6400800" cy="292608"/>
          </a:xfrm>
          <a:prstGeom prst="rect">
            <a:avLst/>
          </a:prstGeom>
          <a:solidFill>
            <a:srgbClr val="FFFFFF"/>
          </a:solidFill>
          <a:ln w="3175">
            <a:solidFill>
              <a:srgbClr val="D9D9D9"/>
            </a:solidFill>
            <a:prstDash val="solid"/>
          </a:ln>
        </p:spPr>
        <p:txBody>
          <a:bodyPr/>
          <a:lstStyle/>
          <a:p>
            <a:endParaRPr lang="en-US"/>
          </a:p>
        </p:txBody>
      </p:sp>
      <p:sp>
        <p:nvSpPr>
          <p:cNvPr id="28" name="Text 26"/>
          <p:cNvSpPr/>
          <p:nvPr/>
        </p:nvSpPr>
        <p:spPr>
          <a:xfrm>
            <a:off x="594360" y="3522846"/>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PIF Rollover (9.9%)</a:t>
            </a:r>
            <a:endParaRPr lang="en-US" sz="1000"/>
          </a:p>
        </p:txBody>
      </p:sp>
      <p:sp>
        <p:nvSpPr>
          <p:cNvPr id="29" name="Text 27"/>
          <p:cNvSpPr/>
          <p:nvPr/>
        </p:nvSpPr>
        <p:spPr>
          <a:xfrm>
            <a:off x="3703320" y="3522846"/>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~$5.2B</a:t>
            </a:r>
            <a:endParaRPr lang="en-US" sz="1000"/>
          </a:p>
        </p:txBody>
      </p:sp>
      <p:sp>
        <p:nvSpPr>
          <p:cNvPr id="30" name="Shape 28"/>
          <p:cNvSpPr/>
          <p:nvPr/>
        </p:nvSpPr>
        <p:spPr>
          <a:xfrm>
            <a:off x="457200" y="3815454"/>
            <a:ext cx="6400800" cy="292608"/>
          </a:xfrm>
          <a:prstGeom prst="rect">
            <a:avLst/>
          </a:prstGeom>
          <a:solidFill>
            <a:srgbClr val="F2F2F2"/>
          </a:solidFill>
          <a:ln w="3175">
            <a:solidFill>
              <a:srgbClr val="D9D9D9"/>
            </a:solidFill>
            <a:prstDash val="solid"/>
          </a:ln>
        </p:spPr>
        <p:txBody>
          <a:bodyPr/>
          <a:lstStyle/>
          <a:p>
            <a:endParaRPr lang="en-US"/>
          </a:p>
        </p:txBody>
      </p:sp>
      <p:sp>
        <p:nvSpPr>
          <p:cNvPr id="31" name="Text 29"/>
          <p:cNvSpPr/>
          <p:nvPr/>
        </p:nvSpPr>
        <p:spPr>
          <a:xfrm>
            <a:off x="594360" y="3815454"/>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Sponsor New Cash Equity</a:t>
            </a:r>
            <a:endParaRPr lang="en-US" sz="1000"/>
          </a:p>
        </p:txBody>
      </p:sp>
      <p:sp>
        <p:nvSpPr>
          <p:cNvPr id="32" name="Text 30"/>
          <p:cNvSpPr/>
          <p:nvPr/>
        </p:nvSpPr>
        <p:spPr>
          <a:xfrm>
            <a:off x="3703320" y="3815454"/>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~$31.2B</a:t>
            </a:r>
            <a:endParaRPr lang="en-US" sz="1000"/>
          </a:p>
        </p:txBody>
      </p:sp>
      <p:sp>
        <p:nvSpPr>
          <p:cNvPr id="33" name="Shape 31"/>
          <p:cNvSpPr/>
          <p:nvPr/>
        </p:nvSpPr>
        <p:spPr>
          <a:xfrm>
            <a:off x="457200" y="4108062"/>
            <a:ext cx="6400800" cy="292608"/>
          </a:xfrm>
          <a:prstGeom prst="rect">
            <a:avLst/>
          </a:prstGeom>
          <a:solidFill>
            <a:srgbClr val="FFFFFF"/>
          </a:solidFill>
          <a:ln w="3175">
            <a:solidFill>
              <a:srgbClr val="D9D9D9"/>
            </a:solidFill>
            <a:prstDash val="solid"/>
          </a:ln>
        </p:spPr>
        <p:txBody>
          <a:bodyPr/>
          <a:lstStyle/>
          <a:p>
            <a:endParaRPr lang="en-US"/>
          </a:p>
        </p:txBody>
      </p:sp>
      <p:sp>
        <p:nvSpPr>
          <p:cNvPr id="34" name="Text 32"/>
          <p:cNvSpPr/>
          <p:nvPr/>
        </p:nvSpPr>
        <p:spPr>
          <a:xfrm>
            <a:off x="594360" y="4108062"/>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JPMorgan Debt Funded at Close</a:t>
            </a:r>
            <a:endParaRPr lang="en-US" sz="1000"/>
          </a:p>
        </p:txBody>
      </p:sp>
      <p:sp>
        <p:nvSpPr>
          <p:cNvPr id="35" name="Text 33"/>
          <p:cNvSpPr/>
          <p:nvPr/>
        </p:nvSpPr>
        <p:spPr>
          <a:xfrm>
            <a:off x="3703320" y="4108062"/>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$18.0B</a:t>
            </a:r>
            <a:endParaRPr lang="en-US" sz="1000"/>
          </a:p>
        </p:txBody>
      </p:sp>
      <p:sp>
        <p:nvSpPr>
          <p:cNvPr id="36" name="Shape 34"/>
          <p:cNvSpPr/>
          <p:nvPr/>
        </p:nvSpPr>
        <p:spPr>
          <a:xfrm>
            <a:off x="457200" y="4400670"/>
            <a:ext cx="6400800" cy="292608"/>
          </a:xfrm>
          <a:prstGeom prst="rect">
            <a:avLst/>
          </a:prstGeom>
          <a:solidFill>
            <a:srgbClr val="F2F2F2"/>
          </a:solidFill>
          <a:ln w="3175">
            <a:solidFill>
              <a:srgbClr val="D9D9D9"/>
            </a:solidFill>
            <a:prstDash val="solid"/>
          </a:ln>
        </p:spPr>
        <p:txBody>
          <a:bodyPr/>
          <a:lstStyle/>
          <a:p>
            <a:endParaRPr lang="en-US"/>
          </a:p>
        </p:txBody>
      </p:sp>
      <p:sp>
        <p:nvSpPr>
          <p:cNvPr id="37" name="Text 35"/>
          <p:cNvSpPr/>
          <p:nvPr/>
        </p:nvSpPr>
        <p:spPr>
          <a:xfrm>
            <a:off x="594360" y="4400670"/>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Stockholder Vote (12/22/2025)</a:t>
            </a:r>
            <a:endParaRPr lang="en-US" sz="1000"/>
          </a:p>
        </p:txBody>
      </p:sp>
      <p:sp>
        <p:nvSpPr>
          <p:cNvPr id="38" name="Text 36"/>
          <p:cNvSpPr/>
          <p:nvPr/>
        </p:nvSpPr>
        <p:spPr>
          <a:xfrm>
            <a:off x="3703320" y="4400670"/>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99.06% For (of votes cast)</a:t>
            </a:r>
            <a:endParaRPr lang="en-US" sz="1000"/>
          </a:p>
        </p:txBody>
      </p:sp>
      <p:sp>
        <p:nvSpPr>
          <p:cNvPr id="39" name="Shape 37"/>
          <p:cNvSpPr/>
          <p:nvPr/>
        </p:nvSpPr>
        <p:spPr>
          <a:xfrm>
            <a:off x="457200" y="4693278"/>
            <a:ext cx="6400800" cy="292608"/>
          </a:xfrm>
          <a:prstGeom prst="rect">
            <a:avLst/>
          </a:prstGeom>
          <a:solidFill>
            <a:srgbClr val="FFFFFF"/>
          </a:solidFill>
          <a:ln w="3175">
            <a:solidFill>
              <a:srgbClr val="D9D9D9"/>
            </a:solidFill>
            <a:prstDash val="solid"/>
          </a:ln>
        </p:spPr>
        <p:txBody>
          <a:bodyPr/>
          <a:lstStyle/>
          <a:p>
            <a:endParaRPr lang="en-US"/>
          </a:p>
        </p:txBody>
      </p:sp>
      <p:sp>
        <p:nvSpPr>
          <p:cNvPr id="40" name="Text 38"/>
          <p:cNvSpPr/>
          <p:nvPr/>
        </p:nvSpPr>
        <p:spPr>
          <a:xfrm>
            <a:off x="594360" y="4693278"/>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HSR Antitrust</a:t>
            </a:r>
            <a:endParaRPr lang="en-US" sz="1000"/>
          </a:p>
        </p:txBody>
      </p:sp>
      <p:sp>
        <p:nvSpPr>
          <p:cNvPr id="41" name="Text 39"/>
          <p:cNvSpPr/>
          <p:nvPr/>
        </p:nvSpPr>
        <p:spPr>
          <a:xfrm>
            <a:off x="3703320" y="4693278"/>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CLEARED 2/9/2026</a:t>
            </a:r>
            <a:endParaRPr lang="en-US" sz="1000"/>
          </a:p>
        </p:txBody>
      </p:sp>
      <p:sp>
        <p:nvSpPr>
          <p:cNvPr id="42" name="Shape 40"/>
          <p:cNvSpPr/>
          <p:nvPr/>
        </p:nvSpPr>
        <p:spPr>
          <a:xfrm>
            <a:off x="457200" y="4985886"/>
            <a:ext cx="6400800" cy="292608"/>
          </a:xfrm>
          <a:prstGeom prst="rect">
            <a:avLst/>
          </a:prstGeom>
          <a:solidFill>
            <a:srgbClr val="F2F2F2"/>
          </a:solidFill>
          <a:ln w="3175">
            <a:solidFill>
              <a:srgbClr val="D9D9D9"/>
            </a:solidFill>
            <a:prstDash val="solid"/>
          </a:ln>
        </p:spPr>
        <p:txBody>
          <a:bodyPr/>
          <a:lstStyle/>
          <a:p>
            <a:endParaRPr lang="en-US"/>
          </a:p>
        </p:txBody>
      </p:sp>
      <p:sp>
        <p:nvSpPr>
          <p:cNvPr id="43" name="Text 41"/>
          <p:cNvSpPr/>
          <p:nvPr/>
        </p:nvSpPr>
        <p:spPr>
          <a:xfrm>
            <a:off x="594360" y="4985886"/>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CFIUS Review</a:t>
            </a:r>
            <a:endParaRPr lang="en-US" sz="1000"/>
          </a:p>
        </p:txBody>
      </p:sp>
      <p:sp>
        <p:nvSpPr>
          <p:cNvPr id="44" name="Text 42"/>
          <p:cNvSpPr/>
          <p:nvPr/>
        </p:nvSpPr>
        <p:spPr>
          <a:xfrm>
            <a:off x="3703320" y="4985886"/>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ONGOING — sole open closing condition</a:t>
            </a:r>
            <a:endParaRPr lang="en-US" sz="1000"/>
          </a:p>
        </p:txBody>
      </p:sp>
      <p:sp>
        <p:nvSpPr>
          <p:cNvPr id="45" name="Shape 43"/>
          <p:cNvSpPr/>
          <p:nvPr/>
        </p:nvSpPr>
        <p:spPr>
          <a:xfrm>
            <a:off x="457200" y="5278494"/>
            <a:ext cx="6400800" cy="292608"/>
          </a:xfrm>
          <a:prstGeom prst="rect">
            <a:avLst/>
          </a:prstGeom>
          <a:solidFill>
            <a:srgbClr val="FFFFFF"/>
          </a:solidFill>
          <a:ln w="3175">
            <a:solidFill>
              <a:srgbClr val="D9D9D9"/>
            </a:solidFill>
            <a:prstDash val="solid"/>
          </a:ln>
        </p:spPr>
        <p:txBody>
          <a:bodyPr/>
          <a:lstStyle/>
          <a:p>
            <a:endParaRPr lang="en-US"/>
          </a:p>
        </p:txBody>
      </p:sp>
      <p:sp>
        <p:nvSpPr>
          <p:cNvPr id="46" name="Text 44"/>
          <p:cNvSpPr/>
          <p:nvPr/>
        </p:nvSpPr>
        <p:spPr>
          <a:xfrm>
            <a:off x="594360" y="5278494"/>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Outside Date</a:t>
            </a:r>
            <a:endParaRPr lang="en-US" sz="1000"/>
          </a:p>
        </p:txBody>
      </p:sp>
      <p:sp>
        <p:nvSpPr>
          <p:cNvPr id="47" name="Text 45"/>
          <p:cNvSpPr/>
          <p:nvPr/>
        </p:nvSpPr>
        <p:spPr>
          <a:xfrm>
            <a:off x="3703320" y="5278494"/>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September 28, 2026</a:t>
            </a:r>
            <a:endParaRPr lang="en-US" sz="1000"/>
          </a:p>
        </p:txBody>
      </p:sp>
      <p:sp>
        <p:nvSpPr>
          <p:cNvPr id="48" name="Shape 46"/>
          <p:cNvSpPr/>
          <p:nvPr/>
        </p:nvSpPr>
        <p:spPr>
          <a:xfrm>
            <a:off x="457200" y="5571102"/>
            <a:ext cx="6400800" cy="292608"/>
          </a:xfrm>
          <a:prstGeom prst="rect">
            <a:avLst/>
          </a:prstGeom>
          <a:solidFill>
            <a:srgbClr val="F2F2F2"/>
          </a:solidFill>
          <a:ln w="3175">
            <a:solidFill>
              <a:srgbClr val="D9D9D9"/>
            </a:solidFill>
            <a:prstDash val="solid"/>
          </a:ln>
        </p:spPr>
        <p:txBody>
          <a:bodyPr/>
          <a:lstStyle/>
          <a:p>
            <a:endParaRPr lang="en-US"/>
          </a:p>
        </p:txBody>
      </p:sp>
      <p:sp>
        <p:nvSpPr>
          <p:cNvPr id="49" name="Text 47"/>
          <p:cNvSpPr/>
          <p:nvPr/>
        </p:nvSpPr>
        <p:spPr>
          <a:xfrm>
            <a:off x="594360" y="5571102"/>
            <a:ext cx="3108960" cy="292608"/>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Reciprocal Termination Fee</a:t>
            </a:r>
            <a:endParaRPr lang="en-US" sz="1000"/>
          </a:p>
        </p:txBody>
      </p:sp>
      <p:sp>
        <p:nvSpPr>
          <p:cNvPr id="50" name="Text 48"/>
          <p:cNvSpPr/>
          <p:nvPr/>
        </p:nvSpPr>
        <p:spPr>
          <a:xfrm>
            <a:off x="3703320" y="5571102"/>
            <a:ext cx="3017520" cy="292608"/>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$1.0 billion</a:t>
            </a:r>
            <a:endParaRPr lang="en-US" sz="1000"/>
          </a:p>
        </p:txBody>
      </p:sp>
      <p:sp>
        <p:nvSpPr>
          <p:cNvPr id="51" name="Text 49"/>
          <p:cNvSpPr/>
          <p:nvPr/>
        </p:nvSpPr>
        <p:spPr>
          <a:xfrm>
            <a:off x="7178040" y="1280160"/>
            <a:ext cx="4663440" cy="365760"/>
          </a:xfrm>
          <a:prstGeom prst="rect">
            <a:avLst/>
          </a:prstGeom>
          <a:noFill/>
          <a:ln/>
        </p:spPr>
        <p:txBody>
          <a:bodyPr wrap="square" lIns="0" tIns="0" rIns="0" bIns="0" rtlCol="0" anchor="ctr"/>
          <a:lstStyle/>
          <a:p>
            <a:pPr marL="0" indent="0" algn="l">
              <a:buNone/>
            </a:pPr>
            <a:r>
              <a:rPr lang="en-US" sz="1600" b="1" i="1">
                <a:solidFill>
                  <a:srgbClr val="1F4E79"/>
                </a:solidFill>
                <a:latin typeface="Calibri" pitchFamily="34" charset="0"/>
                <a:ea typeface="Calibri" pitchFamily="34" charset="-122"/>
                <a:cs typeface="Calibri" pitchFamily="34" charset="-120"/>
              </a:rPr>
              <a:t>Consortium</a:t>
            </a:r>
            <a:endParaRPr lang="en-US" sz="1600"/>
          </a:p>
        </p:txBody>
      </p:sp>
      <p:sp>
        <p:nvSpPr>
          <p:cNvPr id="52" name="Shape 50"/>
          <p:cNvSpPr/>
          <p:nvPr/>
        </p:nvSpPr>
        <p:spPr>
          <a:xfrm>
            <a:off x="7178040" y="1645920"/>
            <a:ext cx="1280160" cy="45720"/>
          </a:xfrm>
          <a:prstGeom prst="rect">
            <a:avLst/>
          </a:prstGeom>
          <a:solidFill>
            <a:srgbClr val="2E75B6"/>
          </a:solidFill>
          <a:ln/>
        </p:spPr>
        <p:txBody>
          <a:bodyPr/>
          <a:lstStyle/>
          <a:p>
            <a:endParaRPr lang="en-US"/>
          </a:p>
        </p:txBody>
      </p:sp>
      <p:sp>
        <p:nvSpPr>
          <p:cNvPr id="53" name="Shape 51"/>
          <p:cNvSpPr/>
          <p:nvPr/>
        </p:nvSpPr>
        <p:spPr>
          <a:xfrm>
            <a:off x="7178040" y="1874520"/>
            <a:ext cx="4663440" cy="914400"/>
          </a:xfrm>
          <a:prstGeom prst="rect">
            <a:avLst/>
          </a:prstGeom>
          <a:solidFill>
            <a:srgbClr val="FFFFFF"/>
          </a:solidFill>
          <a:ln w="12700">
            <a:solidFill>
              <a:srgbClr val="1F4E79"/>
            </a:solidFill>
            <a:prstDash val="solid"/>
          </a:ln>
          <a:effectLst>
            <a:outerShdw blurRad="76200" dist="25400" dir="5400000" algn="bl" rotWithShape="0">
              <a:srgbClr val="000000">
                <a:alpha val="15000"/>
              </a:srgbClr>
            </a:outerShdw>
          </a:effectLst>
        </p:spPr>
        <p:txBody>
          <a:bodyPr/>
          <a:lstStyle/>
          <a:p>
            <a:endParaRPr lang="en-US"/>
          </a:p>
        </p:txBody>
      </p:sp>
      <p:sp>
        <p:nvSpPr>
          <p:cNvPr id="54" name="Shape 52"/>
          <p:cNvSpPr/>
          <p:nvPr/>
        </p:nvSpPr>
        <p:spPr>
          <a:xfrm>
            <a:off x="7178040" y="1874520"/>
            <a:ext cx="91440" cy="914400"/>
          </a:xfrm>
          <a:prstGeom prst="rect">
            <a:avLst/>
          </a:prstGeom>
          <a:solidFill>
            <a:srgbClr val="0E5C36"/>
          </a:solidFill>
          <a:ln/>
        </p:spPr>
        <p:txBody>
          <a:bodyPr/>
          <a:lstStyle/>
          <a:p>
            <a:endParaRPr lang="en-US"/>
          </a:p>
        </p:txBody>
      </p:sp>
      <p:sp>
        <p:nvSpPr>
          <p:cNvPr id="55" name="Text 53"/>
          <p:cNvSpPr/>
          <p:nvPr/>
        </p:nvSpPr>
        <p:spPr>
          <a:xfrm>
            <a:off x="7452360" y="1965960"/>
            <a:ext cx="4206240" cy="365760"/>
          </a:xfrm>
          <a:prstGeom prst="rect">
            <a:avLst/>
          </a:prstGeom>
          <a:noFill/>
          <a:ln/>
        </p:spPr>
        <p:txBody>
          <a:bodyPr wrap="square" lIns="0" tIns="0" rIns="0" bIns="0" rtlCol="0" anchor="ctr"/>
          <a:lstStyle/>
          <a:p>
            <a:pPr marL="0" indent="0" algn="l">
              <a:buNone/>
            </a:pPr>
            <a:r>
              <a:rPr lang="en-US" sz="1800" b="1" i="1">
                <a:solidFill>
                  <a:srgbClr val="0E5C36"/>
                </a:solidFill>
                <a:latin typeface="Calibri" pitchFamily="34" charset="0"/>
                <a:ea typeface="Calibri" pitchFamily="34" charset="-122"/>
                <a:cs typeface="Calibri" pitchFamily="34" charset="-120"/>
              </a:rPr>
              <a:t>PIF</a:t>
            </a:r>
            <a:endParaRPr lang="en-US" sz="1800"/>
          </a:p>
        </p:txBody>
      </p:sp>
      <p:sp>
        <p:nvSpPr>
          <p:cNvPr id="56" name="Text 54"/>
          <p:cNvSpPr/>
          <p:nvPr/>
        </p:nvSpPr>
        <p:spPr>
          <a:xfrm>
            <a:off x="7452360" y="2331720"/>
            <a:ext cx="4206240" cy="228600"/>
          </a:xfrm>
          <a:prstGeom prst="rect">
            <a:avLst/>
          </a:prstGeom>
          <a:noFill/>
          <a:ln/>
        </p:spPr>
        <p:txBody>
          <a:bodyPr wrap="square" lIns="0" tIns="0" rIns="0" bIns="0" rtlCol="0" anchor="ctr"/>
          <a:lstStyle/>
          <a:p>
            <a:pPr marL="0" indent="0" algn="l">
              <a:buNone/>
            </a:pPr>
            <a:r>
              <a:rPr lang="en-US" sz="1100" b="1">
                <a:solidFill>
                  <a:srgbClr val="2E75B6"/>
                </a:solidFill>
                <a:latin typeface="Calibri" pitchFamily="34" charset="0"/>
                <a:ea typeface="Calibri" pitchFamily="34" charset="-122"/>
                <a:cs typeface="Calibri" pitchFamily="34" charset="-120"/>
              </a:rPr>
              <a:t>Public Investment Fund</a:t>
            </a:r>
            <a:endParaRPr lang="en-US" sz="1100"/>
          </a:p>
        </p:txBody>
      </p:sp>
      <p:sp>
        <p:nvSpPr>
          <p:cNvPr id="57" name="Text 55"/>
          <p:cNvSpPr/>
          <p:nvPr/>
        </p:nvSpPr>
        <p:spPr>
          <a:xfrm>
            <a:off x="7452360" y="2532888"/>
            <a:ext cx="4206240" cy="228600"/>
          </a:xfrm>
          <a:prstGeom prst="rect">
            <a:avLst/>
          </a:prstGeom>
          <a:noFill/>
          <a:ln/>
        </p:spPr>
        <p:txBody>
          <a:bodyPr wrap="square" lIns="0" tIns="0" rIns="0" bIns="0" rtlCol="0" anchor="ctr"/>
          <a:lstStyle/>
          <a:p>
            <a:pPr marL="0" indent="0" algn="l">
              <a:buNone/>
            </a:pPr>
            <a:r>
              <a:rPr lang="en-US" sz="950" i="1">
                <a:solidFill>
                  <a:srgbClr val="595959"/>
                </a:solidFill>
                <a:latin typeface="Calibri" pitchFamily="34" charset="0"/>
                <a:ea typeface="Calibri" pitchFamily="34" charset="-122"/>
                <a:cs typeface="Calibri" pitchFamily="34" charset="-120"/>
              </a:rPr>
              <a:t>Lead Sponsor (majority economic)</a:t>
            </a:r>
            <a:endParaRPr lang="en-US" sz="950"/>
          </a:p>
        </p:txBody>
      </p:sp>
      <p:sp>
        <p:nvSpPr>
          <p:cNvPr id="58" name="Shape 56"/>
          <p:cNvSpPr/>
          <p:nvPr/>
        </p:nvSpPr>
        <p:spPr>
          <a:xfrm>
            <a:off x="7178040" y="2880360"/>
            <a:ext cx="4663440" cy="914400"/>
          </a:xfrm>
          <a:prstGeom prst="rect">
            <a:avLst/>
          </a:prstGeom>
          <a:solidFill>
            <a:srgbClr val="FFFFFF"/>
          </a:solidFill>
          <a:ln w="12700">
            <a:solidFill>
              <a:srgbClr val="1F4E79"/>
            </a:solidFill>
            <a:prstDash val="solid"/>
          </a:ln>
          <a:effectLst>
            <a:outerShdw blurRad="76200" dist="25400" dir="5400000" algn="bl" rotWithShape="0">
              <a:srgbClr val="000000">
                <a:alpha val="15000"/>
              </a:srgbClr>
            </a:outerShdw>
          </a:effectLst>
        </p:spPr>
        <p:txBody>
          <a:bodyPr/>
          <a:lstStyle/>
          <a:p>
            <a:endParaRPr lang="en-US"/>
          </a:p>
        </p:txBody>
      </p:sp>
      <p:sp>
        <p:nvSpPr>
          <p:cNvPr id="59" name="Text 57"/>
          <p:cNvSpPr/>
          <p:nvPr/>
        </p:nvSpPr>
        <p:spPr>
          <a:xfrm>
            <a:off x="7360920" y="2971800"/>
            <a:ext cx="4297680" cy="365760"/>
          </a:xfrm>
          <a:prstGeom prst="rect">
            <a:avLst/>
          </a:prstGeom>
          <a:noFill/>
          <a:ln/>
        </p:spPr>
        <p:txBody>
          <a:bodyPr wrap="square" lIns="0" tIns="0" rIns="0" bIns="0" rtlCol="0" anchor="ctr"/>
          <a:lstStyle/>
          <a:p>
            <a:pPr marL="0" indent="0" algn="l">
              <a:buNone/>
            </a:pPr>
            <a:r>
              <a:rPr lang="en-US" sz="1800" b="1" i="1">
                <a:solidFill>
                  <a:srgbClr val="1F4E79"/>
                </a:solidFill>
                <a:latin typeface="Calibri" pitchFamily="34" charset="0"/>
                <a:ea typeface="Calibri" pitchFamily="34" charset="-122"/>
                <a:cs typeface="Calibri" pitchFamily="34" charset="-120"/>
              </a:rPr>
              <a:t>Silver Lake</a:t>
            </a:r>
            <a:endParaRPr lang="en-US" sz="1800"/>
          </a:p>
        </p:txBody>
      </p:sp>
      <p:sp>
        <p:nvSpPr>
          <p:cNvPr id="60" name="Text 58"/>
          <p:cNvSpPr/>
          <p:nvPr/>
        </p:nvSpPr>
        <p:spPr>
          <a:xfrm>
            <a:off x="7360920" y="3337560"/>
            <a:ext cx="4297680" cy="228600"/>
          </a:xfrm>
          <a:prstGeom prst="rect">
            <a:avLst/>
          </a:prstGeom>
          <a:noFill/>
          <a:ln/>
        </p:spPr>
        <p:txBody>
          <a:bodyPr wrap="square" lIns="0" tIns="0" rIns="0" bIns="0" rtlCol="0" anchor="ctr"/>
          <a:lstStyle/>
          <a:p>
            <a:pPr marL="0" indent="0" algn="l">
              <a:buNone/>
            </a:pPr>
            <a:r>
              <a:rPr lang="en-US" sz="1100" b="1">
                <a:solidFill>
                  <a:srgbClr val="2E75B6"/>
                </a:solidFill>
                <a:latin typeface="Calibri" pitchFamily="34" charset="0"/>
                <a:ea typeface="Calibri" pitchFamily="34" charset="-122"/>
                <a:cs typeface="Calibri" pitchFamily="34" charset="-120"/>
              </a:rPr>
              <a:t>Silver Lake Partners</a:t>
            </a:r>
            <a:endParaRPr lang="en-US" sz="1100"/>
          </a:p>
        </p:txBody>
      </p:sp>
      <p:sp>
        <p:nvSpPr>
          <p:cNvPr id="61" name="Text 59"/>
          <p:cNvSpPr/>
          <p:nvPr/>
        </p:nvSpPr>
        <p:spPr>
          <a:xfrm>
            <a:off x="7360920" y="3538728"/>
            <a:ext cx="4297680" cy="228600"/>
          </a:xfrm>
          <a:prstGeom prst="rect">
            <a:avLst/>
          </a:prstGeom>
          <a:noFill/>
          <a:ln/>
        </p:spPr>
        <p:txBody>
          <a:bodyPr wrap="square" lIns="0" tIns="0" rIns="0" bIns="0" rtlCol="0" anchor="ctr"/>
          <a:lstStyle/>
          <a:p>
            <a:pPr marL="0" indent="0" algn="l">
              <a:buNone/>
            </a:pPr>
            <a:r>
              <a:rPr lang="en-US" sz="950" i="1">
                <a:solidFill>
                  <a:srgbClr val="595959"/>
                </a:solidFill>
                <a:latin typeface="Calibri" pitchFamily="34" charset="0"/>
                <a:ea typeface="Calibri" pitchFamily="34" charset="-122"/>
                <a:cs typeface="Calibri" pitchFamily="34" charset="-120"/>
              </a:rPr>
              <a:t>Lead Operating Sponsor</a:t>
            </a:r>
            <a:endParaRPr lang="en-US" sz="950"/>
          </a:p>
        </p:txBody>
      </p:sp>
      <p:sp>
        <p:nvSpPr>
          <p:cNvPr id="62" name="Shape 60"/>
          <p:cNvSpPr/>
          <p:nvPr/>
        </p:nvSpPr>
        <p:spPr>
          <a:xfrm>
            <a:off x="7178040" y="3886200"/>
            <a:ext cx="4663440" cy="914400"/>
          </a:xfrm>
          <a:prstGeom prst="rect">
            <a:avLst/>
          </a:prstGeom>
          <a:solidFill>
            <a:srgbClr val="FFFFFF"/>
          </a:solidFill>
          <a:ln w="12700">
            <a:solidFill>
              <a:srgbClr val="1F4E79"/>
            </a:solidFill>
            <a:prstDash val="solid"/>
          </a:ln>
          <a:effectLst>
            <a:outerShdw blurRad="76200" dist="25400" dir="5400000" algn="bl" rotWithShape="0">
              <a:srgbClr val="000000">
                <a:alpha val="15000"/>
              </a:srgbClr>
            </a:outerShdw>
          </a:effectLst>
        </p:spPr>
        <p:txBody>
          <a:bodyPr/>
          <a:lstStyle/>
          <a:p>
            <a:endParaRPr lang="en-US"/>
          </a:p>
        </p:txBody>
      </p:sp>
      <p:sp>
        <p:nvSpPr>
          <p:cNvPr id="63" name="Text 61"/>
          <p:cNvSpPr/>
          <p:nvPr/>
        </p:nvSpPr>
        <p:spPr>
          <a:xfrm>
            <a:off x="7360920" y="3977640"/>
            <a:ext cx="4297680" cy="365760"/>
          </a:xfrm>
          <a:prstGeom prst="rect">
            <a:avLst/>
          </a:prstGeom>
          <a:noFill/>
          <a:ln/>
        </p:spPr>
        <p:txBody>
          <a:bodyPr wrap="square" lIns="0" tIns="0" rIns="0" bIns="0" rtlCol="0" anchor="ctr"/>
          <a:lstStyle/>
          <a:p>
            <a:pPr marL="0" indent="0" algn="l">
              <a:buNone/>
            </a:pPr>
            <a:r>
              <a:rPr lang="en-US" sz="1800" b="1" i="1">
                <a:solidFill>
                  <a:srgbClr val="1F4E79"/>
                </a:solidFill>
                <a:latin typeface="Calibri" pitchFamily="34" charset="0"/>
                <a:ea typeface="Calibri" pitchFamily="34" charset="-122"/>
                <a:cs typeface="Calibri" pitchFamily="34" charset="-120"/>
              </a:rPr>
              <a:t>Affinity</a:t>
            </a:r>
            <a:endParaRPr lang="en-US" sz="1800"/>
          </a:p>
        </p:txBody>
      </p:sp>
      <p:sp>
        <p:nvSpPr>
          <p:cNvPr id="64" name="Text 62"/>
          <p:cNvSpPr/>
          <p:nvPr/>
        </p:nvSpPr>
        <p:spPr>
          <a:xfrm>
            <a:off x="7360920" y="4343400"/>
            <a:ext cx="4297680" cy="228600"/>
          </a:xfrm>
          <a:prstGeom prst="rect">
            <a:avLst/>
          </a:prstGeom>
          <a:noFill/>
          <a:ln/>
        </p:spPr>
        <p:txBody>
          <a:bodyPr wrap="square" lIns="0" tIns="0" rIns="0" bIns="0" rtlCol="0" anchor="ctr"/>
          <a:lstStyle/>
          <a:p>
            <a:pPr marL="0" indent="0" algn="l">
              <a:buNone/>
            </a:pPr>
            <a:r>
              <a:rPr lang="en-US" sz="1100" b="1">
                <a:solidFill>
                  <a:srgbClr val="2E75B6"/>
                </a:solidFill>
                <a:latin typeface="Calibri" pitchFamily="34" charset="0"/>
                <a:ea typeface="Calibri" pitchFamily="34" charset="-122"/>
                <a:cs typeface="Calibri" pitchFamily="34" charset="-120"/>
              </a:rPr>
              <a:t>Affinity Partners</a:t>
            </a:r>
            <a:endParaRPr lang="en-US" sz="1100"/>
          </a:p>
        </p:txBody>
      </p:sp>
      <p:sp>
        <p:nvSpPr>
          <p:cNvPr id="65" name="Text 63"/>
          <p:cNvSpPr/>
          <p:nvPr/>
        </p:nvSpPr>
        <p:spPr>
          <a:xfrm>
            <a:off x="7360920" y="4544568"/>
            <a:ext cx="4297680" cy="228600"/>
          </a:xfrm>
          <a:prstGeom prst="rect">
            <a:avLst/>
          </a:prstGeom>
          <a:noFill/>
          <a:ln/>
        </p:spPr>
        <p:txBody>
          <a:bodyPr wrap="square" lIns="0" tIns="0" rIns="0" bIns="0" rtlCol="0" anchor="ctr"/>
          <a:lstStyle/>
          <a:p>
            <a:pPr marL="0" indent="0" algn="l">
              <a:buNone/>
            </a:pPr>
            <a:r>
              <a:rPr lang="en-US" sz="950" i="1">
                <a:solidFill>
                  <a:srgbClr val="595959"/>
                </a:solidFill>
                <a:latin typeface="Calibri" pitchFamily="34" charset="0"/>
                <a:ea typeface="Calibri" pitchFamily="34" charset="-122"/>
                <a:cs typeface="Calibri" pitchFamily="34" charset="-120"/>
              </a:rPr>
              <a:t>Co-Investor</a:t>
            </a:r>
            <a:endParaRPr lang="en-US" sz="950"/>
          </a:p>
        </p:txBody>
      </p:sp>
      <p:sp>
        <p:nvSpPr>
          <p:cNvPr id="66" name="Text 64"/>
          <p:cNvSpPr/>
          <p:nvPr/>
        </p:nvSpPr>
        <p:spPr>
          <a:xfrm>
            <a:off x="7178040" y="5173098"/>
            <a:ext cx="4663440" cy="594360"/>
          </a:xfrm>
          <a:prstGeom prst="rect">
            <a:avLst/>
          </a:prstGeom>
          <a:noFill/>
          <a:ln/>
        </p:spPr>
        <p:txBody>
          <a:bodyPr wrap="square" lIns="0" tIns="0" rIns="0" bIns="0" rtlCol="0" anchor="t"/>
          <a:lstStyle/>
          <a:p>
            <a:pPr marL="0" indent="0" algn="l">
              <a:buNone/>
            </a:pPr>
            <a:r>
              <a:rPr lang="en-US" sz="950" i="1">
                <a:solidFill>
                  <a:srgbClr val="595959"/>
                </a:solidFill>
                <a:latin typeface="Calibri" pitchFamily="34" charset="0"/>
                <a:ea typeface="Calibri" pitchFamily="34" charset="-122"/>
                <a:cs typeface="Calibri" pitchFamily="34" charset="-120"/>
              </a:rPr>
              <a:t>Goldman Sachs (target advisor; ~$110M fee) • J.P. Morgan (sponsor advisor + lead arranger; $20.0B committed / $18.0B funded; ~$500M financing fees)</a:t>
            </a:r>
            <a:endParaRPr lang="en-US" sz="9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90362"/>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Sources &amp; Uses</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9</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pic>
        <p:nvPicPr>
          <p:cNvPr id="7" name="Image 0" descr="/mnt/user-data/outputs/Project_Madden_Submission/2_Pitch_Deck_Materials/Pitch_Visuals/05_sources_and_uses.png"/>
          <p:cNvPicPr>
            <a:picLocks noChangeAspect="1"/>
          </p:cNvPicPr>
          <p:nvPr/>
        </p:nvPicPr>
        <p:blipFill>
          <a:blip r:embed="rId3"/>
          <a:stretch>
            <a:fillRect/>
          </a:stretch>
        </p:blipFill>
        <p:spPr>
          <a:xfrm>
            <a:off x="120456" y="1751804"/>
            <a:ext cx="7762949" cy="3902176"/>
          </a:xfrm>
          <a:prstGeom prst="rect">
            <a:avLst/>
          </a:prstGeom>
        </p:spPr>
      </p:pic>
      <p:sp>
        <p:nvSpPr>
          <p:cNvPr id="8" name="Text 5"/>
          <p:cNvSpPr/>
          <p:nvPr/>
        </p:nvSpPr>
        <p:spPr>
          <a:xfrm>
            <a:off x="7818120" y="1169209"/>
            <a:ext cx="4114800" cy="365760"/>
          </a:xfrm>
          <a:prstGeom prst="rect">
            <a:avLst/>
          </a:prstGeom>
          <a:noFill/>
          <a:ln/>
        </p:spPr>
        <p:txBody>
          <a:bodyPr wrap="square" lIns="0" tIns="0" rIns="0" bIns="0" rtlCol="0" anchor="ctr"/>
          <a:lstStyle/>
          <a:p>
            <a:pPr marL="0" indent="0" algn="l">
              <a:buNone/>
            </a:pPr>
            <a:r>
              <a:rPr lang="en-US" sz="1600" b="1" i="1">
                <a:solidFill>
                  <a:srgbClr val="1F4E79"/>
                </a:solidFill>
                <a:latin typeface="Calibri" pitchFamily="34" charset="0"/>
                <a:ea typeface="Calibri" pitchFamily="34" charset="-122"/>
                <a:cs typeface="Calibri" pitchFamily="34" charset="-120"/>
              </a:rPr>
              <a:t>Capital Structure</a:t>
            </a:r>
            <a:endParaRPr lang="en-US" sz="1600"/>
          </a:p>
        </p:txBody>
      </p:sp>
      <p:sp>
        <p:nvSpPr>
          <p:cNvPr id="9" name="Shape 6"/>
          <p:cNvSpPr/>
          <p:nvPr/>
        </p:nvSpPr>
        <p:spPr>
          <a:xfrm>
            <a:off x="7818120" y="1534969"/>
            <a:ext cx="1280160" cy="45720"/>
          </a:xfrm>
          <a:prstGeom prst="rect">
            <a:avLst/>
          </a:prstGeom>
          <a:solidFill>
            <a:srgbClr val="2E75B6"/>
          </a:solidFill>
          <a:ln/>
        </p:spPr>
        <p:txBody>
          <a:bodyPr/>
          <a:lstStyle/>
          <a:p>
            <a:endParaRPr lang="en-US"/>
          </a:p>
        </p:txBody>
      </p:sp>
      <p:sp>
        <p:nvSpPr>
          <p:cNvPr id="10" name="Shape 7"/>
          <p:cNvSpPr/>
          <p:nvPr/>
        </p:nvSpPr>
        <p:spPr>
          <a:xfrm>
            <a:off x="7818120" y="1717849"/>
            <a:ext cx="4114800" cy="59436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11" name="Text 8"/>
          <p:cNvSpPr/>
          <p:nvPr/>
        </p:nvSpPr>
        <p:spPr>
          <a:xfrm>
            <a:off x="7818120" y="1717849"/>
            <a:ext cx="4114800" cy="59436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$55.3B Total Sources / Uses</a:t>
            </a:r>
            <a:endParaRPr lang="en-US" sz="1600"/>
          </a:p>
        </p:txBody>
      </p:sp>
      <p:sp>
        <p:nvSpPr>
          <p:cNvPr id="12" name="Text 9"/>
          <p:cNvSpPr/>
          <p:nvPr/>
        </p:nvSpPr>
        <p:spPr>
          <a:xfrm>
            <a:off x="7818120" y="2495089"/>
            <a:ext cx="4114800" cy="274320"/>
          </a:xfrm>
          <a:prstGeom prst="rect">
            <a:avLst/>
          </a:prstGeom>
          <a:noFill/>
          <a:ln/>
        </p:spPr>
        <p:txBody>
          <a:bodyPr wrap="square" lIns="0" tIns="0" rIns="0" bIns="0" rtlCol="0" anchor="ctr"/>
          <a:lstStyle/>
          <a:p>
            <a:pPr marL="0" indent="0" algn="l">
              <a:buNone/>
            </a:pPr>
            <a:r>
              <a:rPr lang="en-US" sz="1000" b="1" kern="0" spc="200">
                <a:solidFill>
                  <a:srgbClr val="2E75B6"/>
                </a:solidFill>
                <a:latin typeface="Calibri" pitchFamily="34" charset="0"/>
                <a:ea typeface="Calibri" pitchFamily="34" charset="-122"/>
                <a:cs typeface="Calibri" pitchFamily="34" charset="-120"/>
              </a:rPr>
              <a:t>SOURCES</a:t>
            </a:r>
            <a:endParaRPr lang="en-US" sz="1000"/>
          </a:p>
        </p:txBody>
      </p:sp>
      <p:sp>
        <p:nvSpPr>
          <p:cNvPr id="13" name="Text 10"/>
          <p:cNvSpPr/>
          <p:nvPr/>
        </p:nvSpPr>
        <p:spPr>
          <a:xfrm>
            <a:off x="7818120" y="2769409"/>
            <a:ext cx="2286000" cy="256032"/>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Equity (Sponsor + Roll)</a:t>
            </a:r>
            <a:endParaRPr lang="en-US" sz="1000"/>
          </a:p>
        </p:txBody>
      </p:sp>
      <p:sp>
        <p:nvSpPr>
          <p:cNvPr id="14" name="Text 11"/>
          <p:cNvSpPr/>
          <p:nvPr/>
        </p:nvSpPr>
        <p:spPr>
          <a:xfrm>
            <a:off x="10104120" y="2769409"/>
            <a:ext cx="914400" cy="25603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$36.4B</a:t>
            </a:r>
            <a:endParaRPr lang="en-US" sz="1000"/>
          </a:p>
        </p:txBody>
      </p:sp>
      <p:sp>
        <p:nvSpPr>
          <p:cNvPr id="15" name="Text 12"/>
          <p:cNvSpPr/>
          <p:nvPr/>
        </p:nvSpPr>
        <p:spPr>
          <a:xfrm>
            <a:off x="11064240" y="2769409"/>
            <a:ext cx="868680" cy="256032"/>
          </a:xfrm>
          <a:prstGeom prst="rect">
            <a:avLst/>
          </a:prstGeom>
          <a:noFill/>
          <a:ln/>
        </p:spPr>
        <p:txBody>
          <a:bodyPr wrap="square" lIns="0" tIns="0" rIns="0" bIns="0" rtlCol="0" anchor="ctr"/>
          <a:lstStyle/>
          <a:p>
            <a:pPr marL="0" indent="0" algn="r">
              <a:buNone/>
            </a:pPr>
            <a:r>
              <a:rPr lang="en-US" sz="1000">
                <a:solidFill>
                  <a:srgbClr val="595959"/>
                </a:solidFill>
                <a:latin typeface="Calibri" pitchFamily="34" charset="0"/>
                <a:ea typeface="Calibri" pitchFamily="34" charset="-122"/>
                <a:cs typeface="Calibri" pitchFamily="34" charset="-120"/>
              </a:rPr>
              <a:t>65.8%</a:t>
            </a:r>
            <a:endParaRPr lang="en-US" sz="1000"/>
          </a:p>
        </p:txBody>
      </p:sp>
      <p:sp>
        <p:nvSpPr>
          <p:cNvPr id="16" name="Text 13"/>
          <p:cNvSpPr/>
          <p:nvPr/>
        </p:nvSpPr>
        <p:spPr>
          <a:xfrm>
            <a:off x="7818120" y="3043729"/>
            <a:ext cx="2286000" cy="256032"/>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JPMorgan Debt Funded</a:t>
            </a:r>
            <a:endParaRPr lang="en-US" sz="1000"/>
          </a:p>
        </p:txBody>
      </p:sp>
      <p:sp>
        <p:nvSpPr>
          <p:cNvPr id="17" name="Text 14"/>
          <p:cNvSpPr/>
          <p:nvPr/>
        </p:nvSpPr>
        <p:spPr>
          <a:xfrm>
            <a:off x="10104120" y="3043729"/>
            <a:ext cx="914400" cy="25603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$18.0B</a:t>
            </a:r>
            <a:endParaRPr lang="en-US" sz="1000"/>
          </a:p>
        </p:txBody>
      </p:sp>
      <p:sp>
        <p:nvSpPr>
          <p:cNvPr id="18" name="Text 15"/>
          <p:cNvSpPr/>
          <p:nvPr/>
        </p:nvSpPr>
        <p:spPr>
          <a:xfrm>
            <a:off x="11064240" y="3043729"/>
            <a:ext cx="868680" cy="256032"/>
          </a:xfrm>
          <a:prstGeom prst="rect">
            <a:avLst/>
          </a:prstGeom>
          <a:noFill/>
          <a:ln/>
        </p:spPr>
        <p:txBody>
          <a:bodyPr wrap="square" lIns="0" tIns="0" rIns="0" bIns="0" rtlCol="0" anchor="ctr"/>
          <a:lstStyle/>
          <a:p>
            <a:pPr marL="0" indent="0" algn="r">
              <a:buNone/>
            </a:pPr>
            <a:r>
              <a:rPr lang="en-US" sz="1000">
                <a:solidFill>
                  <a:srgbClr val="595959"/>
                </a:solidFill>
                <a:latin typeface="Calibri" pitchFamily="34" charset="0"/>
                <a:ea typeface="Calibri" pitchFamily="34" charset="-122"/>
                <a:cs typeface="Calibri" pitchFamily="34" charset="-120"/>
              </a:rPr>
              <a:t>32.6%</a:t>
            </a:r>
            <a:endParaRPr lang="en-US" sz="1000"/>
          </a:p>
        </p:txBody>
      </p:sp>
      <p:sp>
        <p:nvSpPr>
          <p:cNvPr id="19" name="Text 16"/>
          <p:cNvSpPr/>
          <p:nvPr/>
        </p:nvSpPr>
        <p:spPr>
          <a:xfrm>
            <a:off x="7818120" y="3318049"/>
            <a:ext cx="2286000" cy="256032"/>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EA Cash Contribution</a:t>
            </a:r>
            <a:endParaRPr lang="en-US" sz="1000"/>
          </a:p>
        </p:txBody>
      </p:sp>
      <p:sp>
        <p:nvSpPr>
          <p:cNvPr id="20" name="Text 17"/>
          <p:cNvSpPr/>
          <p:nvPr/>
        </p:nvSpPr>
        <p:spPr>
          <a:xfrm>
            <a:off x="10104120" y="3318049"/>
            <a:ext cx="914400" cy="25603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$0.9B</a:t>
            </a:r>
            <a:endParaRPr lang="en-US" sz="1000"/>
          </a:p>
        </p:txBody>
      </p:sp>
      <p:sp>
        <p:nvSpPr>
          <p:cNvPr id="21" name="Text 18"/>
          <p:cNvSpPr/>
          <p:nvPr/>
        </p:nvSpPr>
        <p:spPr>
          <a:xfrm>
            <a:off x="11064240" y="3318049"/>
            <a:ext cx="868680" cy="256032"/>
          </a:xfrm>
          <a:prstGeom prst="rect">
            <a:avLst/>
          </a:prstGeom>
          <a:noFill/>
          <a:ln/>
        </p:spPr>
        <p:txBody>
          <a:bodyPr wrap="square" lIns="0" tIns="0" rIns="0" bIns="0" rtlCol="0" anchor="ctr"/>
          <a:lstStyle/>
          <a:p>
            <a:pPr marL="0" indent="0" algn="r">
              <a:buNone/>
            </a:pPr>
            <a:r>
              <a:rPr lang="en-US" sz="1000">
                <a:solidFill>
                  <a:srgbClr val="595959"/>
                </a:solidFill>
                <a:latin typeface="Calibri" pitchFamily="34" charset="0"/>
                <a:ea typeface="Calibri" pitchFamily="34" charset="-122"/>
                <a:cs typeface="Calibri" pitchFamily="34" charset="-120"/>
              </a:rPr>
              <a:t>1.6%</a:t>
            </a:r>
            <a:endParaRPr lang="en-US" sz="1000"/>
          </a:p>
        </p:txBody>
      </p:sp>
      <p:sp>
        <p:nvSpPr>
          <p:cNvPr id="22" name="Text 19"/>
          <p:cNvSpPr/>
          <p:nvPr/>
        </p:nvSpPr>
        <p:spPr>
          <a:xfrm>
            <a:off x="7818120" y="3683809"/>
            <a:ext cx="4114800" cy="274320"/>
          </a:xfrm>
          <a:prstGeom prst="rect">
            <a:avLst/>
          </a:prstGeom>
          <a:noFill/>
          <a:ln/>
        </p:spPr>
        <p:txBody>
          <a:bodyPr wrap="square" lIns="0" tIns="0" rIns="0" bIns="0" rtlCol="0" anchor="ctr"/>
          <a:lstStyle/>
          <a:p>
            <a:pPr marL="0" indent="0" algn="l">
              <a:buNone/>
            </a:pPr>
            <a:r>
              <a:rPr lang="en-US" sz="1000" b="1" kern="0" spc="200">
                <a:solidFill>
                  <a:srgbClr val="2E75B6"/>
                </a:solidFill>
                <a:latin typeface="Calibri" pitchFamily="34" charset="0"/>
                <a:ea typeface="Calibri" pitchFamily="34" charset="-122"/>
                <a:cs typeface="Calibri" pitchFamily="34" charset="-120"/>
              </a:rPr>
              <a:t>USES</a:t>
            </a:r>
            <a:endParaRPr lang="en-US" sz="1000"/>
          </a:p>
        </p:txBody>
      </p:sp>
      <p:sp>
        <p:nvSpPr>
          <p:cNvPr id="23" name="Text 20"/>
          <p:cNvSpPr/>
          <p:nvPr/>
        </p:nvSpPr>
        <p:spPr>
          <a:xfrm>
            <a:off x="7818120" y="3958129"/>
            <a:ext cx="2286000" cy="256032"/>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Equity Purchase</a:t>
            </a:r>
            <a:endParaRPr lang="en-US" sz="1000"/>
          </a:p>
        </p:txBody>
      </p:sp>
      <p:sp>
        <p:nvSpPr>
          <p:cNvPr id="24" name="Text 21"/>
          <p:cNvSpPr/>
          <p:nvPr/>
        </p:nvSpPr>
        <p:spPr>
          <a:xfrm>
            <a:off x="10104120" y="3958129"/>
            <a:ext cx="914400" cy="25603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$52.5B</a:t>
            </a:r>
            <a:endParaRPr lang="en-US" sz="1000"/>
          </a:p>
        </p:txBody>
      </p:sp>
      <p:sp>
        <p:nvSpPr>
          <p:cNvPr id="25" name="Text 22"/>
          <p:cNvSpPr/>
          <p:nvPr/>
        </p:nvSpPr>
        <p:spPr>
          <a:xfrm>
            <a:off x="11064240" y="3958129"/>
            <a:ext cx="868680" cy="256032"/>
          </a:xfrm>
          <a:prstGeom prst="rect">
            <a:avLst/>
          </a:prstGeom>
          <a:noFill/>
          <a:ln/>
        </p:spPr>
        <p:txBody>
          <a:bodyPr wrap="square" lIns="0" tIns="0" rIns="0" bIns="0" rtlCol="0" anchor="ctr"/>
          <a:lstStyle/>
          <a:p>
            <a:pPr marL="0" indent="0" algn="r">
              <a:buNone/>
            </a:pPr>
            <a:r>
              <a:rPr lang="en-US" sz="1000">
                <a:solidFill>
                  <a:srgbClr val="595959"/>
                </a:solidFill>
                <a:latin typeface="Calibri" pitchFamily="34" charset="0"/>
                <a:ea typeface="Calibri" pitchFamily="34" charset="-122"/>
                <a:cs typeface="Calibri" pitchFamily="34" charset="-120"/>
              </a:rPr>
              <a:t>95.0%</a:t>
            </a:r>
            <a:endParaRPr lang="en-US" sz="1000"/>
          </a:p>
        </p:txBody>
      </p:sp>
      <p:sp>
        <p:nvSpPr>
          <p:cNvPr id="26" name="Text 23"/>
          <p:cNvSpPr/>
          <p:nvPr/>
        </p:nvSpPr>
        <p:spPr>
          <a:xfrm>
            <a:off x="7818120" y="4232449"/>
            <a:ext cx="2286000" cy="256032"/>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Refinance + Tender</a:t>
            </a:r>
            <a:endParaRPr lang="en-US" sz="1000"/>
          </a:p>
        </p:txBody>
      </p:sp>
      <p:sp>
        <p:nvSpPr>
          <p:cNvPr id="27" name="Text 24"/>
          <p:cNvSpPr/>
          <p:nvPr/>
        </p:nvSpPr>
        <p:spPr>
          <a:xfrm>
            <a:off x="10104120" y="4232449"/>
            <a:ext cx="914400" cy="25603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$1.6B</a:t>
            </a:r>
            <a:endParaRPr lang="en-US" sz="1000"/>
          </a:p>
        </p:txBody>
      </p:sp>
      <p:sp>
        <p:nvSpPr>
          <p:cNvPr id="28" name="Text 25"/>
          <p:cNvSpPr/>
          <p:nvPr/>
        </p:nvSpPr>
        <p:spPr>
          <a:xfrm>
            <a:off x="11064240" y="4232449"/>
            <a:ext cx="868680" cy="256032"/>
          </a:xfrm>
          <a:prstGeom prst="rect">
            <a:avLst/>
          </a:prstGeom>
          <a:noFill/>
          <a:ln/>
        </p:spPr>
        <p:txBody>
          <a:bodyPr wrap="square" lIns="0" tIns="0" rIns="0" bIns="0" rtlCol="0" anchor="ctr"/>
          <a:lstStyle/>
          <a:p>
            <a:pPr marL="0" indent="0" algn="r">
              <a:buNone/>
            </a:pPr>
            <a:r>
              <a:rPr lang="en-US" sz="1000">
                <a:solidFill>
                  <a:srgbClr val="595959"/>
                </a:solidFill>
                <a:latin typeface="Calibri" pitchFamily="34" charset="0"/>
                <a:ea typeface="Calibri" pitchFamily="34" charset="-122"/>
                <a:cs typeface="Calibri" pitchFamily="34" charset="-120"/>
              </a:rPr>
              <a:t>2.8%</a:t>
            </a:r>
            <a:endParaRPr lang="en-US" sz="1000"/>
          </a:p>
        </p:txBody>
      </p:sp>
      <p:sp>
        <p:nvSpPr>
          <p:cNvPr id="29" name="Text 26"/>
          <p:cNvSpPr/>
          <p:nvPr/>
        </p:nvSpPr>
        <p:spPr>
          <a:xfrm>
            <a:off x="7818120" y="4506769"/>
            <a:ext cx="2286000" cy="256032"/>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Debt + Advisor Fees</a:t>
            </a:r>
            <a:endParaRPr lang="en-US" sz="1000"/>
          </a:p>
        </p:txBody>
      </p:sp>
      <p:sp>
        <p:nvSpPr>
          <p:cNvPr id="30" name="Text 27"/>
          <p:cNvSpPr/>
          <p:nvPr/>
        </p:nvSpPr>
        <p:spPr>
          <a:xfrm>
            <a:off x="10104120" y="4506769"/>
            <a:ext cx="914400" cy="25603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$0.9B</a:t>
            </a:r>
            <a:endParaRPr lang="en-US" sz="1000"/>
          </a:p>
        </p:txBody>
      </p:sp>
      <p:sp>
        <p:nvSpPr>
          <p:cNvPr id="31" name="Text 28"/>
          <p:cNvSpPr/>
          <p:nvPr/>
        </p:nvSpPr>
        <p:spPr>
          <a:xfrm>
            <a:off x="11064240" y="4506769"/>
            <a:ext cx="868680" cy="256032"/>
          </a:xfrm>
          <a:prstGeom prst="rect">
            <a:avLst/>
          </a:prstGeom>
          <a:noFill/>
          <a:ln/>
        </p:spPr>
        <p:txBody>
          <a:bodyPr wrap="square" lIns="0" tIns="0" rIns="0" bIns="0" rtlCol="0" anchor="ctr"/>
          <a:lstStyle/>
          <a:p>
            <a:pPr marL="0" indent="0" algn="r">
              <a:buNone/>
            </a:pPr>
            <a:r>
              <a:rPr lang="en-US" sz="1000">
                <a:solidFill>
                  <a:srgbClr val="595959"/>
                </a:solidFill>
                <a:latin typeface="Calibri" pitchFamily="34" charset="0"/>
                <a:ea typeface="Calibri" pitchFamily="34" charset="-122"/>
                <a:cs typeface="Calibri" pitchFamily="34" charset="-120"/>
              </a:rPr>
              <a:t>1.7%</a:t>
            </a:r>
            <a:endParaRPr lang="en-US" sz="1000"/>
          </a:p>
        </p:txBody>
      </p:sp>
      <p:sp>
        <p:nvSpPr>
          <p:cNvPr id="32" name="Text 29"/>
          <p:cNvSpPr/>
          <p:nvPr/>
        </p:nvSpPr>
        <p:spPr>
          <a:xfrm>
            <a:off x="7818120" y="4781089"/>
            <a:ext cx="2286000" cy="256032"/>
          </a:xfrm>
          <a:prstGeom prst="rect">
            <a:avLst/>
          </a:prstGeom>
          <a:noFill/>
          <a:ln/>
        </p:spPr>
        <p:txBody>
          <a:bodyPr wrap="square" lIns="0" tIns="0" rIns="0" bIns="0" rtlCol="0" anchor="ctr"/>
          <a:lstStyle/>
          <a:p>
            <a:pPr marL="0" indent="0" algn="l">
              <a:buNone/>
            </a:pPr>
            <a:r>
              <a:rPr lang="en-US" sz="1000">
                <a:solidFill>
                  <a:srgbClr val="595959"/>
                </a:solidFill>
                <a:latin typeface="Calibri" pitchFamily="34" charset="0"/>
                <a:ea typeface="Calibri" pitchFamily="34" charset="-122"/>
                <a:cs typeface="Calibri" pitchFamily="34" charset="-120"/>
              </a:rPr>
              <a:t>Cash-out Options/RSUs</a:t>
            </a:r>
            <a:endParaRPr lang="en-US" sz="1000"/>
          </a:p>
        </p:txBody>
      </p:sp>
      <p:sp>
        <p:nvSpPr>
          <p:cNvPr id="33" name="Text 30"/>
          <p:cNvSpPr/>
          <p:nvPr/>
        </p:nvSpPr>
        <p:spPr>
          <a:xfrm>
            <a:off x="10104120" y="4781089"/>
            <a:ext cx="914400" cy="25603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$0.3B</a:t>
            </a:r>
            <a:endParaRPr lang="en-US" sz="1000"/>
          </a:p>
        </p:txBody>
      </p:sp>
      <p:sp>
        <p:nvSpPr>
          <p:cNvPr id="34" name="Text 31"/>
          <p:cNvSpPr/>
          <p:nvPr/>
        </p:nvSpPr>
        <p:spPr>
          <a:xfrm>
            <a:off x="11064240" y="4781089"/>
            <a:ext cx="868680" cy="256032"/>
          </a:xfrm>
          <a:prstGeom prst="rect">
            <a:avLst/>
          </a:prstGeom>
          <a:noFill/>
          <a:ln/>
        </p:spPr>
        <p:txBody>
          <a:bodyPr wrap="square" lIns="0" tIns="0" rIns="0" bIns="0" rtlCol="0" anchor="ctr"/>
          <a:lstStyle/>
          <a:p>
            <a:pPr marL="0" indent="0" algn="r">
              <a:buNone/>
            </a:pPr>
            <a:r>
              <a:rPr lang="en-US" sz="1000">
                <a:solidFill>
                  <a:srgbClr val="595959"/>
                </a:solidFill>
                <a:latin typeface="Calibri" pitchFamily="34" charset="0"/>
                <a:ea typeface="Calibri" pitchFamily="34" charset="-122"/>
                <a:cs typeface="Calibri" pitchFamily="34" charset="-120"/>
              </a:rPr>
              <a:t>0.5%</a:t>
            </a:r>
            <a:endParaRPr lang="en-US" sz="1000"/>
          </a:p>
        </p:txBody>
      </p:sp>
      <p:sp>
        <p:nvSpPr>
          <p:cNvPr id="35" name="Shape 32"/>
          <p:cNvSpPr/>
          <p:nvPr/>
        </p:nvSpPr>
        <p:spPr>
          <a:xfrm>
            <a:off x="7818120" y="5238289"/>
            <a:ext cx="4114800" cy="960120"/>
          </a:xfrm>
          <a:prstGeom prst="rect">
            <a:avLst/>
          </a:prstGeom>
          <a:solidFill>
            <a:srgbClr val="EAF2F9"/>
          </a:solidFill>
          <a:ln w="12700">
            <a:solidFill>
              <a:srgbClr val="2E75B6"/>
            </a:solidFill>
            <a:prstDash val="solid"/>
          </a:ln>
        </p:spPr>
        <p:txBody>
          <a:bodyPr/>
          <a:lstStyle/>
          <a:p>
            <a:endParaRPr lang="en-US"/>
          </a:p>
        </p:txBody>
      </p:sp>
      <p:sp>
        <p:nvSpPr>
          <p:cNvPr id="36" name="Text 33"/>
          <p:cNvSpPr/>
          <p:nvPr/>
        </p:nvSpPr>
        <p:spPr>
          <a:xfrm>
            <a:off x="8001000" y="5329729"/>
            <a:ext cx="3749040" cy="32004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Initial Leverage: 7.0x LTM Adj. EBITDA</a:t>
            </a:r>
            <a:endParaRPr lang="en-US" sz="1200"/>
          </a:p>
        </p:txBody>
      </p:sp>
      <p:sp>
        <p:nvSpPr>
          <p:cNvPr id="37" name="Text 34"/>
          <p:cNvSpPr/>
          <p:nvPr/>
        </p:nvSpPr>
        <p:spPr>
          <a:xfrm>
            <a:off x="8001000" y="5649769"/>
            <a:ext cx="374904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Materially below the 8–10x typical of large-cap take-privates. The conservative structure preserves capacity for content investment and add-on M&amp;A.</a:t>
            </a:r>
            <a:endParaRPr lang="en-US" sz="1000"/>
          </a:p>
        </p:txBody>
      </p:sp>
      <p:sp>
        <p:nvSpPr>
          <p:cNvPr id="38" name="Text 35"/>
          <p:cNvSpPr/>
          <p:nvPr/>
        </p:nvSpPr>
        <p:spPr>
          <a:xfrm>
            <a:off x="457200" y="6355080"/>
            <a:ext cx="11277295" cy="228600"/>
          </a:xfrm>
          <a:prstGeom prst="rect">
            <a:avLst/>
          </a:prstGeom>
          <a:noFill/>
          <a:ln/>
        </p:spPr>
        <p:txBody>
          <a:bodyPr wrap="square" lIns="0" tIns="0" rIns="0" bIns="0" rtlCol="0" anchor="ctr"/>
          <a:lstStyle/>
          <a:p>
            <a:pPr marL="0" indent="0" algn="ctr">
              <a:buNone/>
            </a:pPr>
            <a:r>
              <a:rPr lang="en-US" sz="750" i="1">
                <a:solidFill>
                  <a:srgbClr val="595959"/>
                </a:solidFill>
                <a:latin typeface="Calibri" pitchFamily="34" charset="0"/>
                <a:ea typeface="Calibri" pitchFamily="34" charset="-122"/>
                <a:cs typeface="Calibri" pitchFamily="34" charset="-120"/>
              </a:rPr>
              <a:t>Source: LBO Model rows 4–13. Reconciles $54.0B balance-sheet EV → $55.0B headline within $20M per IM Appendix B.</a:t>
            </a:r>
            <a:endParaRPr lang="en-US" sz="7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Three-Case Operating Projections</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10</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graphicFrame>
        <p:nvGraphicFramePr>
          <p:cNvPr id="7" name="Chart 0"/>
          <p:cNvGraphicFramePr/>
          <p:nvPr>
            <p:extLst>
              <p:ext uri="{D42A27DB-BD31-4B8C-83A1-F6EECF244321}">
                <p14:modId xmlns:p14="http://schemas.microsoft.com/office/powerpoint/2010/main" val="799273562"/>
              </p:ext>
            </p:extLst>
          </p:nvPr>
        </p:nvGraphicFramePr>
        <p:xfrm>
          <a:off x="185929" y="1408497"/>
          <a:ext cx="749808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p:nvPr/>
        </p:nvSpPr>
        <p:spPr>
          <a:xfrm>
            <a:off x="685800" y="6172200"/>
            <a:ext cx="7498080" cy="457200"/>
          </a:xfrm>
          <a:prstGeom prst="rect">
            <a:avLst/>
          </a:prstGeom>
          <a:noFill/>
          <a:ln/>
        </p:spPr>
        <p:txBody>
          <a:bodyPr wrap="square" lIns="0" tIns="0" rIns="0" bIns="0" rtlCol="0" anchor="t"/>
          <a:lstStyle/>
          <a:p>
            <a:pPr marL="0" indent="0" algn="l">
              <a:buNone/>
            </a:pPr>
            <a:r>
              <a:rPr lang="en-US" sz="800" i="1">
                <a:solidFill>
                  <a:srgbClr val="595959"/>
                </a:solidFill>
                <a:latin typeface="Calibri" pitchFamily="34" charset="0"/>
                <a:ea typeface="Calibri" pitchFamily="34" charset="-122"/>
                <a:cs typeface="Calibri" pitchFamily="34" charset="-120"/>
              </a:rPr>
              <a:t>Source: LBO Model row 17 (live Management Base path); Sponsor Base path traceable in LBO Model rows 103–108. Cases per IM §8 / Appendix B reconciliation.</a:t>
            </a:r>
            <a:endParaRPr lang="en-US" sz="800"/>
          </a:p>
        </p:txBody>
      </p:sp>
      <p:sp>
        <p:nvSpPr>
          <p:cNvPr id="9" name="Text 6"/>
          <p:cNvSpPr/>
          <p:nvPr/>
        </p:nvSpPr>
        <p:spPr>
          <a:xfrm>
            <a:off x="8092440" y="1088457"/>
            <a:ext cx="3749040" cy="320040"/>
          </a:xfrm>
          <a:prstGeom prst="rect">
            <a:avLst/>
          </a:prstGeom>
          <a:noFill/>
          <a:ln/>
        </p:spPr>
        <p:txBody>
          <a:bodyPr wrap="square" lIns="0" tIns="0" rIns="0" bIns="0" rtlCol="0" anchor="ctr"/>
          <a:lstStyle/>
          <a:p>
            <a:pPr marL="0" indent="0" algn="l">
              <a:buNone/>
            </a:pPr>
            <a:r>
              <a:rPr lang="en-US" sz="1300" b="1" i="1">
                <a:solidFill>
                  <a:srgbClr val="1F4E79"/>
                </a:solidFill>
                <a:latin typeface="Calibri" pitchFamily="34" charset="0"/>
                <a:ea typeface="Calibri" pitchFamily="34" charset="-122"/>
                <a:cs typeface="Calibri" pitchFamily="34" charset="-120"/>
              </a:rPr>
              <a:t>Y5 (FY31) Adj. EBITDA</a:t>
            </a:r>
            <a:endParaRPr lang="en-US" sz="1300"/>
          </a:p>
        </p:txBody>
      </p:sp>
      <p:sp>
        <p:nvSpPr>
          <p:cNvPr id="10" name="Shape 7"/>
          <p:cNvSpPr/>
          <p:nvPr/>
        </p:nvSpPr>
        <p:spPr>
          <a:xfrm>
            <a:off x="8092440" y="1408497"/>
            <a:ext cx="1280160" cy="36576"/>
          </a:xfrm>
          <a:prstGeom prst="rect">
            <a:avLst/>
          </a:prstGeom>
          <a:solidFill>
            <a:srgbClr val="2E75B6"/>
          </a:solidFill>
          <a:ln/>
        </p:spPr>
        <p:txBody>
          <a:bodyPr/>
          <a:lstStyle/>
          <a:p>
            <a:endParaRPr lang="en-US"/>
          </a:p>
        </p:txBody>
      </p:sp>
      <p:sp>
        <p:nvSpPr>
          <p:cNvPr id="11" name="Shape 8"/>
          <p:cNvSpPr/>
          <p:nvPr/>
        </p:nvSpPr>
        <p:spPr>
          <a:xfrm>
            <a:off x="8092440" y="1545657"/>
            <a:ext cx="3749040" cy="1508760"/>
          </a:xfrm>
          <a:prstGeom prst="rect">
            <a:avLst/>
          </a:prstGeom>
          <a:solidFill>
            <a:srgbClr val="FFFFFF"/>
          </a:solidFill>
          <a:ln w="19050">
            <a:solidFill>
              <a:srgbClr val="1F4E79"/>
            </a:solidFill>
            <a:prstDash val="solid"/>
          </a:ln>
          <a:effectLst>
            <a:outerShdw blurRad="76200" dist="25400" dir="5400000" algn="bl" rotWithShape="0">
              <a:srgbClr val="000000">
                <a:alpha val="15000"/>
              </a:srgbClr>
            </a:outerShdw>
          </a:effectLst>
        </p:spPr>
        <p:txBody>
          <a:bodyPr/>
          <a:lstStyle/>
          <a:p>
            <a:endParaRPr lang="en-US"/>
          </a:p>
        </p:txBody>
      </p:sp>
      <p:sp>
        <p:nvSpPr>
          <p:cNvPr id="12" name="Shape 9"/>
          <p:cNvSpPr/>
          <p:nvPr/>
        </p:nvSpPr>
        <p:spPr>
          <a:xfrm>
            <a:off x="8092440" y="1545657"/>
            <a:ext cx="3749040" cy="384048"/>
          </a:xfrm>
          <a:prstGeom prst="rect">
            <a:avLst/>
          </a:prstGeom>
          <a:solidFill>
            <a:srgbClr val="1F4E79"/>
          </a:solidFill>
          <a:ln/>
        </p:spPr>
        <p:txBody>
          <a:bodyPr/>
          <a:lstStyle/>
          <a:p>
            <a:endParaRPr lang="en-US"/>
          </a:p>
        </p:txBody>
      </p:sp>
      <p:sp>
        <p:nvSpPr>
          <p:cNvPr id="13" name="Text 10"/>
          <p:cNvSpPr/>
          <p:nvPr/>
        </p:nvSpPr>
        <p:spPr>
          <a:xfrm>
            <a:off x="8257032" y="1545657"/>
            <a:ext cx="3419856" cy="384048"/>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Sponsor Base</a:t>
            </a:r>
            <a:endParaRPr lang="en-US" sz="1200"/>
          </a:p>
        </p:txBody>
      </p:sp>
      <p:sp>
        <p:nvSpPr>
          <p:cNvPr id="14" name="Text 11"/>
          <p:cNvSpPr/>
          <p:nvPr/>
        </p:nvSpPr>
        <p:spPr>
          <a:xfrm>
            <a:off x="8257032" y="2002857"/>
            <a:ext cx="1371600" cy="502920"/>
          </a:xfrm>
          <a:prstGeom prst="rect">
            <a:avLst/>
          </a:prstGeom>
          <a:noFill/>
          <a:ln/>
        </p:spPr>
        <p:txBody>
          <a:bodyPr wrap="square" lIns="0" tIns="0" rIns="0" bIns="0" rtlCol="0" anchor="ctr"/>
          <a:lstStyle/>
          <a:p>
            <a:pPr marL="0" indent="0" algn="l">
              <a:buNone/>
            </a:pPr>
            <a:r>
              <a:rPr lang="en-US" sz="2800" b="1" i="1">
                <a:solidFill>
                  <a:srgbClr val="1F4E79"/>
                </a:solidFill>
                <a:latin typeface="Calibri" pitchFamily="34" charset="0"/>
                <a:ea typeface="Calibri" pitchFamily="34" charset="-122"/>
                <a:cs typeface="Calibri" pitchFamily="34" charset="-120"/>
              </a:rPr>
              <a:t>$4.2B</a:t>
            </a:r>
            <a:endParaRPr lang="en-US" sz="2800"/>
          </a:p>
        </p:txBody>
      </p:sp>
      <p:sp>
        <p:nvSpPr>
          <p:cNvPr id="15" name="Text 12"/>
          <p:cNvSpPr/>
          <p:nvPr/>
        </p:nvSpPr>
        <p:spPr>
          <a:xfrm>
            <a:off x="9784080" y="2048577"/>
            <a:ext cx="1874520" cy="457200"/>
          </a:xfrm>
          <a:prstGeom prst="rect">
            <a:avLst/>
          </a:prstGeom>
          <a:noFill/>
          <a:ln/>
        </p:spPr>
        <p:txBody>
          <a:bodyPr wrap="square" lIns="0" tIns="0" rIns="0" bIns="0" rtlCol="0" anchor="ctr"/>
          <a:lstStyle/>
          <a:p>
            <a:pPr marL="0" indent="0" algn="l">
              <a:buNone/>
            </a:pPr>
            <a:r>
              <a:rPr lang="en-US" sz="900" b="1">
                <a:solidFill>
                  <a:srgbClr val="1F4E79"/>
                </a:solidFill>
                <a:latin typeface="Calibri" pitchFamily="34" charset="0"/>
                <a:ea typeface="Calibri" pitchFamily="34" charset="-122"/>
                <a:cs typeface="Calibri" pitchFamily="34" charset="-120"/>
              </a:rPr>
              <a:t>Underwriting case</a:t>
            </a:r>
            <a:endParaRPr lang="en-US" sz="900"/>
          </a:p>
        </p:txBody>
      </p:sp>
      <p:sp>
        <p:nvSpPr>
          <p:cNvPr id="16" name="Text 13"/>
          <p:cNvSpPr/>
          <p:nvPr/>
        </p:nvSpPr>
        <p:spPr>
          <a:xfrm>
            <a:off x="8257032" y="2551497"/>
            <a:ext cx="3419856" cy="457200"/>
          </a:xfrm>
          <a:prstGeom prst="rect">
            <a:avLst/>
          </a:prstGeom>
          <a:noFill/>
          <a:ln/>
        </p:spPr>
        <p:txBody>
          <a:bodyPr wrap="square" lIns="0" tIns="0" rIns="0" bIns="0" rtlCol="0" anchor="t"/>
          <a:lstStyle/>
          <a:p>
            <a:pPr marL="0" indent="0" algn="l">
              <a:buNone/>
            </a:pPr>
            <a:r>
              <a:rPr lang="en-US" sz="850" i="1">
                <a:solidFill>
                  <a:srgbClr val="595959"/>
                </a:solidFill>
                <a:latin typeface="Calibri" pitchFamily="34" charset="0"/>
                <a:ea typeface="Calibri" pitchFamily="34" charset="-122"/>
                <a:cs typeface="Calibri" pitchFamily="34" charset="-120"/>
              </a:rPr>
              <a:t>Delays half of mgmt's FY26–FY28 step-up by ~12 months.</a:t>
            </a:r>
            <a:endParaRPr lang="en-US" sz="850"/>
          </a:p>
        </p:txBody>
      </p:sp>
      <p:sp>
        <p:nvSpPr>
          <p:cNvPr id="17" name="Shape 14"/>
          <p:cNvSpPr/>
          <p:nvPr/>
        </p:nvSpPr>
        <p:spPr>
          <a:xfrm>
            <a:off x="8092440" y="3145857"/>
            <a:ext cx="3749040" cy="1508760"/>
          </a:xfrm>
          <a:prstGeom prst="rect">
            <a:avLst/>
          </a:prstGeom>
          <a:solidFill>
            <a:srgbClr val="FFFFFF"/>
          </a:solidFill>
          <a:ln w="19050">
            <a:solidFill>
              <a:srgbClr val="2E75B6"/>
            </a:solidFill>
            <a:prstDash val="solid"/>
          </a:ln>
          <a:effectLst>
            <a:outerShdw blurRad="76200" dist="25400" dir="5400000" algn="bl" rotWithShape="0">
              <a:srgbClr val="000000">
                <a:alpha val="15000"/>
              </a:srgbClr>
            </a:outerShdw>
          </a:effectLst>
        </p:spPr>
        <p:txBody>
          <a:bodyPr/>
          <a:lstStyle/>
          <a:p>
            <a:endParaRPr lang="en-US"/>
          </a:p>
        </p:txBody>
      </p:sp>
      <p:sp>
        <p:nvSpPr>
          <p:cNvPr id="18" name="Shape 15"/>
          <p:cNvSpPr/>
          <p:nvPr/>
        </p:nvSpPr>
        <p:spPr>
          <a:xfrm>
            <a:off x="8092440" y="3145857"/>
            <a:ext cx="3749040" cy="384048"/>
          </a:xfrm>
          <a:prstGeom prst="rect">
            <a:avLst/>
          </a:prstGeom>
          <a:solidFill>
            <a:srgbClr val="2E75B6"/>
          </a:solidFill>
          <a:ln/>
        </p:spPr>
        <p:txBody>
          <a:bodyPr/>
          <a:lstStyle/>
          <a:p>
            <a:endParaRPr lang="en-US"/>
          </a:p>
        </p:txBody>
      </p:sp>
      <p:sp>
        <p:nvSpPr>
          <p:cNvPr id="19" name="Text 16"/>
          <p:cNvSpPr/>
          <p:nvPr/>
        </p:nvSpPr>
        <p:spPr>
          <a:xfrm>
            <a:off x="8257032" y="3145857"/>
            <a:ext cx="3419856" cy="384048"/>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Management Base</a:t>
            </a:r>
            <a:endParaRPr lang="en-US" sz="1200"/>
          </a:p>
        </p:txBody>
      </p:sp>
      <p:sp>
        <p:nvSpPr>
          <p:cNvPr id="20" name="Text 17"/>
          <p:cNvSpPr/>
          <p:nvPr/>
        </p:nvSpPr>
        <p:spPr>
          <a:xfrm>
            <a:off x="8257032" y="3603057"/>
            <a:ext cx="1371600" cy="502920"/>
          </a:xfrm>
          <a:prstGeom prst="rect">
            <a:avLst/>
          </a:prstGeom>
          <a:noFill/>
          <a:ln/>
        </p:spPr>
        <p:txBody>
          <a:bodyPr wrap="square" lIns="0" tIns="0" rIns="0" bIns="0" rtlCol="0" anchor="ctr"/>
          <a:lstStyle/>
          <a:p>
            <a:pPr marL="0" indent="0" algn="l">
              <a:buNone/>
            </a:pPr>
            <a:r>
              <a:rPr lang="en-US" sz="2800" b="1" i="1">
                <a:solidFill>
                  <a:srgbClr val="2E75B6"/>
                </a:solidFill>
                <a:latin typeface="Calibri" pitchFamily="34" charset="0"/>
                <a:ea typeface="Calibri" pitchFamily="34" charset="-122"/>
                <a:cs typeface="Calibri" pitchFamily="34" charset="-120"/>
              </a:rPr>
              <a:t>$4.5B</a:t>
            </a:r>
            <a:endParaRPr lang="en-US" sz="2800"/>
          </a:p>
        </p:txBody>
      </p:sp>
      <p:sp>
        <p:nvSpPr>
          <p:cNvPr id="21" name="Text 18"/>
          <p:cNvSpPr/>
          <p:nvPr/>
        </p:nvSpPr>
        <p:spPr>
          <a:xfrm>
            <a:off x="9784080" y="3648777"/>
            <a:ext cx="1874520" cy="457200"/>
          </a:xfrm>
          <a:prstGeom prst="rect">
            <a:avLst/>
          </a:prstGeom>
          <a:noFill/>
          <a:ln/>
        </p:spPr>
        <p:txBody>
          <a:bodyPr wrap="square" lIns="0" tIns="0" rIns="0" bIns="0" rtlCol="0" anchor="ctr"/>
          <a:lstStyle/>
          <a:p>
            <a:pPr marL="0" indent="0" algn="l">
              <a:buNone/>
            </a:pPr>
            <a:r>
              <a:rPr lang="en-US" sz="900" b="1">
                <a:solidFill>
                  <a:srgbClr val="1F4E79"/>
                </a:solidFill>
                <a:latin typeface="Calibri" pitchFamily="34" charset="0"/>
                <a:ea typeface="Calibri" pitchFamily="34" charset="-122"/>
                <a:cs typeface="Calibri" pitchFamily="34" charset="-120"/>
              </a:rPr>
              <a:t>DEFA14A / Goldman DCF input</a:t>
            </a:r>
            <a:endParaRPr lang="en-US" sz="900"/>
          </a:p>
        </p:txBody>
      </p:sp>
      <p:sp>
        <p:nvSpPr>
          <p:cNvPr id="22" name="Text 19"/>
          <p:cNvSpPr/>
          <p:nvPr/>
        </p:nvSpPr>
        <p:spPr>
          <a:xfrm>
            <a:off x="8257032" y="4151697"/>
            <a:ext cx="3419856" cy="457200"/>
          </a:xfrm>
          <a:prstGeom prst="rect">
            <a:avLst/>
          </a:prstGeom>
          <a:noFill/>
          <a:ln/>
        </p:spPr>
        <p:txBody>
          <a:bodyPr wrap="square" lIns="0" tIns="0" rIns="0" bIns="0" rtlCol="0" anchor="t"/>
          <a:lstStyle/>
          <a:p>
            <a:pPr marL="0" indent="0" algn="l">
              <a:buNone/>
            </a:pPr>
            <a:r>
              <a:rPr lang="en-US" sz="850" i="1">
                <a:solidFill>
                  <a:srgbClr val="595959"/>
                </a:solidFill>
                <a:latin typeface="Calibri" pitchFamily="34" charset="0"/>
                <a:ea typeface="Calibri" pitchFamily="34" charset="-122"/>
                <a:cs typeface="Calibri" pitchFamily="34" charset="-120"/>
              </a:rPr>
              <a:t>Mgmt's disclosed forecast; basis for the live LBO model debt schedule.</a:t>
            </a:r>
            <a:endParaRPr lang="en-US" sz="850"/>
          </a:p>
        </p:txBody>
      </p:sp>
      <p:sp>
        <p:nvSpPr>
          <p:cNvPr id="23" name="Shape 20"/>
          <p:cNvSpPr/>
          <p:nvPr/>
        </p:nvSpPr>
        <p:spPr>
          <a:xfrm>
            <a:off x="8092440" y="4746057"/>
            <a:ext cx="3749040" cy="1508760"/>
          </a:xfrm>
          <a:prstGeom prst="rect">
            <a:avLst/>
          </a:prstGeom>
          <a:solidFill>
            <a:srgbClr val="FFFFFF"/>
          </a:solidFill>
          <a:ln w="19050">
            <a:solidFill>
              <a:srgbClr val="C00000"/>
            </a:solidFill>
            <a:prstDash val="solid"/>
          </a:ln>
          <a:effectLst>
            <a:outerShdw blurRad="76200" dist="25400" dir="5400000" algn="bl" rotWithShape="0">
              <a:srgbClr val="000000">
                <a:alpha val="15000"/>
              </a:srgbClr>
            </a:outerShdw>
          </a:effectLst>
        </p:spPr>
        <p:txBody>
          <a:bodyPr/>
          <a:lstStyle/>
          <a:p>
            <a:endParaRPr lang="en-US"/>
          </a:p>
        </p:txBody>
      </p:sp>
      <p:sp>
        <p:nvSpPr>
          <p:cNvPr id="24" name="Shape 21"/>
          <p:cNvSpPr/>
          <p:nvPr/>
        </p:nvSpPr>
        <p:spPr>
          <a:xfrm>
            <a:off x="8092440" y="4746057"/>
            <a:ext cx="3749040" cy="384048"/>
          </a:xfrm>
          <a:prstGeom prst="rect">
            <a:avLst/>
          </a:prstGeom>
          <a:solidFill>
            <a:srgbClr val="C00000"/>
          </a:solidFill>
          <a:ln/>
        </p:spPr>
        <p:txBody>
          <a:bodyPr/>
          <a:lstStyle/>
          <a:p>
            <a:endParaRPr lang="en-US"/>
          </a:p>
        </p:txBody>
      </p:sp>
      <p:sp>
        <p:nvSpPr>
          <p:cNvPr id="25" name="Text 22"/>
          <p:cNvSpPr/>
          <p:nvPr/>
        </p:nvSpPr>
        <p:spPr>
          <a:xfrm>
            <a:off x="8257032" y="4746057"/>
            <a:ext cx="3419856" cy="384048"/>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Sponsor Downside</a:t>
            </a:r>
            <a:endParaRPr lang="en-US" sz="1200"/>
          </a:p>
        </p:txBody>
      </p:sp>
      <p:sp>
        <p:nvSpPr>
          <p:cNvPr id="26" name="Text 23"/>
          <p:cNvSpPr/>
          <p:nvPr/>
        </p:nvSpPr>
        <p:spPr>
          <a:xfrm>
            <a:off x="8257032" y="5203257"/>
            <a:ext cx="1371600" cy="502920"/>
          </a:xfrm>
          <a:prstGeom prst="rect">
            <a:avLst/>
          </a:prstGeom>
          <a:noFill/>
          <a:ln/>
        </p:spPr>
        <p:txBody>
          <a:bodyPr wrap="square" lIns="0" tIns="0" rIns="0" bIns="0" rtlCol="0" anchor="ctr"/>
          <a:lstStyle/>
          <a:p>
            <a:pPr marL="0" indent="0" algn="l">
              <a:buNone/>
            </a:pPr>
            <a:r>
              <a:rPr lang="en-US" sz="2800" b="1" i="1">
                <a:solidFill>
                  <a:srgbClr val="C00000"/>
                </a:solidFill>
                <a:latin typeface="Calibri" pitchFamily="34" charset="0"/>
                <a:ea typeface="Calibri" pitchFamily="34" charset="-122"/>
                <a:cs typeface="Calibri" pitchFamily="34" charset="-120"/>
              </a:rPr>
              <a:t>$3.6B</a:t>
            </a:r>
            <a:endParaRPr lang="en-US" sz="2800"/>
          </a:p>
        </p:txBody>
      </p:sp>
      <p:sp>
        <p:nvSpPr>
          <p:cNvPr id="27" name="Text 24"/>
          <p:cNvSpPr/>
          <p:nvPr/>
        </p:nvSpPr>
        <p:spPr>
          <a:xfrm>
            <a:off x="9784080" y="5248977"/>
            <a:ext cx="1874520" cy="457200"/>
          </a:xfrm>
          <a:prstGeom prst="rect">
            <a:avLst/>
          </a:prstGeom>
          <a:noFill/>
          <a:ln/>
        </p:spPr>
        <p:txBody>
          <a:bodyPr wrap="square" lIns="0" tIns="0" rIns="0" bIns="0" rtlCol="0" anchor="ctr"/>
          <a:lstStyle/>
          <a:p>
            <a:pPr marL="0" indent="0" algn="l">
              <a:buNone/>
            </a:pPr>
            <a:r>
              <a:rPr lang="en-US" sz="900" b="1">
                <a:solidFill>
                  <a:srgbClr val="1F4E79"/>
                </a:solidFill>
                <a:latin typeface="Calibri" pitchFamily="34" charset="0"/>
                <a:ea typeface="Calibri" pitchFamily="34" charset="-122"/>
                <a:cs typeface="Calibri" pitchFamily="34" charset="-120"/>
              </a:rPr>
              <a:t>Stress case</a:t>
            </a:r>
            <a:endParaRPr lang="en-US" sz="900"/>
          </a:p>
        </p:txBody>
      </p:sp>
      <p:sp>
        <p:nvSpPr>
          <p:cNvPr id="28" name="Text 25"/>
          <p:cNvSpPr/>
          <p:nvPr/>
        </p:nvSpPr>
        <p:spPr>
          <a:xfrm>
            <a:off x="8257032" y="5751897"/>
            <a:ext cx="3419856" cy="457200"/>
          </a:xfrm>
          <a:prstGeom prst="rect">
            <a:avLst/>
          </a:prstGeom>
          <a:noFill/>
          <a:ln/>
        </p:spPr>
        <p:txBody>
          <a:bodyPr wrap="square" lIns="0" tIns="0" rIns="0" bIns="0" rtlCol="0" anchor="t"/>
          <a:lstStyle/>
          <a:p>
            <a:pPr marL="0" indent="0" algn="l">
              <a:buNone/>
            </a:pPr>
            <a:r>
              <a:rPr lang="en-US" sz="850" i="1">
                <a:solidFill>
                  <a:srgbClr val="595959"/>
                </a:solidFill>
                <a:latin typeface="Calibri" pitchFamily="34" charset="0"/>
                <a:ea typeface="Calibri" pitchFamily="34" charset="-122"/>
                <a:cs typeface="Calibri" pitchFamily="34" charset="-120"/>
              </a:rPr>
              <a:t>BF6 underperf + 10% EU UT haircut + Apex decay.</a:t>
            </a:r>
            <a:endParaRPr lang="en-US" sz="850"/>
          </a:p>
        </p:txBody>
      </p:sp>
      <p:sp>
        <p:nvSpPr>
          <p:cNvPr id="29" name="Text 26"/>
          <p:cNvSpPr/>
          <p:nvPr/>
        </p:nvSpPr>
        <p:spPr>
          <a:xfrm>
            <a:off x="8092440" y="6300537"/>
            <a:ext cx="3749040" cy="182880"/>
          </a:xfrm>
          <a:prstGeom prst="rect">
            <a:avLst/>
          </a:prstGeom>
          <a:noFill/>
          <a:ln/>
        </p:spPr>
        <p:txBody>
          <a:bodyPr wrap="square" lIns="0" tIns="0" rIns="0" bIns="0" rtlCol="0" anchor="ctr"/>
          <a:lstStyle/>
          <a:p>
            <a:pPr marL="0" indent="0" algn="l">
              <a:buNone/>
            </a:pPr>
            <a:r>
              <a:rPr lang="en-US" sz="750" i="1">
                <a:solidFill>
                  <a:srgbClr val="595959"/>
                </a:solidFill>
                <a:latin typeface="Calibri" pitchFamily="34" charset="0"/>
                <a:ea typeface="Calibri" pitchFamily="34" charset="-122"/>
                <a:cs typeface="Calibri" pitchFamily="34" charset="-120"/>
              </a:rPr>
              <a:t>Anchors: FY25A $2.575B  •  FY26E $2.759B  •  FY27E $3.003B (LBO Y1)</a:t>
            </a:r>
            <a:endParaRPr lang="en-US" sz="7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Value-Creation Bridge</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11</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365760" y="1417320"/>
            <a:ext cx="7680960" cy="292608"/>
          </a:xfrm>
          <a:prstGeom prst="rect">
            <a:avLst/>
          </a:prstGeom>
          <a:noFill/>
          <a:ln/>
        </p:spPr>
        <p:txBody>
          <a:bodyPr wrap="square" lIns="0" tIns="0" rIns="0" bIns="0" rtlCol="0" anchor="ctr"/>
          <a:lstStyle/>
          <a:p>
            <a:pPr marL="0" indent="0" algn="ctr">
              <a:buNone/>
            </a:pPr>
            <a:r>
              <a:rPr lang="en-US" sz="1200" b="1" i="1">
                <a:solidFill>
                  <a:srgbClr val="1F4E79"/>
                </a:solidFill>
                <a:latin typeface="Calibri" pitchFamily="34" charset="0"/>
                <a:ea typeface="Calibri" pitchFamily="34" charset="-122"/>
                <a:cs typeface="Calibri" pitchFamily="34" charset="-120"/>
              </a:rPr>
              <a:t>Equity Value-Creation Bridge — Sponsor Base Case ($B)</a:t>
            </a:r>
            <a:endParaRPr lang="en-US" sz="1200"/>
          </a:p>
        </p:txBody>
      </p:sp>
      <p:sp>
        <p:nvSpPr>
          <p:cNvPr id="8" name="Shape 6"/>
          <p:cNvSpPr/>
          <p:nvPr/>
        </p:nvSpPr>
        <p:spPr>
          <a:xfrm>
            <a:off x="640080" y="4754880"/>
            <a:ext cx="7132320" cy="0"/>
          </a:xfrm>
          <a:prstGeom prst="line">
            <a:avLst/>
          </a:prstGeom>
          <a:noFill/>
          <a:ln w="6350">
            <a:solidFill>
              <a:srgbClr val="EEEEEE"/>
            </a:solidFill>
            <a:prstDash val="solid"/>
          </a:ln>
        </p:spPr>
        <p:txBody>
          <a:bodyPr/>
          <a:lstStyle/>
          <a:p>
            <a:endParaRPr lang="en-US"/>
          </a:p>
        </p:txBody>
      </p:sp>
      <p:sp>
        <p:nvSpPr>
          <p:cNvPr id="9" name="Text 7"/>
          <p:cNvSpPr/>
          <p:nvPr/>
        </p:nvSpPr>
        <p:spPr>
          <a:xfrm>
            <a:off x="365760" y="4663440"/>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$0</a:t>
            </a:r>
            <a:endParaRPr lang="en-US" sz="700"/>
          </a:p>
        </p:txBody>
      </p:sp>
      <p:sp>
        <p:nvSpPr>
          <p:cNvPr id="10" name="Shape 8"/>
          <p:cNvSpPr/>
          <p:nvPr/>
        </p:nvSpPr>
        <p:spPr>
          <a:xfrm>
            <a:off x="640080" y="4349931"/>
            <a:ext cx="7132320" cy="0"/>
          </a:xfrm>
          <a:prstGeom prst="line">
            <a:avLst/>
          </a:prstGeom>
          <a:noFill/>
          <a:ln w="6350">
            <a:solidFill>
              <a:srgbClr val="EEEEEE"/>
            </a:solidFill>
            <a:prstDash val="solid"/>
          </a:ln>
        </p:spPr>
        <p:txBody>
          <a:bodyPr/>
          <a:lstStyle/>
          <a:p>
            <a:endParaRPr lang="en-US"/>
          </a:p>
        </p:txBody>
      </p:sp>
      <p:sp>
        <p:nvSpPr>
          <p:cNvPr id="11" name="Text 9"/>
          <p:cNvSpPr/>
          <p:nvPr/>
        </p:nvSpPr>
        <p:spPr>
          <a:xfrm>
            <a:off x="365760" y="4258491"/>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$10</a:t>
            </a:r>
            <a:endParaRPr lang="en-US" sz="700"/>
          </a:p>
        </p:txBody>
      </p:sp>
      <p:sp>
        <p:nvSpPr>
          <p:cNvPr id="12" name="Shape 10"/>
          <p:cNvSpPr/>
          <p:nvPr/>
        </p:nvSpPr>
        <p:spPr>
          <a:xfrm>
            <a:off x="640080" y="3944983"/>
            <a:ext cx="7132320" cy="0"/>
          </a:xfrm>
          <a:prstGeom prst="line">
            <a:avLst/>
          </a:prstGeom>
          <a:noFill/>
          <a:ln w="6350">
            <a:solidFill>
              <a:srgbClr val="EEEEEE"/>
            </a:solidFill>
            <a:prstDash val="solid"/>
          </a:ln>
        </p:spPr>
        <p:txBody>
          <a:bodyPr/>
          <a:lstStyle/>
          <a:p>
            <a:endParaRPr lang="en-US"/>
          </a:p>
        </p:txBody>
      </p:sp>
      <p:sp>
        <p:nvSpPr>
          <p:cNvPr id="13" name="Text 11"/>
          <p:cNvSpPr/>
          <p:nvPr/>
        </p:nvSpPr>
        <p:spPr>
          <a:xfrm>
            <a:off x="365760" y="3853543"/>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$20</a:t>
            </a:r>
            <a:endParaRPr lang="en-US" sz="700"/>
          </a:p>
        </p:txBody>
      </p:sp>
      <p:sp>
        <p:nvSpPr>
          <p:cNvPr id="14" name="Shape 12"/>
          <p:cNvSpPr/>
          <p:nvPr/>
        </p:nvSpPr>
        <p:spPr>
          <a:xfrm>
            <a:off x="640080" y="3540034"/>
            <a:ext cx="7132320" cy="0"/>
          </a:xfrm>
          <a:prstGeom prst="line">
            <a:avLst/>
          </a:prstGeom>
          <a:noFill/>
          <a:ln w="6350">
            <a:solidFill>
              <a:srgbClr val="EEEEEE"/>
            </a:solidFill>
            <a:prstDash val="solid"/>
          </a:ln>
        </p:spPr>
        <p:txBody>
          <a:bodyPr/>
          <a:lstStyle/>
          <a:p>
            <a:endParaRPr lang="en-US"/>
          </a:p>
        </p:txBody>
      </p:sp>
      <p:sp>
        <p:nvSpPr>
          <p:cNvPr id="15" name="Text 13"/>
          <p:cNvSpPr/>
          <p:nvPr/>
        </p:nvSpPr>
        <p:spPr>
          <a:xfrm>
            <a:off x="365760" y="3448594"/>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$30</a:t>
            </a:r>
            <a:endParaRPr lang="en-US" sz="700"/>
          </a:p>
        </p:txBody>
      </p:sp>
      <p:sp>
        <p:nvSpPr>
          <p:cNvPr id="16" name="Shape 14"/>
          <p:cNvSpPr/>
          <p:nvPr/>
        </p:nvSpPr>
        <p:spPr>
          <a:xfrm>
            <a:off x="640080" y="3135086"/>
            <a:ext cx="7132320" cy="0"/>
          </a:xfrm>
          <a:prstGeom prst="line">
            <a:avLst/>
          </a:prstGeom>
          <a:noFill/>
          <a:ln w="6350">
            <a:solidFill>
              <a:srgbClr val="EEEEEE"/>
            </a:solidFill>
            <a:prstDash val="solid"/>
          </a:ln>
        </p:spPr>
        <p:txBody>
          <a:bodyPr/>
          <a:lstStyle/>
          <a:p>
            <a:endParaRPr lang="en-US"/>
          </a:p>
        </p:txBody>
      </p:sp>
      <p:sp>
        <p:nvSpPr>
          <p:cNvPr id="17" name="Text 15"/>
          <p:cNvSpPr/>
          <p:nvPr/>
        </p:nvSpPr>
        <p:spPr>
          <a:xfrm>
            <a:off x="365760" y="3043646"/>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$40</a:t>
            </a:r>
            <a:endParaRPr lang="en-US" sz="700"/>
          </a:p>
        </p:txBody>
      </p:sp>
      <p:sp>
        <p:nvSpPr>
          <p:cNvPr id="18" name="Shape 16"/>
          <p:cNvSpPr/>
          <p:nvPr/>
        </p:nvSpPr>
        <p:spPr>
          <a:xfrm>
            <a:off x="640080" y="2730137"/>
            <a:ext cx="7132320" cy="0"/>
          </a:xfrm>
          <a:prstGeom prst="line">
            <a:avLst/>
          </a:prstGeom>
          <a:noFill/>
          <a:ln w="6350">
            <a:solidFill>
              <a:srgbClr val="EEEEEE"/>
            </a:solidFill>
            <a:prstDash val="solid"/>
          </a:ln>
        </p:spPr>
        <p:txBody>
          <a:bodyPr/>
          <a:lstStyle/>
          <a:p>
            <a:endParaRPr lang="en-US"/>
          </a:p>
        </p:txBody>
      </p:sp>
      <p:sp>
        <p:nvSpPr>
          <p:cNvPr id="19" name="Text 17"/>
          <p:cNvSpPr/>
          <p:nvPr/>
        </p:nvSpPr>
        <p:spPr>
          <a:xfrm>
            <a:off x="365760" y="2638697"/>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$50</a:t>
            </a:r>
            <a:endParaRPr lang="en-US" sz="700"/>
          </a:p>
        </p:txBody>
      </p:sp>
      <p:sp>
        <p:nvSpPr>
          <p:cNvPr id="20" name="Shape 18"/>
          <p:cNvSpPr/>
          <p:nvPr/>
        </p:nvSpPr>
        <p:spPr>
          <a:xfrm>
            <a:off x="640080" y="2325189"/>
            <a:ext cx="7132320" cy="0"/>
          </a:xfrm>
          <a:prstGeom prst="line">
            <a:avLst/>
          </a:prstGeom>
          <a:noFill/>
          <a:ln w="6350">
            <a:solidFill>
              <a:srgbClr val="EEEEEE"/>
            </a:solidFill>
            <a:prstDash val="solid"/>
          </a:ln>
        </p:spPr>
        <p:txBody>
          <a:bodyPr/>
          <a:lstStyle/>
          <a:p>
            <a:endParaRPr lang="en-US"/>
          </a:p>
        </p:txBody>
      </p:sp>
      <p:sp>
        <p:nvSpPr>
          <p:cNvPr id="21" name="Text 19"/>
          <p:cNvSpPr/>
          <p:nvPr/>
        </p:nvSpPr>
        <p:spPr>
          <a:xfrm>
            <a:off x="365760" y="2233749"/>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$60</a:t>
            </a:r>
            <a:endParaRPr lang="en-US" sz="700"/>
          </a:p>
        </p:txBody>
      </p:sp>
      <p:sp>
        <p:nvSpPr>
          <p:cNvPr id="22" name="Shape 20"/>
          <p:cNvSpPr/>
          <p:nvPr/>
        </p:nvSpPr>
        <p:spPr>
          <a:xfrm>
            <a:off x="640080" y="1920240"/>
            <a:ext cx="7132320" cy="0"/>
          </a:xfrm>
          <a:prstGeom prst="line">
            <a:avLst/>
          </a:prstGeom>
          <a:noFill/>
          <a:ln w="6350">
            <a:solidFill>
              <a:srgbClr val="EEEEEE"/>
            </a:solidFill>
            <a:prstDash val="solid"/>
          </a:ln>
        </p:spPr>
        <p:txBody>
          <a:bodyPr/>
          <a:lstStyle/>
          <a:p>
            <a:endParaRPr lang="en-US"/>
          </a:p>
        </p:txBody>
      </p:sp>
      <p:sp>
        <p:nvSpPr>
          <p:cNvPr id="23" name="Text 21"/>
          <p:cNvSpPr/>
          <p:nvPr/>
        </p:nvSpPr>
        <p:spPr>
          <a:xfrm>
            <a:off x="365760" y="1828800"/>
            <a:ext cx="228600" cy="18288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$70</a:t>
            </a:r>
            <a:endParaRPr lang="en-US" sz="700"/>
          </a:p>
        </p:txBody>
      </p:sp>
      <p:sp>
        <p:nvSpPr>
          <p:cNvPr id="24" name="Shape 22"/>
          <p:cNvSpPr/>
          <p:nvPr/>
        </p:nvSpPr>
        <p:spPr>
          <a:xfrm>
            <a:off x="640080" y="3280867"/>
            <a:ext cx="1005840" cy="1474013"/>
          </a:xfrm>
          <a:prstGeom prst="rect">
            <a:avLst/>
          </a:prstGeom>
          <a:solidFill>
            <a:srgbClr val="2E75B6"/>
          </a:solidFill>
          <a:ln w="6350">
            <a:solidFill>
              <a:srgbClr val="2E75B6"/>
            </a:solidFill>
            <a:prstDash val="solid"/>
          </a:ln>
        </p:spPr>
        <p:txBody>
          <a:bodyPr/>
          <a:lstStyle/>
          <a:p>
            <a:endParaRPr lang="en-US"/>
          </a:p>
        </p:txBody>
      </p:sp>
      <p:sp>
        <p:nvSpPr>
          <p:cNvPr id="25" name="Text 23"/>
          <p:cNvSpPr/>
          <p:nvPr/>
        </p:nvSpPr>
        <p:spPr>
          <a:xfrm>
            <a:off x="457200" y="2823667"/>
            <a:ext cx="1371600" cy="411480"/>
          </a:xfrm>
          <a:prstGeom prst="rect">
            <a:avLst/>
          </a:prstGeom>
          <a:noFill/>
          <a:ln/>
        </p:spPr>
        <p:txBody>
          <a:bodyPr wrap="square" lIns="0" tIns="0" rIns="0" bIns="0" rtlCol="0" anchor="b"/>
          <a:lstStyle/>
          <a:p>
            <a:pPr marL="0" indent="0" algn="ctr">
              <a:buNone/>
            </a:pPr>
            <a:r>
              <a:rPr lang="en-US" sz="900" b="1">
                <a:solidFill>
                  <a:srgbClr val="1F4E79"/>
                </a:solidFill>
                <a:latin typeface="Calibri" pitchFamily="34" charset="0"/>
                <a:ea typeface="Calibri" pitchFamily="34" charset="-122"/>
                <a:cs typeface="Calibri" pitchFamily="34" charset="-120"/>
              </a:rPr>
              <a:t>$36.4B</a:t>
            </a:r>
            <a:endParaRPr lang="en-US" sz="900"/>
          </a:p>
        </p:txBody>
      </p:sp>
      <p:sp>
        <p:nvSpPr>
          <p:cNvPr id="26" name="Text 24"/>
          <p:cNvSpPr/>
          <p:nvPr/>
        </p:nvSpPr>
        <p:spPr>
          <a:xfrm>
            <a:off x="457200" y="4800600"/>
            <a:ext cx="1371600" cy="365760"/>
          </a:xfrm>
          <a:prstGeom prst="rect">
            <a:avLst/>
          </a:prstGeom>
          <a:noFill/>
          <a:ln/>
        </p:spPr>
        <p:txBody>
          <a:bodyPr wrap="square" lIns="0" tIns="0" rIns="0" bIns="0" rtlCol="0" anchor="t"/>
          <a:lstStyle/>
          <a:p>
            <a:pPr marL="0" indent="0" algn="ctr">
              <a:buNone/>
            </a:pPr>
            <a:r>
              <a:rPr lang="en-US" sz="900" b="1">
                <a:solidFill>
                  <a:srgbClr val="1F4E79"/>
                </a:solidFill>
                <a:latin typeface="Calibri" pitchFamily="34" charset="0"/>
                <a:ea typeface="Calibri" pitchFamily="34" charset="-122"/>
                <a:cs typeface="Calibri" pitchFamily="34" charset="-120"/>
              </a:rPr>
              <a:t>Entry</a:t>
            </a:r>
            <a:endParaRPr lang="en-US" sz="900"/>
          </a:p>
          <a:p>
            <a:pPr marL="0" indent="0" algn="ctr">
              <a:buNone/>
            </a:pPr>
            <a:r>
              <a:rPr lang="en-US" sz="900" b="1">
                <a:solidFill>
                  <a:srgbClr val="1F4E79"/>
                </a:solidFill>
                <a:latin typeface="Calibri" pitchFamily="34" charset="0"/>
                <a:ea typeface="Calibri" pitchFamily="34" charset="-122"/>
                <a:cs typeface="Calibri" pitchFamily="34" charset="-120"/>
              </a:rPr>
              <a:t>Equity</a:t>
            </a:r>
            <a:endParaRPr lang="en-US" sz="900"/>
          </a:p>
        </p:txBody>
      </p:sp>
      <p:sp>
        <p:nvSpPr>
          <p:cNvPr id="27" name="Shape 25"/>
          <p:cNvSpPr/>
          <p:nvPr/>
        </p:nvSpPr>
        <p:spPr>
          <a:xfrm>
            <a:off x="2171700" y="2410228"/>
            <a:ext cx="1005840" cy="870639"/>
          </a:xfrm>
          <a:prstGeom prst="rect">
            <a:avLst/>
          </a:prstGeom>
          <a:solidFill>
            <a:srgbClr val="2E7D32"/>
          </a:solidFill>
          <a:ln w="6350">
            <a:solidFill>
              <a:srgbClr val="2E7D32"/>
            </a:solidFill>
            <a:prstDash val="solid"/>
          </a:ln>
        </p:spPr>
        <p:txBody>
          <a:bodyPr/>
          <a:lstStyle/>
          <a:p>
            <a:endParaRPr lang="en-US"/>
          </a:p>
        </p:txBody>
      </p:sp>
      <p:sp>
        <p:nvSpPr>
          <p:cNvPr id="28" name="Text 26"/>
          <p:cNvSpPr/>
          <p:nvPr/>
        </p:nvSpPr>
        <p:spPr>
          <a:xfrm>
            <a:off x="1988820" y="1953028"/>
            <a:ext cx="1371600" cy="411480"/>
          </a:xfrm>
          <a:prstGeom prst="rect">
            <a:avLst/>
          </a:prstGeom>
          <a:noFill/>
          <a:ln/>
        </p:spPr>
        <p:txBody>
          <a:bodyPr wrap="square" lIns="0" tIns="0" rIns="0" bIns="0" rtlCol="0" anchor="b"/>
          <a:lstStyle/>
          <a:p>
            <a:pPr marL="0" indent="0" algn="ctr">
              <a:buNone/>
            </a:pPr>
            <a:r>
              <a:rPr lang="en-US" sz="900" b="1">
                <a:solidFill>
                  <a:srgbClr val="1F4E79"/>
                </a:solidFill>
                <a:latin typeface="Calibri" pitchFamily="34" charset="0"/>
                <a:ea typeface="Calibri" pitchFamily="34" charset="-122"/>
                <a:cs typeface="Calibri" pitchFamily="34" charset="-120"/>
              </a:rPr>
              <a:t>+$21.5B</a:t>
            </a:r>
            <a:endParaRPr lang="en-US" sz="900"/>
          </a:p>
          <a:p>
            <a:pPr marL="0" indent="0" algn="ctr">
              <a:buNone/>
            </a:pPr>
            <a:r>
              <a:rPr lang="en-US" sz="900" b="1">
                <a:solidFill>
                  <a:srgbClr val="1F4E79"/>
                </a:solidFill>
                <a:latin typeface="Calibri" pitchFamily="34" charset="0"/>
                <a:ea typeface="Calibri" pitchFamily="34" charset="-122"/>
                <a:cs typeface="Calibri" pitchFamily="34" charset="-120"/>
              </a:rPr>
              <a:t>(77%)</a:t>
            </a:r>
            <a:endParaRPr lang="en-US" sz="900"/>
          </a:p>
        </p:txBody>
      </p:sp>
      <p:sp>
        <p:nvSpPr>
          <p:cNvPr id="29" name="Text 27"/>
          <p:cNvSpPr/>
          <p:nvPr/>
        </p:nvSpPr>
        <p:spPr>
          <a:xfrm>
            <a:off x="1988820" y="4800600"/>
            <a:ext cx="1371600" cy="365760"/>
          </a:xfrm>
          <a:prstGeom prst="rect">
            <a:avLst/>
          </a:prstGeom>
          <a:noFill/>
          <a:ln/>
        </p:spPr>
        <p:txBody>
          <a:bodyPr wrap="square" lIns="0" tIns="0" rIns="0" bIns="0" rtlCol="0" anchor="t"/>
          <a:lstStyle/>
          <a:p>
            <a:pPr marL="0" indent="0" algn="ctr">
              <a:buNone/>
            </a:pPr>
            <a:r>
              <a:rPr lang="en-US" sz="900">
                <a:solidFill>
                  <a:srgbClr val="1F4E79"/>
                </a:solidFill>
                <a:latin typeface="Calibri" pitchFamily="34" charset="0"/>
                <a:ea typeface="Calibri" pitchFamily="34" charset="-122"/>
                <a:cs typeface="Calibri" pitchFamily="34" charset="-120"/>
              </a:rPr>
              <a:t>EBITDA</a:t>
            </a:r>
            <a:endParaRPr lang="en-US" sz="900"/>
          </a:p>
          <a:p>
            <a:pPr marL="0" indent="0" algn="ctr">
              <a:buNone/>
            </a:pPr>
            <a:r>
              <a:rPr lang="en-US" sz="900">
                <a:solidFill>
                  <a:srgbClr val="1F4E79"/>
                </a:solidFill>
                <a:latin typeface="Calibri" pitchFamily="34" charset="0"/>
                <a:ea typeface="Calibri" pitchFamily="34" charset="-122"/>
                <a:cs typeface="Calibri" pitchFamily="34" charset="-120"/>
              </a:rPr>
              <a:t>Growth</a:t>
            </a:r>
            <a:endParaRPr lang="en-US" sz="900"/>
          </a:p>
        </p:txBody>
      </p:sp>
      <p:sp>
        <p:nvSpPr>
          <p:cNvPr id="30" name="Shape 28"/>
          <p:cNvSpPr/>
          <p:nvPr/>
        </p:nvSpPr>
        <p:spPr>
          <a:xfrm>
            <a:off x="5230368" y="2148840"/>
            <a:ext cx="1005840" cy="0"/>
          </a:xfrm>
          <a:prstGeom prst="line">
            <a:avLst/>
          </a:prstGeom>
          <a:noFill/>
          <a:ln w="19050">
            <a:solidFill>
              <a:srgbClr val="595959"/>
            </a:solidFill>
            <a:prstDash val="dash"/>
          </a:ln>
        </p:spPr>
        <p:txBody>
          <a:bodyPr/>
          <a:lstStyle/>
          <a:p>
            <a:endParaRPr lang="en-US"/>
          </a:p>
        </p:txBody>
      </p:sp>
      <p:sp>
        <p:nvSpPr>
          <p:cNvPr id="31" name="Text 29"/>
          <p:cNvSpPr/>
          <p:nvPr/>
        </p:nvSpPr>
        <p:spPr>
          <a:xfrm>
            <a:off x="5056632" y="1691640"/>
            <a:ext cx="1371600" cy="411480"/>
          </a:xfrm>
          <a:prstGeom prst="rect">
            <a:avLst/>
          </a:prstGeom>
          <a:noFill/>
          <a:ln/>
        </p:spPr>
        <p:txBody>
          <a:bodyPr wrap="square" lIns="0" tIns="0" rIns="0" bIns="0" rtlCol="0" anchor="b"/>
          <a:lstStyle/>
          <a:p>
            <a:pPr marL="0" indent="0" algn="ctr">
              <a:buNone/>
            </a:pPr>
            <a:r>
              <a:rPr lang="en-US" sz="900" b="1">
                <a:solidFill>
                  <a:srgbClr val="1F4E79"/>
                </a:solidFill>
                <a:latin typeface="Calibri" pitchFamily="34" charset="0"/>
                <a:ea typeface="Calibri" pitchFamily="34" charset="-122"/>
                <a:cs typeface="Calibri" pitchFamily="34" charset="-120"/>
              </a:rPr>
              <a:t>$0</a:t>
            </a:r>
            <a:endParaRPr lang="en-US" sz="900"/>
          </a:p>
          <a:p>
            <a:pPr marL="0" indent="0" algn="ctr">
              <a:buNone/>
            </a:pPr>
            <a:r>
              <a:rPr lang="en-US" sz="900" b="1">
                <a:solidFill>
                  <a:srgbClr val="1F4E79"/>
                </a:solidFill>
                <a:latin typeface="Calibri" pitchFamily="34" charset="0"/>
                <a:ea typeface="Calibri" pitchFamily="34" charset="-122"/>
                <a:cs typeface="Calibri" pitchFamily="34" charset="-120"/>
              </a:rPr>
              <a:t>(0%)</a:t>
            </a:r>
            <a:endParaRPr lang="en-US" sz="900"/>
          </a:p>
        </p:txBody>
      </p:sp>
      <p:sp>
        <p:nvSpPr>
          <p:cNvPr id="32" name="Text 30"/>
          <p:cNvSpPr/>
          <p:nvPr/>
        </p:nvSpPr>
        <p:spPr>
          <a:xfrm>
            <a:off x="5056632" y="4800600"/>
            <a:ext cx="1371600" cy="365760"/>
          </a:xfrm>
          <a:prstGeom prst="rect">
            <a:avLst/>
          </a:prstGeom>
          <a:noFill/>
          <a:ln/>
        </p:spPr>
        <p:txBody>
          <a:bodyPr wrap="square" lIns="0" tIns="0" rIns="0" bIns="0" rtlCol="0" anchor="t"/>
          <a:lstStyle/>
          <a:p>
            <a:pPr marL="0" indent="0" algn="ctr">
              <a:buNone/>
            </a:pPr>
            <a:r>
              <a:rPr lang="en-US" sz="900">
                <a:solidFill>
                  <a:srgbClr val="1F4E79"/>
                </a:solidFill>
                <a:latin typeface="Calibri" pitchFamily="34" charset="0"/>
                <a:ea typeface="Calibri" pitchFamily="34" charset="-122"/>
                <a:cs typeface="Calibri" pitchFamily="34" charset="-120"/>
              </a:rPr>
              <a:t>Multiple</a:t>
            </a:r>
            <a:endParaRPr lang="en-US" sz="900"/>
          </a:p>
          <a:p>
            <a:pPr marL="0" indent="0" algn="ctr">
              <a:buNone/>
            </a:pPr>
            <a:r>
              <a:rPr lang="en-US" sz="900">
                <a:solidFill>
                  <a:srgbClr val="1F4E79"/>
                </a:solidFill>
                <a:latin typeface="Calibri" pitchFamily="34" charset="0"/>
                <a:ea typeface="Calibri" pitchFamily="34" charset="-122"/>
                <a:cs typeface="Calibri" pitchFamily="34" charset="-120"/>
              </a:rPr>
              <a:t>Change</a:t>
            </a:r>
            <a:endParaRPr lang="en-US" sz="900"/>
          </a:p>
        </p:txBody>
      </p:sp>
      <p:sp>
        <p:nvSpPr>
          <p:cNvPr id="33" name="Shape 31"/>
          <p:cNvSpPr/>
          <p:nvPr/>
        </p:nvSpPr>
        <p:spPr>
          <a:xfrm>
            <a:off x="3703320" y="2147011"/>
            <a:ext cx="1005840" cy="263217"/>
          </a:xfrm>
          <a:prstGeom prst="rect">
            <a:avLst/>
          </a:prstGeom>
          <a:solidFill>
            <a:srgbClr val="2E75B6"/>
          </a:solidFill>
          <a:ln w="6350">
            <a:solidFill>
              <a:srgbClr val="2E75B6"/>
            </a:solidFill>
            <a:prstDash val="solid"/>
          </a:ln>
        </p:spPr>
        <p:txBody>
          <a:bodyPr/>
          <a:lstStyle/>
          <a:p>
            <a:endParaRPr lang="en-US"/>
          </a:p>
        </p:txBody>
      </p:sp>
      <p:sp>
        <p:nvSpPr>
          <p:cNvPr id="34" name="Text 32"/>
          <p:cNvSpPr/>
          <p:nvPr/>
        </p:nvSpPr>
        <p:spPr>
          <a:xfrm>
            <a:off x="3520440" y="1689811"/>
            <a:ext cx="1371600" cy="411480"/>
          </a:xfrm>
          <a:prstGeom prst="rect">
            <a:avLst/>
          </a:prstGeom>
          <a:noFill/>
          <a:ln/>
        </p:spPr>
        <p:txBody>
          <a:bodyPr wrap="square" lIns="0" tIns="0" rIns="0" bIns="0" rtlCol="0" anchor="b"/>
          <a:lstStyle/>
          <a:p>
            <a:pPr marL="0" indent="0" algn="ctr">
              <a:buNone/>
            </a:pPr>
            <a:r>
              <a:rPr lang="en-US" sz="900" b="1">
                <a:solidFill>
                  <a:srgbClr val="1F4E79"/>
                </a:solidFill>
                <a:latin typeface="Calibri" pitchFamily="34" charset="0"/>
                <a:ea typeface="Calibri" pitchFamily="34" charset="-122"/>
                <a:cs typeface="Calibri" pitchFamily="34" charset="-120"/>
              </a:rPr>
              <a:t>+$6.5B</a:t>
            </a:r>
            <a:endParaRPr lang="en-US" sz="900"/>
          </a:p>
          <a:p>
            <a:pPr marL="0" indent="0" algn="ctr">
              <a:buNone/>
            </a:pPr>
            <a:r>
              <a:rPr lang="en-US" sz="900" b="1">
                <a:solidFill>
                  <a:srgbClr val="1F4E79"/>
                </a:solidFill>
                <a:latin typeface="Calibri" pitchFamily="34" charset="0"/>
                <a:ea typeface="Calibri" pitchFamily="34" charset="-122"/>
                <a:cs typeface="Calibri" pitchFamily="34" charset="-120"/>
              </a:rPr>
              <a:t>(23%)</a:t>
            </a:r>
            <a:endParaRPr lang="en-US" sz="900"/>
          </a:p>
        </p:txBody>
      </p:sp>
      <p:sp>
        <p:nvSpPr>
          <p:cNvPr id="35" name="Text 33"/>
          <p:cNvSpPr/>
          <p:nvPr/>
        </p:nvSpPr>
        <p:spPr>
          <a:xfrm>
            <a:off x="3520440" y="4800600"/>
            <a:ext cx="1371600" cy="365760"/>
          </a:xfrm>
          <a:prstGeom prst="rect">
            <a:avLst/>
          </a:prstGeom>
          <a:noFill/>
          <a:ln/>
        </p:spPr>
        <p:txBody>
          <a:bodyPr wrap="square" lIns="0" tIns="0" rIns="0" bIns="0" rtlCol="0" anchor="t"/>
          <a:lstStyle/>
          <a:p>
            <a:pPr marL="0" indent="0" algn="ctr">
              <a:buNone/>
            </a:pPr>
            <a:r>
              <a:rPr lang="en-US" sz="900">
                <a:solidFill>
                  <a:srgbClr val="1F4E79"/>
                </a:solidFill>
                <a:latin typeface="Calibri" pitchFamily="34" charset="0"/>
                <a:ea typeface="Calibri" pitchFamily="34" charset="-122"/>
                <a:cs typeface="Calibri" pitchFamily="34" charset="-120"/>
              </a:rPr>
              <a:t>Debt</a:t>
            </a:r>
            <a:endParaRPr lang="en-US" sz="900"/>
          </a:p>
          <a:p>
            <a:pPr marL="0" indent="0" algn="ctr">
              <a:buNone/>
            </a:pPr>
            <a:r>
              <a:rPr lang="en-US" sz="900">
                <a:solidFill>
                  <a:srgbClr val="1F4E79"/>
                </a:solidFill>
                <a:latin typeface="Calibri" pitchFamily="34" charset="0"/>
                <a:ea typeface="Calibri" pitchFamily="34" charset="-122"/>
                <a:cs typeface="Calibri" pitchFamily="34" charset="-120"/>
              </a:rPr>
              <a:t>Paydown</a:t>
            </a:r>
            <a:endParaRPr lang="en-US" sz="900"/>
          </a:p>
        </p:txBody>
      </p:sp>
      <p:sp>
        <p:nvSpPr>
          <p:cNvPr id="36" name="Shape 34"/>
          <p:cNvSpPr/>
          <p:nvPr/>
        </p:nvSpPr>
        <p:spPr>
          <a:xfrm>
            <a:off x="6766560" y="2159160"/>
            <a:ext cx="1005840" cy="2595720"/>
          </a:xfrm>
          <a:prstGeom prst="rect">
            <a:avLst/>
          </a:prstGeom>
          <a:solidFill>
            <a:srgbClr val="1F4E79"/>
          </a:solidFill>
          <a:ln w="6350">
            <a:solidFill>
              <a:srgbClr val="1F4E79"/>
            </a:solidFill>
            <a:prstDash val="solid"/>
          </a:ln>
        </p:spPr>
        <p:txBody>
          <a:bodyPr/>
          <a:lstStyle/>
          <a:p>
            <a:endParaRPr lang="en-US"/>
          </a:p>
        </p:txBody>
      </p:sp>
      <p:sp>
        <p:nvSpPr>
          <p:cNvPr id="37" name="Text 35"/>
          <p:cNvSpPr/>
          <p:nvPr/>
        </p:nvSpPr>
        <p:spPr>
          <a:xfrm>
            <a:off x="6583680" y="1701960"/>
            <a:ext cx="1371600" cy="411480"/>
          </a:xfrm>
          <a:prstGeom prst="rect">
            <a:avLst/>
          </a:prstGeom>
          <a:noFill/>
          <a:ln/>
        </p:spPr>
        <p:txBody>
          <a:bodyPr wrap="square" lIns="0" tIns="0" rIns="0" bIns="0" rtlCol="0" anchor="b"/>
          <a:lstStyle/>
          <a:p>
            <a:pPr marL="0" indent="0" algn="ctr">
              <a:buNone/>
            </a:pPr>
            <a:r>
              <a:rPr lang="en-US" sz="900" b="1">
                <a:solidFill>
                  <a:srgbClr val="1F4E79"/>
                </a:solidFill>
                <a:latin typeface="Calibri" pitchFamily="34" charset="0"/>
                <a:ea typeface="Calibri" pitchFamily="34" charset="-122"/>
                <a:cs typeface="Calibri" pitchFamily="34" charset="-120"/>
              </a:rPr>
              <a:t>$64.1B</a:t>
            </a:r>
            <a:endParaRPr lang="en-US" sz="900"/>
          </a:p>
          <a:p>
            <a:pPr marL="0" indent="0" algn="ctr">
              <a:buNone/>
            </a:pPr>
            <a:r>
              <a:rPr lang="en-US" sz="900" b="1">
                <a:solidFill>
                  <a:srgbClr val="1F4E79"/>
                </a:solidFill>
                <a:latin typeface="Calibri" pitchFamily="34" charset="0"/>
                <a:ea typeface="Calibri" pitchFamily="34" charset="-122"/>
                <a:cs typeface="Calibri" pitchFamily="34" charset="-120"/>
              </a:rPr>
              <a:t>(1.76x)</a:t>
            </a:r>
            <a:endParaRPr lang="en-US" sz="900"/>
          </a:p>
        </p:txBody>
      </p:sp>
      <p:sp>
        <p:nvSpPr>
          <p:cNvPr id="38" name="Text 36"/>
          <p:cNvSpPr/>
          <p:nvPr/>
        </p:nvSpPr>
        <p:spPr>
          <a:xfrm>
            <a:off x="6583680" y="4800600"/>
            <a:ext cx="1371600" cy="365760"/>
          </a:xfrm>
          <a:prstGeom prst="rect">
            <a:avLst/>
          </a:prstGeom>
          <a:noFill/>
          <a:ln/>
        </p:spPr>
        <p:txBody>
          <a:bodyPr wrap="square" lIns="0" tIns="0" rIns="0" bIns="0" rtlCol="0" anchor="t"/>
          <a:lstStyle/>
          <a:p>
            <a:pPr marL="0" indent="0" algn="ctr">
              <a:buNone/>
            </a:pPr>
            <a:r>
              <a:rPr lang="en-US" sz="900" b="1">
                <a:solidFill>
                  <a:srgbClr val="1F4E79"/>
                </a:solidFill>
                <a:latin typeface="Calibri" pitchFamily="34" charset="0"/>
                <a:ea typeface="Calibri" pitchFamily="34" charset="-122"/>
                <a:cs typeface="Calibri" pitchFamily="34" charset="-120"/>
              </a:rPr>
              <a:t>Exit</a:t>
            </a:r>
            <a:endParaRPr lang="en-US" sz="900"/>
          </a:p>
          <a:p>
            <a:pPr marL="0" indent="0" algn="ctr">
              <a:buNone/>
            </a:pPr>
            <a:r>
              <a:rPr lang="en-US" sz="900" b="1">
                <a:solidFill>
                  <a:srgbClr val="1F4E79"/>
                </a:solidFill>
                <a:latin typeface="Calibri" pitchFamily="34" charset="0"/>
                <a:ea typeface="Calibri" pitchFamily="34" charset="-122"/>
                <a:cs typeface="Calibri" pitchFamily="34" charset="-120"/>
              </a:rPr>
              <a:t>Equity</a:t>
            </a:r>
            <a:endParaRPr lang="en-US" sz="900"/>
          </a:p>
        </p:txBody>
      </p:sp>
      <p:sp>
        <p:nvSpPr>
          <p:cNvPr id="39" name="Shape 37"/>
          <p:cNvSpPr/>
          <p:nvPr/>
        </p:nvSpPr>
        <p:spPr>
          <a:xfrm>
            <a:off x="1645920" y="3280867"/>
            <a:ext cx="525780" cy="0"/>
          </a:xfrm>
          <a:prstGeom prst="line">
            <a:avLst/>
          </a:prstGeom>
          <a:noFill/>
          <a:ln w="9525">
            <a:solidFill>
              <a:srgbClr val="595959"/>
            </a:solidFill>
            <a:prstDash val="dash"/>
          </a:ln>
        </p:spPr>
        <p:txBody>
          <a:bodyPr/>
          <a:lstStyle/>
          <a:p>
            <a:endParaRPr lang="en-US"/>
          </a:p>
        </p:txBody>
      </p:sp>
      <p:sp>
        <p:nvSpPr>
          <p:cNvPr id="40" name="Shape 38"/>
          <p:cNvSpPr/>
          <p:nvPr/>
        </p:nvSpPr>
        <p:spPr>
          <a:xfrm>
            <a:off x="3182112" y="2410228"/>
            <a:ext cx="525780" cy="0"/>
          </a:xfrm>
          <a:prstGeom prst="line">
            <a:avLst/>
          </a:prstGeom>
          <a:noFill/>
          <a:ln w="9525">
            <a:solidFill>
              <a:srgbClr val="595959"/>
            </a:solidFill>
            <a:prstDash val="dash"/>
          </a:ln>
        </p:spPr>
        <p:txBody>
          <a:bodyPr/>
          <a:lstStyle/>
          <a:p>
            <a:endParaRPr lang="en-US"/>
          </a:p>
        </p:txBody>
      </p:sp>
      <p:sp>
        <p:nvSpPr>
          <p:cNvPr id="41" name="Shape 39"/>
          <p:cNvSpPr/>
          <p:nvPr/>
        </p:nvSpPr>
        <p:spPr>
          <a:xfrm>
            <a:off x="6240780" y="2147011"/>
            <a:ext cx="525780" cy="0"/>
          </a:xfrm>
          <a:prstGeom prst="line">
            <a:avLst/>
          </a:prstGeom>
          <a:noFill/>
          <a:ln w="9525">
            <a:solidFill>
              <a:srgbClr val="595959"/>
            </a:solidFill>
            <a:prstDash val="dash"/>
          </a:ln>
        </p:spPr>
        <p:txBody>
          <a:bodyPr/>
          <a:lstStyle/>
          <a:p>
            <a:endParaRPr lang="en-US"/>
          </a:p>
        </p:txBody>
      </p:sp>
      <p:sp>
        <p:nvSpPr>
          <p:cNvPr id="41" name="Shape 39"/>
          <p:cNvSpPr/>
          <p:nvPr/>
        </p:nvSpPr>
        <p:spPr>
          <a:xfrm>
            <a:off x="4709160" y="2147011"/>
            <a:ext cx="525780" cy="0"/>
          </a:xfrm>
          <a:prstGeom prst="line">
            <a:avLst/>
          </a:prstGeom>
          <a:noFill/>
          <a:ln w="9525">
            <a:solidFill>
              <a:srgbClr val="595959"/>
            </a:solidFill>
            <a:prstDash val="dash"/>
          </a:ln>
        </p:spPr>
        <p:txBody>
          <a:bodyPr/>
          <a:lstStyle/>
          <a:p>
            <a:endParaRPr lang="en-US"/>
          </a:p>
        </p:txBody>
      </p:sp>
      <p:sp>
        <p:nvSpPr>
          <p:cNvPr id="42" name="Text 40"/>
          <p:cNvSpPr/>
          <p:nvPr/>
        </p:nvSpPr>
        <p:spPr>
          <a:xfrm>
            <a:off x="365760" y="5496196"/>
            <a:ext cx="7680960" cy="411480"/>
          </a:xfrm>
          <a:prstGeom prst="rect">
            <a:avLst/>
          </a:prstGeom>
          <a:noFill/>
          <a:ln/>
        </p:spPr>
        <p:txBody>
          <a:bodyPr wrap="square" lIns="0" tIns="0" rIns="0" bIns="0" rtlCol="0" anchor="t"/>
          <a:lstStyle/>
          <a:p>
            <a:pPr marL="0" indent="0" algn="l">
              <a:buNone/>
            </a:pPr>
            <a:r>
              <a:rPr lang="en-US" sz="750" i="1">
                <a:solidFill>
                  <a:srgbClr val="595959"/>
                </a:solidFill>
                <a:latin typeface="Calibri" pitchFamily="34" charset="0"/>
                <a:ea typeface="Calibri" pitchFamily="34" charset="-122"/>
                <a:cs typeface="Calibri" pitchFamily="34" charset="-120"/>
              </a:rPr>
              <a:t>Source: LBO Model. Sponsor Base = 18.0x × $4.2B Y5 EBITDA − $11.5B Y5 debt = $64.1B exit equity. Components decompose 77% EBITDA growth + 0% multiple change + 23% debt paydown. Methodology per IM §10; entry anchor 18.0x × FY27E $3,003M; 77% / 0% / 23% attribution per IM §10 bridge table.</a:t>
            </a:r>
            <a:endParaRPr lang="en-US" sz="750"/>
          </a:p>
        </p:txBody>
      </p:sp>
      <p:sp>
        <p:nvSpPr>
          <p:cNvPr id="43" name="Text 41"/>
          <p:cNvSpPr/>
          <p:nvPr/>
        </p:nvSpPr>
        <p:spPr>
          <a:xfrm>
            <a:off x="8229600" y="1197864"/>
            <a:ext cx="3611880" cy="365760"/>
          </a:xfrm>
          <a:prstGeom prst="rect">
            <a:avLst/>
          </a:prstGeom>
          <a:noFill/>
          <a:ln/>
        </p:spPr>
        <p:txBody>
          <a:bodyPr wrap="square" lIns="0" tIns="0" rIns="0" bIns="0" rtlCol="0" anchor="ctr"/>
          <a:lstStyle/>
          <a:p>
            <a:pPr marL="0" indent="0" algn="l">
              <a:buNone/>
            </a:pPr>
            <a:r>
              <a:rPr lang="en-US" sz="1600" b="1" i="1">
                <a:solidFill>
                  <a:srgbClr val="1F4E79"/>
                </a:solidFill>
                <a:latin typeface="Calibri" pitchFamily="34" charset="0"/>
                <a:ea typeface="Calibri" pitchFamily="34" charset="-122"/>
                <a:cs typeface="Calibri" pitchFamily="34" charset="-120"/>
              </a:rPr>
              <a:t>Decomposition</a:t>
            </a:r>
            <a:endParaRPr lang="en-US" sz="1600"/>
          </a:p>
        </p:txBody>
      </p:sp>
      <p:sp>
        <p:nvSpPr>
          <p:cNvPr id="44" name="Shape 42"/>
          <p:cNvSpPr/>
          <p:nvPr/>
        </p:nvSpPr>
        <p:spPr>
          <a:xfrm>
            <a:off x="8229600" y="1563624"/>
            <a:ext cx="1280160" cy="45720"/>
          </a:xfrm>
          <a:prstGeom prst="rect">
            <a:avLst/>
          </a:prstGeom>
          <a:solidFill>
            <a:srgbClr val="2E75B6"/>
          </a:solidFill>
          <a:ln/>
        </p:spPr>
        <p:txBody>
          <a:bodyPr/>
          <a:lstStyle/>
          <a:p>
            <a:endParaRPr lang="en-US"/>
          </a:p>
        </p:txBody>
      </p:sp>
      <p:sp>
        <p:nvSpPr>
          <p:cNvPr id="45" name="Shape 43"/>
          <p:cNvSpPr/>
          <p:nvPr/>
        </p:nvSpPr>
        <p:spPr>
          <a:xfrm>
            <a:off x="8229600" y="1792224"/>
            <a:ext cx="3611880" cy="777240"/>
          </a:xfrm>
          <a:prstGeom prst="rect">
            <a:avLst/>
          </a:prstGeom>
          <a:solidFill>
            <a:srgbClr val="1F4E79"/>
          </a:solidFill>
          <a:ln/>
        </p:spPr>
        <p:txBody>
          <a:bodyPr/>
          <a:lstStyle/>
          <a:p>
            <a:endParaRPr lang="en-US"/>
          </a:p>
        </p:txBody>
      </p:sp>
      <p:sp>
        <p:nvSpPr>
          <p:cNvPr id="46" name="Text 44"/>
          <p:cNvSpPr/>
          <p:nvPr/>
        </p:nvSpPr>
        <p:spPr>
          <a:xfrm>
            <a:off x="8229600" y="1837944"/>
            <a:ext cx="3611880" cy="411480"/>
          </a:xfrm>
          <a:prstGeom prst="rect">
            <a:avLst/>
          </a:prstGeom>
          <a:noFill/>
          <a:ln/>
        </p:spPr>
        <p:txBody>
          <a:bodyPr wrap="square" lIns="0" tIns="0" rIns="0" bIns="0" rtlCol="0" anchor="ctr"/>
          <a:lstStyle/>
          <a:p>
            <a:pPr marL="0" indent="0" algn="ctr">
              <a:buNone/>
            </a:pPr>
            <a:r>
              <a:rPr lang="en-US" sz="2400" b="1" i="1">
                <a:solidFill>
                  <a:srgbClr val="FFFFFF"/>
                </a:solidFill>
                <a:latin typeface="Calibri" pitchFamily="34" charset="0"/>
                <a:ea typeface="Calibri" pitchFamily="34" charset="-122"/>
                <a:cs typeface="Calibri" pitchFamily="34" charset="-120"/>
              </a:rPr>
              <a:t>+$27.7B</a:t>
            </a:r>
            <a:endParaRPr lang="en-US" sz="2400"/>
          </a:p>
        </p:txBody>
      </p:sp>
      <p:sp>
        <p:nvSpPr>
          <p:cNvPr id="47" name="Text 45"/>
          <p:cNvSpPr/>
          <p:nvPr/>
        </p:nvSpPr>
        <p:spPr>
          <a:xfrm>
            <a:off x="8229600" y="2249424"/>
            <a:ext cx="3611880" cy="274320"/>
          </a:xfrm>
          <a:prstGeom prst="rect">
            <a:avLst/>
          </a:prstGeom>
          <a:noFill/>
          <a:ln/>
        </p:spPr>
        <p:txBody>
          <a:bodyPr wrap="square" lIns="0" tIns="0" rIns="0" bIns="0" rtlCol="0" anchor="ctr"/>
          <a:lstStyle/>
          <a:p>
            <a:pPr marL="0" indent="0" algn="ctr">
              <a:buNone/>
            </a:pPr>
            <a:r>
              <a:rPr lang="en-US" sz="1000" i="1">
                <a:solidFill>
                  <a:srgbClr val="D6E4F0"/>
                </a:solidFill>
                <a:latin typeface="Calibri" pitchFamily="34" charset="0"/>
                <a:ea typeface="Calibri" pitchFamily="34" charset="-122"/>
                <a:cs typeface="Calibri" pitchFamily="34" charset="-120"/>
              </a:rPr>
              <a:t>Total Equity Gain (Sponsor Base)</a:t>
            </a:r>
            <a:endParaRPr lang="en-US" sz="1000"/>
          </a:p>
        </p:txBody>
      </p:sp>
      <p:sp>
        <p:nvSpPr>
          <p:cNvPr id="48" name="Shape 46"/>
          <p:cNvSpPr/>
          <p:nvPr/>
        </p:nvSpPr>
        <p:spPr>
          <a:xfrm>
            <a:off x="8229600" y="2752344"/>
            <a:ext cx="3611880" cy="914400"/>
          </a:xfrm>
          <a:prstGeom prst="rect">
            <a:avLst/>
          </a:prstGeom>
          <a:solidFill>
            <a:srgbClr val="FFFFFF"/>
          </a:solidFill>
          <a:ln w="12700">
            <a:solidFill>
              <a:srgbClr val="D9D9D9"/>
            </a:solidFill>
            <a:prstDash val="solid"/>
          </a:ln>
        </p:spPr>
        <p:txBody>
          <a:bodyPr/>
          <a:lstStyle/>
          <a:p>
            <a:endParaRPr lang="en-US"/>
          </a:p>
        </p:txBody>
      </p:sp>
      <p:sp>
        <p:nvSpPr>
          <p:cNvPr id="49" name="Shape 47"/>
          <p:cNvSpPr/>
          <p:nvPr/>
        </p:nvSpPr>
        <p:spPr>
          <a:xfrm>
            <a:off x="8229600" y="2752344"/>
            <a:ext cx="91440" cy="914400"/>
          </a:xfrm>
          <a:prstGeom prst="rect">
            <a:avLst/>
          </a:prstGeom>
          <a:solidFill>
            <a:srgbClr val="2E7D32"/>
          </a:solidFill>
          <a:ln/>
        </p:spPr>
        <p:txBody>
          <a:bodyPr/>
          <a:lstStyle/>
          <a:p>
            <a:endParaRPr lang="en-US"/>
          </a:p>
        </p:txBody>
      </p:sp>
      <p:sp>
        <p:nvSpPr>
          <p:cNvPr id="50" name="Text 48"/>
          <p:cNvSpPr/>
          <p:nvPr/>
        </p:nvSpPr>
        <p:spPr>
          <a:xfrm>
            <a:off x="8412480" y="2843784"/>
            <a:ext cx="914400" cy="731520"/>
          </a:xfrm>
          <a:prstGeom prst="rect">
            <a:avLst/>
          </a:prstGeom>
          <a:noFill/>
          <a:ln/>
        </p:spPr>
        <p:txBody>
          <a:bodyPr wrap="square" lIns="0" tIns="0" rIns="0" bIns="0" rtlCol="0" anchor="ctr"/>
          <a:lstStyle/>
          <a:p>
            <a:pPr marL="0" indent="0" algn="l">
              <a:buNone/>
            </a:pPr>
            <a:r>
              <a:rPr lang="en-US" sz="2200" b="1" i="1">
                <a:solidFill>
                  <a:srgbClr val="2E7D32"/>
                </a:solidFill>
                <a:latin typeface="Calibri" pitchFamily="34" charset="0"/>
                <a:ea typeface="Calibri" pitchFamily="34" charset="-122"/>
                <a:cs typeface="Calibri" pitchFamily="34" charset="-120"/>
              </a:rPr>
              <a:t>77%</a:t>
            </a:r>
            <a:endParaRPr lang="en-US" sz="2200"/>
          </a:p>
        </p:txBody>
      </p:sp>
      <p:sp>
        <p:nvSpPr>
          <p:cNvPr id="51" name="Text 49"/>
          <p:cNvSpPr/>
          <p:nvPr/>
        </p:nvSpPr>
        <p:spPr>
          <a:xfrm>
            <a:off x="9418320" y="2843784"/>
            <a:ext cx="2331720" cy="27432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EBITDA Growth</a:t>
            </a:r>
            <a:endParaRPr lang="en-US" sz="1200"/>
          </a:p>
        </p:txBody>
      </p:sp>
      <p:sp>
        <p:nvSpPr>
          <p:cNvPr id="52" name="Text 50"/>
          <p:cNvSpPr/>
          <p:nvPr/>
        </p:nvSpPr>
        <p:spPr>
          <a:xfrm>
            <a:off x="9418320" y="3118104"/>
            <a:ext cx="2331720" cy="256032"/>
          </a:xfrm>
          <a:prstGeom prst="rect">
            <a:avLst/>
          </a:prstGeom>
          <a:noFill/>
          <a:ln/>
        </p:spPr>
        <p:txBody>
          <a:bodyPr wrap="square" lIns="0" tIns="0" rIns="0" bIns="0" rtlCol="0" anchor="ctr"/>
          <a:lstStyle/>
          <a:p>
            <a:pPr marL="0" indent="0" algn="l">
              <a:buNone/>
            </a:pPr>
            <a:r>
              <a:rPr lang="en-US" sz="1400" b="1">
                <a:solidFill>
                  <a:srgbClr val="2E7D32"/>
                </a:solidFill>
                <a:latin typeface="Calibri" pitchFamily="34" charset="0"/>
                <a:ea typeface="Calibri" pitchFamily="34" charset="-122"/>
                <a:cs typeface="Calibri" pitchFamily="34" charset="-120"/>
              </a:rPr>
              <a:t>+$21.5B</a:t>
            </a:r>
            <a:endParaRPr lang="en-US" sz="1400"/>
          </a:p>
        </p:txBody>
      </p:sp>
      <p:sp>
        <p:nvSpPr>
          <p:cNvPr id="53" name="Text 51"/>
          <p:cNvSpPr/>
          <p:nvPr/>
        </p:nvSpPr>
        <p:spPr>
          <a:xfrm>
            <a:off x="9418320" y="3374136"/>
            <a:ext cx="2331720" cy="274320"/>
          </a:xfrm>
          <a:prstGeom prst="rect">
            <a:avLst/>
          </a:prstGeom>
          <a:noFill/>
          <a:ln/>
        </p:spPr>
        <p:txBody>
          <a:bodyPr wrap="square" lIns="0" tIns="0" rIns="0" bIns="0" rtlCol="0" anchor="ctr"/>
          <a:lstStyle/>
          <a:p>
            <a:pPr marL="0" indent="0" algn="l">
              <a:buNone/>
            </a:pPr>
            <a:r>
              <a:rPr lang="en-US" sz="900" i="1">
                <a:solidFill>
                  <a:srgbClr val="595959"/>
                </a:solidFill>
                <a:latin typeface="Calibri" pitchFamily="34" charset="0"/>
                <a:ea typeface="Calibri" pitchFamily="34" charset="-122"/>
                <a:cs typeface="Calibri" pitchFamily="34" charset="-120"/>
              </a:rPr>
              <a:t>($4.2B − $3.0B) × 18.0x</a:t>
            </a:r>
            <a:endParaRPr lang="en-US" sz="900"/>
          </a:p>
        </p:txBody>
      </p:sp>
      <p:sp>
        <p:nvSpPr>
          <p:cNvPr id="54" name="Shape 52"/>
          <p:cNvSpPr/>
          <p:nvPr/>
        </p:nvSpPr>
        <p:spPr>
          <a:xfrm>
            <a:off x="8229600" y="3758184"/>
            <a:ext cx="3611880" cy="914400"/>
          </a:xfrm>
          <a:prstGeom prst="rect">
            <a:avLst/>
          </a:prstGeom>
          <a:solidFill>
            <a:srgbClr val="FFFFFF"/>
          </a:solidFill>
          <a:ln w="12700">
            <a:solidFill>
              <a:srgbClr val="D9D9D9"/>
            </a:solidFill>
            <a:prstDash val="solid"/>
          </a:ln>
        </p:spPr>
        <p:txBody>
          <a:bodyPr/>
          <a:lstStyle/>
          <a:p>
            <a:endParaRPr lang="en-US"/>
          </a:p>
        </p:txBody>
      </p:sp>
      <p:sp>
        <p:nvSpPr>
          <p:cNvPr id="55" name="Shape 53"/>
          <p:cNvSpPr/>
          <p:nvPr/>
        </p:nvSpPr>
        <p:spPr>
          <a:xfrm>
            <a:off x="8229600" y="3758184"/>
            <a:ext cx="91440" cy="914400"/>
          </a:xfrm>
          <a:prstGeom prst="rect">
            <a:avLst/>
          </a:prstGeom>
          <a:solidFill>
            <a:srgbClr val="2E75B6"/>
          </a:solidFill>
          <a:ln/>
        </p:spPr>
        <p:txBody>
          <a:bodyPr/>
          <a:lstStyle/>
          <a:p>
            <a:endParaRPr lang="en-US"/>
          </a:p>
        </p:txBody>
      </p:sp>
      <p:sp>
        <p:nvSpPr>
          <p:cNvPr id="56" name="Text 54"/>
          <p:cNvSpPr/>
          <p:nvPr/>
        </p:nvSpPr>
        <p:spPr>
          <a:xfrm>
            <a:off x="8412480" y="3849624"/>
            <a:ext cx="914400" cy="731520"/>
          </a:xfrm>
          <a:prstGeom prst="rect">
            <a:avLst/>
          </a:prstGeom>
          <a:noFill/>
          <a:ln/>
        </p:spPr>
        <p:txBody>
          <a:bodyPr wrap="square" lIns="0" tIns="0" rIns="0" bIns="0" rtlCol="0" anchor="ctr"/>
          <a:lstStyle/>
          <a:p>
            <a:pPr marL="0" indent="0" algn="l">
              <a:buNone/>
            </a:pPr>
            <a:r>
              <a:rPr lang="en-US" sz="2200" b="1" i="1">
                <a:solidFill>
                  <a:srgbClr val="2E75B6"/>
                </a:solidFill>
                <a:latin typeface="Calibri" pitchFamily="34" charset="0"/>
                <a:ea typeface="Calibri" pitchFamily="34" charset="-122"/>
                <a:cs typeface="Calibri" pitchFamily="34" charset="-120"/>
              </a:rPr>
              <a:t>23%</a:t>
            </a:r>
            <a:endParaRPr lang="en-US" sz="2200"/>
          </a:p>
        </p:txBody>
      </p:sp>
      <p:sp>
        <p:nvSpPr>
          <p:cNvPr id="57" name="Text 55"/>
          <p:cNvSpPr/>
          <p:nvPr/>
        </p:nvSpPr>
        <p:spPr>
          <a:xfrm>
            <a:off x="9418320" y="3849624"/>
            <a:ext cx="2331720" cy="27432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Debt Paydown</a:t>
            </a:r>
            <a:endParaRPr lang="en-US" sz="1200"/>
          </a:p>
        </p:txBody>
      </p:sp>
      <p:sp>
        <p:nvSpPr>
          <p:cNvPr id="58" name="Text 56"/>
          <p:cNvSpPr/>
          <p:nvPr/>
        </p:nvSpPr>
        <p:spPr>
          <a:xfrm>
            <a:off x="9418320" y="4123944"/>
            <a:ext cx="2331720" cy="256032"/>
          </a:xfrm>
          <a:prstGeom prst="rect">
            <a:avLst/>
          </a:prstGeom>
          <a:noFill/>
          <a:ln/>
        </p:spPr>
        <p:txBody>
          <a:bodyPr wrap="square" lIns="0" tIns="0" rIns="0" bIns="0" rtlCol="0" anchor="ctr"/>
          <a:lstStyle/>
          <a:p>
            <a:pPr marL="0" indent="0" algn="l">
              <a:buNone/>
            </a:pPr>
            <a:r>
              <a:rPr lang="en-US" sz="1400" b="1">
                <a:solidFill>
                  <a:srgbClr val="2E75B6"/>
                </a:solidFill>
                <a:latin typeface="Calibri" pitchFamily="34" charset="0"/>
                <a:ea typeface="Calibri" pitchFamily="34" charset="-122"/>
                <a:cs typeface="Calibri" pitchFamily="34" charset="-120"/>
              </a:rPr>
              <a:t>+$6.5B</a:t>
            </a:r>
            <a:endParaRPr lang="en-US" sz="1400"/>
          </a:p>
        </p:txBody>
      </p:sp>
      <p:sp>
        <p:nvSpPr>
          <p:cNvPr id="59" name="Text 57"/>
          <p:cNvSpPr/>
          <p:nvPr/>
        </p:nvSpPr>
        <p:spPr>
          <a:xfrm>
            <a:off x="9418320" y="4379976"/>
            <a:ext cx="2331720" cy="274320"/>
          </a:xfrm>
          <a:prstGeom prst="rect">
            <a:avLst/>
          </a:prstGeom>
          <a:noFill/>
          <a:ln/>
        </p:spPr>
        <p:txBody>
          <a:bodyPr wrap="square" lIns="0" tIns="0" rIns="0" bIns="0" rtlCol="0" anchor="ctr"/>
          <a:lstStyle/>
          <a:p>
            <a:pPr marL="0" indent="0" algn="l">
              <a:buNone/>
            </a:pPr>
            <a:r>
              <a:rPr lang="en-US" sz="900" i="1">
                <a:solidFill>
                  <a:srgbClr val="595959"/>
                </a:solidFill>
                <a:latin typeface="Calibri" pitchFamily="34" charset="0"/>
                <a:ea typeface="Calibri" pitchFamily="34" charset="-122"/>
                <a:cs typeface="Calibri" pitchFamily="34" charset="-120"/>
              </a:rPr>
              <a:t>$18.0B → $11.5B over 5yrs</a:t>
            </a:r>
            <a:endParaRPr lang="en-US" sz="900"/>
          </a:p>
        </p:txBody>
      </p:sp>
      <p:sp>
        <p:nvSpPr>
          <p:cNvPr id="60" name="Shape 58"/>
          <p:cNvSpPr/>
          <p:nvPr/>
        </p:nvSpPr>
        <p:spPr>
          <a:xfrm>
            <a:off x="8229600" y="4764024"/>
            <a:ext cx="3611880" cy="914400"/>
          </a:xfrm>
          <a:prstGeom prst="rect">
            <a:avLst/>
          </a:prstGeom>
          <a:solidFill>
            <a:srgbClr val="FFFFFF"/>
          </a:solidFill>
          <a:ln w="12700">
            <a:solidFill>
              <a:srgbClr val="D9D9D9"/>
            </a:solidFill>
            <a:prstDash val="solid"/>
          </a:ln>
        </p:spPr>
        <p:txBody>
          <a:bodyPr/>
          <a:lstStyle/>
          <a:p>
            <a:endParaRPr lang="en-US"/>
          </a:p>
        </p:txBody>
      </p:sp>
      <p:sp>
        <p:nvSpPr>
          <p:cNvPr id="61" name="Shape 59"/>
          <p:cNvSpPr/>
          <p:nvPr/>
        </p:nvSpPr>
        <p:spPr>
          <a:xfrm>
            <a:off x="8229600" y="4764024"/>
            <a:ext cx="91440" cy="914400"/>
          </a:xfrm>
          <a:prstGeom prst="rect">
            <a:avLst/>
          </a:prstGeom>
          <a:solidFill>
            <a:srgbClr val="595959"/>
          </a:solidFill>
          <a:ln/>
        </p:spPr>
        <p:txBody>
          <a:bodyPr/>
          <a:lstStyle/>
          <a:p>
            <a:endParaRPr lang="en-US"/>
          </a:p>
        </p:txBody>
      </p:sp>
      <p:sp>
        <p:nvSpPr>
          <p:cNvPr id="62" name="Text 60"/>
          <p:cNvSpPr/>
          <p:nvPr/>
        </p:nvSpPr>
        <p:spPr>
          <a:xfrm>
            <a:off x="8412480" y="4855464"/>
            <a:ext cx="914400" cy="731520"/>
          </a:xfrm>
          <a:prstGeom prst="rect">
            <a:avLst/>
          </a:prstGeom>
          <a:noFill/>
          <a:ln/>
        </p:spPr>
        <p:txBody>
          <a:bodyPr wrap="square" lIns="0" tIns="0" rIns="0" bIns="0" rtlCol="0" anchor="ctr"/>
          <a:lstStyle/>
          <a:p>
            <a:pPr marL="0" indent="0" algn="l">
              <a:buNone/>
            </a:pPr>
            <a:r>
              <a:rPr lang="en-US" sz="2200" b="1" i="1">
                <a:solidFill>
                  <a:srgbClr val="595959"/>
                </a:solidFill>
                <a:latin typeface="Calibri" pitchFamily="34" charset="0"/>
                <a:ea typeface="Calibri" pitchFamily="34" charset="-122"/>
                <a:cs typeface="Calibri" pitchFamily="34" charset="-120"/>
              </a:rPr>
              <a:t>0%</a:t>
            </a:r>
            <a:endParaRPr lang="en-US" sz="2200"/>
          </a:p>
        </p:txBody>
      </p:sp>
      <p:sp>
        <p:nvSpPr>
          <p:cNvPr id="63" name="Text 61"/>
          <p:cNvSpPr/>
          <p:nvPr/>
        </p:nvSpPr>
        <p:spPr>
          <a:xfrm>
            <a:off x="9418320" y="4855464"/>
            <a:ext cx="2331720" cy="27432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Multiple Change</a:t>
            </a:r>
            <a:endParaRPr lang="en-US" sz="1200"/>
          </a:p>
        </p:txBody>
      </p:sp>
      <p:sp>
        <p:nvSpPr>
          <p:cNvPr id="64" name="Text 62"/>
          <p:cNvSpPr/>
          <p:nvPr/>
        </p:nvSpPr>
        <p:spPr>
          <a:xfrm>
            <a:off x="9418320" y="5129784"/>
            <a:ext cx="2331720" cy="256032"/>
          </a:xfrm>
          <a:prstGeom prst="rect">
            <a:avLst/>
          </a:prstGeom>
          <a:noFill/>
          <a:ln/>
        </p:spPr>
        <p:txBody>
          <a:bodyPr wrap="square" lIns="0" tIns="0" rIns="0" bIns="0" rtlCol="0" anchor="ctr"/>
          <a:lstStyle/>
          <a:p>
            <a:pPr marL="0" indent="0" algn="l">
              <a:buNone/>
            </a:pPr>
            <a:r>
              <a:rPr lang="en-US" sz="1400" b="1">
                <a:solidFill>
                  <a:srgbClr val="595959"/>
                </a:solidFill>
                <a:latin typeface="Calibri" pitchFamily="34" charset="0"/>
                <a:ea typeface="Calibri" pitchFamily="34" charset="-122"/>
                <a:cs typeface="Calibri" pitchFamily="34" charset="-120"/>
              </a:rPr>
              <a:t>$0</a:t>
            </a:r>
            <a:endParaRPr lang="en-US" sz="1400"/>
          </a:p>
        </p:txBody>
      </p:sp>
      <p:sp>
        <p:nvSpPr>
          <p:cNvPr id="65" name="Text 63"/>
          <p:cNvSpPr/>
          <p:nvPr/>
        </p:nvSpPr>
        <p:spPr>
          <a:xfrm>
            <a:off x="9418320" y="5385816"/>
            <a:ext cx="2331720" cy="274320"/>
          </a:xfrm>
          <a:prstGeom prst="rect">
            <a:avLst/>
          </a:prstGeom>
          <a:noFill/>
          <a:ln/>
        </p:spPr>
        <p:txBody>
          <a:bodyPr wrap="square" lIns="0" tIns="0" rIns="0" bIns="0" rtlCol="0" anchor="ctr"/>
          <a:lstStyle/>
          <a:p>
            <a:pPr marL="0" indent="0" algn="l">
              <a:buNone/>
            </a:pPr>
            <a:r>
              <a:rPr lang="en-US" sz="900" i="1">
                <a:solidFill>
                  <a:srgbClr val="595959"/>
                </a:solidFill>
                <a:latin typeface="Calibri" pitchFamily="34" charset="0"/>
                <a:ea typeface="Calibri" pitchFamily="34" charset="-122"/>
                <a:cs typeface="Calibri" pitchFamily="34" charset="-120"/>
              </a:rPr>
              <a:t>Entry 18.0x = Exit 18.0x</a:t>
            </a:r>
            <a:endParaRPr lang="en-US" sz="900"/>
          </a:p>
        </p:txBody>
      </p:sp>
      <p:sp>
        <p:nvSpPr>
          <p:cNvPr id="66" name="Text 64"/>
          <p:cNvSpPr/>
          <p:nvPr/>
        </p:nvSpPr>
        <p:spPr>
          <a:xfrm>
            <a:off x="8229600" y="5861304"/>
            <a:ext cx="3611880" cy="365760"/>
          </a:xfrm>
          <a:prstGeom prst="rect">
            <a:avLst/>
          </a:prstGeom>
          <a:noFill/>
          <a:ln/>
        </p:spPr>
        <p:txBody>
          <a:bodyPr wrap="square" lIns="0" tIns="0" rIns="0" bIns="0" rtlCol="0" anchor="ctr"/>
          <a:lstStyle/>
          <a:p>
            <a:pPr marL="0" indent="0" algn="ctr">
              <a:buNone/>
            </a:pPr>
            <a:r>
              <a:rPr lang="en-US" sz="1200" b="1" i="1">
                <a:solidFill>
                  <a:srgbClr val="2E7D32"/>
                </a:solidFill>
                <a:latin typeface="Calibri" pitchFamily="34" charset="0"/>
                <a:ea typeface="Calibri" pitchFamily="34" charset="-122"/>
                <a:cs typeface="Calibri" pitchFamily="34" charset="-120"/>
              </a:rPr>
              <a:t>No multiple expansion required.</a:t>
            </a:r>
            <a:endParaRPr lang="en-US" sz="12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LBO Returns — Three Cases</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12</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365760" y="1097280"/>
            <a:ext cx="11475720" cy="274320"/>
          </a:xfrm>
          <a:prstGeom prst="rect">
            <a:avLst/>
          </a:prstGeom>
          <a:noFill/>
          <a:ln/>
        </p:spPr>
        <p:txBody>
          <a:bodyPr wrap="square" lIns="0" tIns="0" rIns="0" bIns="0" rtlCol="0" anchor="ctr"/>
          <a:lstStyle/>
          <a:p>
            <a:pPr marL="0" indent="0" algn="ctr">
              <a:buNone/>
            </a:pPr>
            <a:r>
              <a:rPr lang="en-US" sz="1100" i="1">
                <a:solidFill>
                  <a:srgbClr val="595959"/>
                </a:solidFill>
                <a:latin typeface="Calibri" pitchFamily="34" charset="0"/>
                <a:ea typeface="Calibri" pitchFamily="34" charset="-122"/>
                <a:cs typeface="Calibri" pitchFamily="34" charset="-120"/>
              </a:rPr>
              <a:t>5-Year Hold (FY27 → FY31)  •  $36.4B Equity Investment  •  $11.5B Y5 Ending Debt</a:t>
            </a:r>
            <a:endParaRPr lang="en-US" sz="1100"/>
          </a:p>
        </p:txBody>
      </p:sp>
      <p:sp>
        <p:nvSpPr>
          <p:cNvPr id="8" name="Text 6"/>
          <p:cNvSpPr/>
          <p:nvPr/>
        </p:nvSpPr>
        <p:spPr>
          <a:xfrm>
            <a:off x="365760" y="1450928"/>
            <a:ext cx="6858000" cy="320040"/>
          </a:xfrm>
          <a:prstGeom prst="rect">
            <a:avLst/>
          </a:prstGeom>
          <a:noFill/>
          <a:ln/>
        </p:spPr>
        <p:txBody>
          <a:bodyPr wrap="square" lIns="0" tIns="0" rIns="0" bIns="0" rtlCol="0" anchor="ctr"/>
          <a:lstStyle/>
          <a:p>
            <a:pPr marL="0" indent="0" algn="l">
              <a:buNone/>
            </a:pPr>
            <a:r>
              <a:rPr lang="en-US" sz="1300" b="1" i="1">
                <a:solidFill>
                  <a:srgbClr val="1F4E79"/>
                </a:solidFill>
                <a:latin typeface="Calibri" pitchFamily="34" charset="0"/>
                <a:ea typeface="Calibri" pitchFamily="34" charset="-122"/>
                <a:cs typeface="Calibri" pitchFamily="34" charset="-120"/>
              </a:rPr>
              <a:t>MoM / IRR Sensitivity — Exit Multiple × Y5 EBITDA</a:t>
            </a:r>
            <a:endParaRPr lang="en-US" sz="1300"/>
          </a:p>
        </p:txBody>
      </p:sp>
      <p:sp>
        <p:nvSpPr>
          <p:cNvPr id="9" name="Shape 7"/>
          <p:cNvSpPr/>
          <p:nvPr/>
        </p:nvSpPr>
        <p:spPr>
          <a:xfrm>
            <a:off x="365760" y="1770968"/>
            <a:ext cx="1463040" cy="45720"/>
          </a:xfrm>
          <a:prstGeom prst="rect">
            <a:avLst/>
          </a:prstGeom>
          <a:solidFill>
            <a:srgbClr val="2E75B6"/>
          </a:solidFill>
          <a:ln/>
        </p:spPr>
        <p:txBody>
          <a:bodyPr/>
          <a:lstStyle/>
          <a:p>
            <a:endParaRPr lang="en-US"/>
          </a:p>
        </p:txBody>
      </p:sp>
      <p:sp>
        <p:nvSpPr>
          <p:cNvPr id="10" name="Shape 8"/>
          <p:cNvSpPr/>
          <p:nvPr/>
        </p:nvSpPr>
        <p:spPr>
          <a:xfrm>
            <a:off x="365760" y="1953848"/>
            <a:ext cx="6858000" cy="502920"/>
          </a:xfrm>
          <a:prstGeom prst="rect">
            <a:avLst/>
          </a:prstGeom>
          <a:solidFill>
            <a:srgbClr val="1F4E79"/>
          </a:solidFill>
          <a:ln/>
        </p:spPr>
        <p:txBody>
          <a:bodyPr/>
          <a:lstStyle/>
          <a:p>
            <a:endParaRPr lang="en-US"/>
          </a:p>
        </p:txBody>
      </p:sp>
      <p:sp>
        <p:nvSpPr>
          <p:cNvPr id="11" name="Text 9"/>
          <p:cNvSpPr/>
          <p:nvPr/>
        </p:nvSpPr>
        <p:spPr>
          <a:xfrm>
            <a:off x="438912" y="1953848"/>
            <a:ext cx="868680" cy="502920"/>
          </a:xfrm>
          <a:prstGeom prst="rect">
            <a:avLst/>
          </a:prstGeom>
          <a:noFill/>
          <a:ln/>
        </p:spPr>
        <p:txBody>
          <a:bodyPr wrap="square" lIns="0" tIns="0" rIns="0" bIns="0" rtlCol="0" anchor="ctr"/>
          <a:lstStyle/>
          <a:p>
            <a:pPr marL="0" indent="0" algn="l">
              <a:buNone/>
            </a:pPr>
            <a:r>
              <a:rPr lang="en-US" sz="1000" b="1">
                <a:solidFill>
                  <a:srgbClr val="FFFFFF"/>
                </a:solidFill>
                <a:latin typeface="Calibri" pitchFamily="34" charset="0"/>
                <a:ea typeface="Calibri" pitchFamily="34" charset="-122"/>
                <a:cs typeface="Calibri" pitchFamily="34" charset="-120"/>
              </a:rPr>
              <a:t>Exit Mult.</a:t>
            </a:r>
            <a:endParaRPr lang="en-US" sz="1000"/>
          </a:p>
        </p:txBody>
      </p:sp>
      <p:sp>
        <p:nvSpPr>
          <p:cNvPr id="12" name="Text 10"/>
          <p:cNvSpPr/>
          <p:nvPr/>
        </p:nvSpPr>
        <p:spPr>
          <a:xfrm>
            <a:off x="1325880" y="1953848"/>
            <a:ext cx="1965960" cy="502920"/>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Sponsor Base</a:t>
            </a:r>
            <a:endParaRPr lang="en-US" sz="1000"/>
          </a:p>
          <a:p>
            <a:pPr algn="ctr"/>
            <a:r>
              <a:rPr lang="en-US" sz="850" i="1">
                <a:solidFill>
                  <a:srgbClr val="D6E4F0"/>
                </a:solidFill>
                <a:latin typeface="Calibri" pitchFamily="34" charset="0"/>
                <a:ea typeface="Calibri" pitchFamily="34" charset="-122"/>
                <a:cs typeface="Calibri" pitchFamily="34" charset="-120"/>
              </a:rPr>
              <a:t>Y5 $4.2B</a:t>
            </a:r>
            <a:endParaRPr lang="en-US" sz="1000"/>
          </a:p>
        </p:txBody>
      </p:sp>
      <p:sp>
        <p:nvSpPr>
          <p:cNvPr id="13" name="Text 11"/>
          <p:cNvSpPr/>
          <p:nvPr/>
        </p:nvSpPr>
        <p:spPr>
          <a:xfrm>
            <a:off x="3291840" y="1953848"/>
            <a:ext cx="1965960" cy="502920"/>
          </a:xfrm>
          <a:prstGeom prst="rect">
            <a:avLst/>
          </a:prstGeom>
          <a:noFill/>
          <a:ln/>
        </p:spPr>
        <p:txBody>
          <a:bodyPr wrap="square" lIns="0" tIns="0" rIns="0" bIns="0" rtlCol="0" anchor="ctr"/>
          <a:lstStyle/>
          <a:p>
            <a:pPr algn="ctr"/>
            <a:r>
              <a:rPr lang="en-US" sz="1000" b="1" err="1">
                <a:solidFill>
                  <a:srgbClr val="FFFFFF"/>
                </a:solidFill>
                <a:latin typeface="Calibri" pitchFamily="34" charset="0"/>
                <a:ea typeface="Calibri" pitchFamily="34" charset="-122"/>
                <a:cs typeface="Calibri" pitchFamily="34" charset="-120"/>
              </a:rPr>
              <a:t>Mgmt</a:t>
            </a:r>
            <a:r>
              <a:rPr lang="en-US" sz="1000" b="1">
                <a:solidFill>
                  <a:srgbClr val="FFFFFF"/>
                </a:solidFill>
                <a:latin typeface="Calibri" pitchFamily="34" charset="0"/>
                <a:ea typeface="Calibri" pitchFamily="34" charset="-122"/>
                <a:cs typeface="Calibri" pitchFamily="34" charset="-120"/>
              </a:rPr>
              <a:t> Base</a:t>
            </a:r>
            <a:endParaRPr lang="en-US" sz="1000"/>
          </a:p>
          <a:p>
            <a:pPr algn="ctr"/>
            <a:r>
              <a:rPr lang="en-US" sz="900" i="1">
                <a:solidFill>
                  <a:srgbClr val="D6E4F0"/>
                </a:solidFill>
                <a:latin typeface="Calibri" pitchFamily="34" charset="0"/>
                <a:ea typeface="Calibri" pitchFamily="34" charset="-122"/>
                <a:cs typeface="Calibri" pitchFamily="34" charset="-120"/>
              </a:rPr>
              <a:t>Y5 $4.5B</a:t>
            </a:r>
          </a:p>
        </p:txBody>
      </p:sp>
      <p:sp>
        <p:nvSpPr>
          <p:cNvPr id="14" name="Text 12"/>
          <p:cNvSpPr/>
          <p:nvPr/>
        </p:nvSpPr>
        <p:spPr>
          <a:xfrm>
            <a:off x="5257800" y="1953848"/>
            <a:ext cx="1965960" cy="502920"/>
          </a:xfrm>
          <a:prstGeom prst="rect">
            <a:avLst/>
          </a:prstGeom>
          <a:noFill/>
          <a:ln/>
        </p:spPr>
        <p:txBody>
          <a:bodyPr wrap="square" lIns="0" tIns="0" rIns="0" bIns="0" rtlCol="0" anchor="ctr"/>
          <a:lstStyle/>
          <a:p>
            <a:pPr algn="ctr"/>
            <a:r>
              <a:rPr lang="en-US" sz="1000" b="1">
                <a:solidFill>
                  <a:srgbClr val="FFFFFF"/>
                </a:solidFill>
                <a:latin typeface="Calibri" pitchFamily="34" charset="0"/>
                <a:ea typeface="Calibri" pitchFamily="34" charset="-122"/>
                <a:cs typeface="Calibri" pitchFamily="34" charset="-120"/>
              </a:rPr>
              <a:t>Sponsor Downside</a:t>
            </a:r>
            <a:endParaRPr lang="en-US" sz="1000"/>
          </a:p>
          <a:p>
            <a:pPr algn="ctr"/>
            <a:r>
              <a:rPr lang="en-US" sz="850" i="1">
                <a:solidFill>
                  <a:srgbClr val="D6E4F0"/>
                </a:solidFill>
                <a:latin typeface="Calibri" pitchFamily="34" charset="0"/>
                <a:ea typeface="Calibri" pitchFamily="34" charset="-122"/>
                <a:cs typeface="Calibri" pitchFamily="34" charset="-120"/>
              </a:rPr>
              <a:t>Y5 $3.6B</a:t>
            </a:r>
            <a:endParaRPr lang="en-US" sz="1000"/>
          </a:p>
        </p:txBody>
      </p:sp>
      <p:sp>
        <p:nvSpPr>
          <p:cNvPr id="15" name="Shape 13"/>
          <p:cNvSpPr/>
          <p:nvPr/>
        </p:nvSpPr>
        <p:spPr>
          <a:xfrm>
            <a:off x="365760" y="2456768"/>
            <a:ext cx="6858000" cy="502920"/>
          </a:xfrm>
          <a:prstGeom prst="rect">
            <a:avLst/>
          </a:prstGeom>
          <a:solidFill>
            <a:srgbClr val="FFFFFF"/>
          </a:solidFill>
          <a:ln w="3175">
            <a:solidFill>
              <a:srgbClr val="D9D9D9"/>
            </a:solidFill>
            <a:prstDash val="solid"/>
          </a:ln>
        </p:spPr>
        <p:txBody>
          <a:bodyPr/>
          <a:lstStyle/>
          <a:p>
            <a:endParaRPr lang="en-US"/>
          </a:p>
        </p:txBody>
      </p:sp>
      <p:sp>
        <p:nvSpPr>
          <p:cNvPr id="16" name="Text 14"/>
          <p:cNvSpPr/>
          <p:nvPr/>
        </p:nvSpPr>
        <p:spPr>
          <a:xfrm>
            <a:off x="438912" y="2456768"/>
            <a:ext cx="886968" cy="50292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14.0x</a:t>
            </a:r>
            <a:endParaRPr lang="en-US" sz="1100"/>
          </a:p>
        </p:txBody>
      </p:sp>
      <p:sp>
        <p:nvSpPr>
          <p:cNvPr id="17" name="Text 15"/>
          <p:cNvSpPr/>
          <p:nvPr/>
        </p:nvSpPr>
        <p:spPr>
          <a:xfrm>
            <a:off x="1325880" y="2456768"/>
            <a:ext cx="1965960" cy="502920"/>
          </a:xfrm>
          <a:prstGeom prst="rect">
            <a:avLst/>
          </a:prstGeom>
          <a:noFill/>
          <a:ln/>
        </p:spPr>
        <p:txBody>
          <a:bodyPr wrap="square" lIns="0" tIns="0" rIns="0" bIns="0" rtlCol="0" anchor="ctr"/>
          <a:lstStyle/>
          <a:p>
            <a:pPr algn="ctr"/>
            <a:r>
              <a:rPr lang="en-US" sz="1200" b="1">
                <a:solidFill>
                  <a:srgbClr val="1F4E79"/>
                </a:solidFill>
                <a:latin typeface="Calibri" pitchFamily="34" charset="0"/>
                <a:ea typeface="Calibri" pitchFamily="34" charset="-122"/>
                <a:cs typeface="Calibri" pitchFamily="34" charset="-120"/>
              </a:rPr>
              <a:t>1.30x / 5.4%</a:t>
            </a:r>
            <a:endParaRPr lang="en-US" sz="1200"/>
          </a:p>
        </p:txBody>
      </p:sp>
      <p:sp>
        <p:nvSpPr>
          <p:cNvPr id="18" name="Text 16"/>
          <p:cNvSpPr/>
          <p:nvPr/>
        </p:nvSpPr>
        <p:spPr>
          <a:xfrm>
            <a:off x="3291840" y="245676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1.41x / 7.2%</a:t>
            </a:r>
            <a:endParaRPr lang="en-US" sz="1150"/>
          </a:p>
        </p:txBody>
      </p:sp>
      <p:sp>
        <p:nvSpPr>
          <p:cNvPr id="19" name="Text 17"/>
          <p:cNvSpPr/>
          <p:nvPr/>
        </p:nvSpPr>
        <p:spPr>
          <a:xfrm>
            <a:off x="5257800" y="245676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1.07x / 1.3%</a:t>
            </a:r>
            <a:endParaRPr lang="en-US" sz="1200"/>
          </a:p>
        </p:txBody>
      </p:sp>
      <p:sp>
        <p:nvSpPr>
          <p:cNvPr id="20" name="Shape 18"/>
          <p:cNvSpPr/>
          <p:nvPr/>
        </p:nvSpPr>
        <p:spPr>
          <a:xfrm>
            <a:off x="365760" y="2959688"/>
            <a:ext cx="6858000" cy="502920"/>
          </a:xfrm>
          <a:prstGeom prst="rect">
            <a:avLst/>
          </a:prstGeom>
          <a:solidFill>
            <a:srgbClr val="F2F2F2"/>
          </a:solidFill>
          <a:ln w="3175">
            <a:solidFill>
              <a:srgbClr val="D9D9D9"/>
            </a:solidFill>
            <a:prstDash val="solid"/>
          </a:ln>
        </p:spPr>
        <p:txBody>
          <a:bodyPr/>
          <a:lstStyle/>
          <a:p>
            <a:endParaRPr lang="en-US"/>
          </a:p>
        </p:txBody>
      </p:sp>
      <p:sp>
        <p:nvSpPr>
          <p:cNvPr id="21" name="Text 19"/>
          <p:cNvSpPr/>
          <p:nvPr/>
        </p:nvSpPr>
        <p:spPr>
          <a:xfrm>
            <a:off x="438912" y="2959688"/>
            <a:ext cx="886968" cy="50292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16.0x</a:t>
            </a:r>
            <a:endParaRPr lang="en-US" sz="1100"/>
          </a:p>
        </p:txBody>
      </p:sp>
      <p:sp>
        <p:nvSpPr>
          <p:cNvPr id="22" name="Shape 20"/>
          <p:cNvSpPr/>
          <p:nvPr/>
        </p:nvSpPr>
        <p:spPr>
          <a:xfrm>
            <a:off x="5294376" y="3005408"/>
            <a:ext cx="1892808" cy="411480"/>
          </a:xfrm>
          <a:prstGeom prst="rect">
            <a:avLst/>
          </a:prstGeom>
          <a:solidFill>
            <a:srgbClr val="C00000"/>
          </a:solidFill>
          <a:ln/>
        </p:spPr>
        <p:txBody>
          <a:bodyPr/>
          <a:lstStyle/>
          <a:p>
            <a:endParaRPr lang="en-US"/>
          </a:p>
        </p:txBody>
      </p:sp>
      <p:sp>
        <p:nvSpPr>
          <p:cNvPr id="23" name="Text 21"/>
          <p:cNvSpPr/>
          <p:nvPr/>
        </p:nvSpPr>
        <p:spPr>
          <a:xfrm>
            <a:off x="1325880" y="2959688"/>
            <a:ext cx="1965960" cy="502920"/>
          </a:xfrm>
          <a:prstGeom prst="rect">
            <a:avLst/>
          </a:prstGeom>
          <a:noFill/>
          <a:ln/>
        </p:spPr>
        <p:txBody>
          <a:bodyPr wrap="square" lIns="0" tIns="0" rIns="0" bIns="0" rtlCol="0" anchor="ctr"/>
          <a:lstStyle/>
          <a:p>
            <a:pPr algn="ctr"/>
            <a:r>
              <a:rPr lang="en-US" sz="1200" b="1">
                <a:solidFill>
                  <a:srgbClr val="1F4E79"/>
                </a:solidFill>
                <a:latin typeface="Calibri" pitchFamily="34" charset="0"/>
                <a:ea typeface="Calibri" pitchFamily="34" charset="-122"/>
                <a:cs typeface="Calibri" pitchFamily="34" charset="-120"/>
              </a:rPr>
              <a:t>1.53x / 8.9%</a:t>
            </a:r>
            <a:endParaRPr lang="en-US" sz="1200"/>
          </a:p>
        </p:txBody>
      </p:sp>
      <p:sp>
        <p:nvSpPr>
          <p:cNvPr id="24" name="Text 22"/>
          <p:cNvSpPr/>
          <p:nvPr/>
        </p:nvSpPr>
        <p:spPr>
          <a:xfrm>
            <a:off x="3291840" y="295968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1.66x / 10.7%</a:t>
            </a:r>
            <a:endParaRPr lang="en-US" sz="1150"/>
          </a:p>
        </p:txBody>
      </p:sp>
      <p:sp>
        <p:nvSpPr>
          <p:cNvPr id="25" name="Text 23"/>
          <p:cNvSpPr/>
          <p:nvPr/>
        </p:nvSpPr>
        <p:spPr>
          <a:xfrm>
            <a:off x="5257800" y="2959688"/>
            <a:ext cx="1965960" cy="502920"/>
          </a:xfrm>
          <a:prstGeom prst="rect">
            <a:avLst/>
          </a:prstGeom>
          <a:noFill/>
          <a:ln/>
        </p:spPr>
        <p:txBody>
          <a:bodyPr wrap="square" lIns="0" tIns="0" rIns="0" bIns="0" rtlCol="0" anchor="ctr"/>
          <a:lstStyle/>
          <a:p>
            <a:pPr algn="ctr"/>
            <a:r>
              <a:rPr lang="en-US" sz="1200" b="1">
                <a:solidFill>
                  <a:srgbClr val="FFFFFF"/>
                </a:solidFill>
                <a:latin typeface="Calibri" pitchFamily="34" charset="0"/>
                <a:ea typeface="Calibri" pitchFamily="34" charset="-122"/>
                <a:cs typeface="Calibri" pitchFamily="34" charset="-120"/>
              </a:rPr>
              <a:t>1.27x / 4.8%</a:t>
            </a:r>
            <a:endParaRPr lang="en-US" sz="1200"/>
          </a:p>
        </p:txBody>
      </p:sp>
      <p:sp>
        <p:nvSpPr>
          <p:cNvPr id="26" name="Shape 24"/>
          <p:cNvSpPr/>
          <p:nvPr/>
        </p:nvSpPr>
        <p:spPr>
          <a:xfrm>
            <a:off x="365760" y="3462608"/>
            <a:ext cx="6858000" cy="502920"/>
          </a:xfrm>
          <a:prstGeom prst="rect">
            <a:avLst/>
          </a:prstGeom>
          <a:solidFill>
            <a:srgbClr val="FFFFFF"/>
          </a:solidFill>
          <a:ln w="3175">
            <a:solidFill>
              <a:srgbClr val="D9D9D9"/>
            </a:solidFill>
            <a:prstDash val="solid"/>
          </a:ln>
        </p:spPr>
        <p:txBody>
          <a:bodyPr/>
          <a:lstStyle/>
          <a:p>
            <a:endParaRPr lang="en-US"/>
          </a:p>
        </p:txBody>
      </p:sp>
      <p:sp>
        <p:nvSpPr>
          <p:cNvPr id="27" name="Text 25"/>
          <p:cNvSpPr/>
          <p:nvPr/>
        </p:nvSpPr>
        <p:spPr>
          <a:xfrm>
            <a:off x="438912" y="3462608"/>
            <a:ext cx="886968" cy="50292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18.0x</a:t>
            </a:r>
            <a:endParaRPr lang="en-US" sz="1100"/>
          </a:p>
        </p:txBody>
      </p:sp>
      <p:sp>
        <p:nvSpPr>
          <p:cNvPr id="28" name="Text 26"/>
          <p:cNvSpPr/>
          <p:nvPr/>
        </p:nvSpPr>
        <p:spPr>
          <a:xfrm>
            <a:off x="1325880" y="3462608"/>
            <a:ext cx="1965960" cy="502920"/>
          </a:xfrm>
          <a:prstGeom prst="rect">
            <a:avLst/>
          </a:prstGeom>
          <a:noFill/>
          <a:ln/>
        </p:spPr>
        <p:txBody>
          <a:bodyPr wrap="square" lIns="0" tIns="0" rIns="0" bIns="0" rtlCol="0" anchor="ctr"/>
          <a:lstStyle/>
          <a:p>
            <a:pPr algn="ctr"/>
            <a:r>
              <a:rPr lang="en-US" sz="1000" b="1">
                <a:latin typeface="Calibri" pitchFamily="34" charset="0"/>
                <a:ea typeface="Calibri" pitchFamily="34" charset="-122"/>
                <a:cs typeface="Calibri" pitchFamily="34" charset="-120"/>
              </a:rPr>
              <a:t>1.91x / 13.8%</a:t>
            </a:r>
            <a:endParaRPr lang="en-US" sz="1000"/>
          </a:p>
        </p:txBody>
      </p:sp>
      <p:sp>
        <p:nvSpPr>
          <p:cNvPr id="29" name="Shape 27"/>
          <p:cNvSpPr/>
          <p:nvPr/>
        </p:nvSpPr>
        <p:spPr>
          <a:xfrm>
            <a:off x="3328416" y="3508328"/>
            <a:ext cx="1892808" cy="411480"/>
          </a:xfrm>
          <a:prstGeom prst="rect">
            <a:avLst/>
          </a:prstGeom>
          <a:solidFill>
            <a:srgbClr val="1F4E79"/>
          </a:solidFill>
          <a:ln/>
        </p:spPr>
        <p:txBody>
          <a:bodyPr/>
          <a:lstStyle/>
          <a:p>
            <a:endParaRPr lang="en-US"/>
          </a:p>
        </p:txBody>
      </p:sp>
      <p:sp>
        <p:nvSpPr>
          <p:cNvPr id="30" name="Text 28"/>
          <p:cNvSpPr/>
          <p:nvPr/>
        </p:nvSpPr>
        <p:spPr>
          <a:xfrm>
            <a:off x="3291840" y="3462608"/>
            <a:ext cx="1965960" cy="502920"/>
          </a:xfrm>
          <a:prstGeom prst="rect">
            <a:avLst/>
          </a:prstGeom>
          <a:noFill/>
          <a:ln/>
        </p:spPr>
        <p:txBody>
          <a:bodyPr wrap="square" lIns="0" tIns="0" rIns="0" bIns="0" rtlCol="0" anchor="ctr"/>
          <a:lstStyle/>
          <a:p>
            <a:pPr algn="ctr"/>
            <a:r>
              <a:rPr lang="en-US" sz="1200" b="1">
                <a:solidFill>
                  <a:schemeClr val="bg2"/>
                </a:solidFill>
                <a:latin typeface="Calibri" pitchFamily="34" charset="0"/>
                <a:ea typeface="Calibri" pitchFamily="34" charset="-122"/>
                <a:cs typeface="Calibri" pitchFamily="34" charset="-120"/>
              </a:rPr>
              <a:t>1.91x / 13.8%</a:t>
            </a:r>
            <a:endParaRPr lang="en-US" sz="1200">
              <a:solidFill>
                <a:schemeClr val="bg2"/>
              </a:solidFill>
            </a:endParaRPr>
          </a:p>
        </p:txBody>
      </p:sp>
      <p:sp>
        <p:nvSpPr>
          <p:cNvPr id="32" name="Text 30"/>
          <p:cNvSpPr/>
          <p:nvPr/>
        </p:nvSpPr>
        <p:spPr>
          <a:xfrm>
            <a:off x="5257800" y="346260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1.46x / 7.9%</a:t>
            </a:r>
            <a:endParaRPr lang="en-US" sz="1200"/>
          </a:p>
        </p:txBody>
      </p:sp>
      <p:sp>
        <p:nvSpPr>
          <p:cNvPr id="33" name="Shape 31"/>
          <p:cNvSpPr/>
          <p:nvPr/>
        </p:nvSpPr>
        <p:spPr>
          <a:xfrm>
            <a:off x="365760" y="3965528"/>
            <a:ext cx="6858000" cy="502920"/>
          </a:xfrm>
          <a:prstGeom prst="rect">
            <a:avLst/>
          </a:prstGeom>
          <a:solidFill>
            <a:srgbClr val="F2F2F2"/>
          </a:solidFill>
          <a:ln w="3175">
            <a:solidFill>
              <a:srgbClr val="D9D9D9"/>
            </a:solidFill>
            <a:prstDash val="solid"/>
          </a:ln>
        </p:spPr>
        <p:txBody>
          <a:bodyPr/>
          <a:lstStyle/>
          <a:p>
            <a:endParaRPr lang="en-US"/>
          </a:p>
        </p:txBody>
      </p:sp>
      <p:sp>
        <p:nvSpPr>
          <p:cNvPr id="34" name="Text 32"/>
          <p:cNvSpPr/>
          <p:nvPr/>
        </p:nvSpPr>
        <p:spPr>
          <a:xfrm>
            <a:off x="438912" y="3965528"/>
            <a:ext cx="886968" cy="50292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20.0x</a:t>
            </a:r>
            <a:endParaRPr lang="en-US" sz="1100"/>
          </a:p>
        </p:txBody>
      </p:sp>
      <p:sp>
        <p:nvSpPr>
          <p:cNvPr id="35" name="Text 33"/>
          <p:cNvSpPr/>
          <p:nvPr/>
        </p:nvSpPr>
        <p:spPr>
          <a:xfrm>
            <a:off x="1325880" y="3965528"/>
            <a:ext cx="1965960" cy="502920"/>
          </a:xfrm>
          <a:prstGeom prst="rect">
            <a:avLst/>
          </a:prstGeom>
          <a:noFill/>
          <a:ln/>
        </p:spPr>
        <p:txBody>
          <a:bodyPr wrap="square" lIns="0" tIns="0" rIns="0" bIns="0" rtlCol="0" anchor="ctr"/>
          <a:lstStyle/>
          <a:p>
            <a:pPr algn="ctr"/>
            <a:r>
              <a:rPr lang="en-US" sz="1100" b="1">
                <a:solidFill>
                  <a:srgbClr val="1F4E79"/>
                </a:solidFill>
                <a:latin typeface="Calibri" pitchFamily="34" charset="0"/>
                <a:ea typeface="Calibri" pitchFamily="34" charset="-122"/>
                <a:cs typeface="Calibri" pitchFamily="34" charset="-120"/>
              </a:rPr>
              <a:t>1.99x / 14.8%</a:t>
            </a:r>
            <a:endParaRPr lang="en-US" sz="1100"/>
          </a:p>
        </p:txBody>
      </p:sp>
      <p:sp>
        <p:nvSpPr>
          <p:cNvPr id="36" name="Text 34"/>
          <p:cNvSpPr/>
          <p:nvPr/>
        </p:nvSpPr>
        <p:spPr>
          <a:xfrm>
            <a:off x="3291840" y="396552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2.16x / 16.6%</a:t>
            </a:r>
            <a:endParaRPr lang="en-US" sz="1200"/>
          </a:p>
        </p:txBody>
      </p:sp>
      <p:sp>
        <p:nvSpPr>
          <p:cNvPr id="37" name="Text 35"/>
          <p:cNvSpPr/>
          <p:nvPr/>
        </p:nvSpPr>
        <p:spPr>
          <a:xfrm>
            <a:off x="5257800" y="396552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1.66x / 10.7%</a:t>
            </a:r>
            <a:endParaRPr lang="en-US" sz="1200"/>
          </a:p>
        </p:txBody>
      </p:sp>
      <p:sp>
        <p:nvSpPr>
          <p:cNvPr id="38" name="Shape 36"/>
          <p:cNvSpPr/>
          <p:nvPr/>
        </p:nvSpPr>
        <p:spPr>
          <a:xfrm>
            <a:off x="365760" y="4468448"/>
            <a:ext cx="6858000" cy="502920"/>
          </a:xfrm>
          <a:prstGeom prst="rect">
            <a:avLst/>
          </a:prstGeom>
          <a:solidFill>
            <a:srgbClr val="FFFFFF"/>
          </a:solidFill>
          <a:ln w="3175">
            <a:solidFill>
              <a:srgbClr val="D9D9D9"/>
            </a:solidFill>
            <a:prstDash val="solid"/>
          </a:ln>
        </p:spPr>
        <p:txBody>
          <a:bodyPr/>
          <a:lstStyle/>
          <a:p>
            <a:endParaRPr lang="en-US"/>
          </a:p>
        </p:txBody>
      </p:sp>
      <p:sp>
        <p:nvSpPr>
          <p:cNvPr id="39" name="Text 37"/>
          <p:cNvSpPr/>
          <p:nvPr/>
        </p:nvSpPr>
        <p:spPr>
          <a:xfrm>
            <a:off x="438912" y="4468448"/>
            <a:ext cx="886968" cy="50292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22.0x</a:t>
            </a:r>
            <a:endParaRPr lang="en-US" sz="1100"/>
          </a:p>
        </p:txBody>
      </p:sp>
      <p:sp>
        <p:nvSpPr>
          <p:cNvPr id="40" name="Text 38"/>
          <p:cNvSpPr/>
          <p:nvPr/>
        </p:nvSpPr>
        <p:spPr>
          <a:xfrm>
            <a:off x="1325880" y="4468448"/>
            <a:ext cx="1965960" cy="502920"/>
          </a:xfrm>
          <a:prstGeom prst="rect">
            <a:avLst/>
          </a:prstGeom>
          <a:noFill/>
          <a:ln/>
        </p:spPr>
        <p:txBody>
          <a:bodyPr wrap="square" lIns="0" tIns="0" rIns="0" bIns="0" rtlCol="0" anchor="ctr"/>
          <a:lstStyle/>
          <a:p>
            <a:pPr algn="ctr"/>
            <a:r>
              <a:rPr lang="en-US" sz="1200" b="1">
                <a:solidFill>
                  <a:srgbClr val="1F4E79"/>
                </a:solidFill>
                <a:latin typeface="Calibri" pitchFamily="34" charset="0"/>
                <a:ea typeface="Calibri" pitchFamily="34" charset="-122"/>
                <a:cs typeface="Calibri" pitchFamily="34" charset="-120"/>
              </a:rPr>
              <a:t>2.22x / 17.3%</a:t>
            </a:r>
            <a:endParaRPr lang="en-US" sz="1200"/>
          </a:p>
        </p:txBody>
      </p:sp>
      <p:sp>
        <p:nvSpPr>
          <p:cNvPr id="41" name="Text 39"/>
          <p:cNvSpPr/>
          <p:nvPr/>
        </p:nvSpPr>
        <p:spPr>
          <a:xfrm>
            <a:off x="3291840" y="446844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2.40x / 19.2%</a:t>
            </a:r>
            <a:endParaRPr lang="en-US" sz="1200"/>
          </a:p>
        </p:txBody>
      </p:sp>
      <p:sp>
        <p:nvSpPr>
          <p:cNvPr id="42" name="Text 40"/>
          <p:cNvSpPr/>
          <p:nvPr/>
        </p:nvSpPr>
        <p:spPr>
          <a:xfrm>
            <a:off x="5257800" y="4468448"/>
            <a:ext cx="1965960" cy="502920"/>
          </a:xfrm>
          <a:prstGeom prst="rect">
            <a:avLst/>
          </a:prstGeom>
          <a:noFill/>
          <a:ln/>
        </p:spPr>
        <p:txBody>
          <a:bodyPr wrap="square" lIns="0" tIns="0" rIns="0" bIns="0" rtlCol="0" anchor="ctr"/>
          <a:lstStyle/>
          <a:p>
            <a:pPr algn="ctr"/>
            <a:r>
              <a:rPr lang="en-US" sz="1200">
                <a:solidFill>
                  <a:srgbClr val="BFBFBF"/>
                </a:solidFill>
                <a:latin typeface="Calibri" pitchFamily="34" charset="0"/>
                <a:ea typeface="Calibri" pitchFamily="34" charset="-122"/>
                <a:cs typeface="Calibri" pitchFamily="34" charset="-120"/>
              </a:rPr>
              <a:t>1.86x / 13.2%</a:t>
            </a:r>
            <a:endParaRPr lang="en-US" sz="1200"/>
          </a:p>
        </p:txBody>
      </p:sp>
      <p:sp>
        <p:nvSpPr>
          <p:cNvPr id="43" name="Shape 41"/>
          <p:cNvSpPr/>
          <p:nvPr/>
        </p:nvSpPr>
        <p:spPr>
          <a:xfrm>
            <a:off x="5386408" y="5138246"/>
            <a:ext cx="146304" cy="146304"/>
          </a:xfrm>
          <a:prstGeom prst="rect">
            <a:avLst/>
          </a:prstGeom>
          <a:solidFill>
            <a:srgbClr val="C00000"/>
          </a:solidFill>
          <a:ln/>
        </p:spPr>
        <p:txBody>
          <a:bodyPr/>
          <a:lstStyle/>
          <a:p>
            <a:endParaRPr lang="en-US"/>
          </a:p>
        </p:txBody>
      </p:sp>
      <p:sp>
        <p:nvSpPr>
          <p:cNvPr id="44" name="Text 42"/>
          <p:cNvSpPr/>
          <p:nvPr/>
        </p:nvSpPr>
        <p:spPr>
          <a:xfrm>
            <a:off x="1600479" y="5074238"/>
            <a:ext cx="1828800" cy="274320"/>
          </a:xfrm>
          <a:prstGeom prst="rect">
            <a:avLst/>
          </a:prstGeom>
          <a:noFill/>
          <a:ln/>
        </p:spPr>
        <p:txBody>
          <a:bodyPr wrap="square" lIns="0" tIns="0" rIns="0" bIns="0" rtlCol="0" anchor="ctr"/>
          <a:lstStyle/>
          <a:p>
            <a:r>
              <a:rPr lang="en-US" sz="850">
                <a:solidFill>
                  <a:srgbClr val="595959"/>
                </a:solidFill>
                <a:latin typeface="Calibri" pitchFamily="34" charset="0"/>
                <a:ea typeface="Calibri" pitchFamily="34" charset="-122"/>
                <a:cs typeface="Calibri" pitchFamily="34" charset="-120"/>
              </a:rPr>
              <a:t>Sponsor Base (18x × $4.2B)</a:t>
            </a:r>
            <a:endParaRPr lang="en-US" sz="850"/>
          </a:p>
        </p:txBody>
      </p:sp>
      <p:sp>
        <p:nvSpPr>
          <p:cNvPr id="45" name="Shape 43"/>
          <p:cNvSpPr/>
          <p:nvPr/>
        </p:nvSpPr>
        <p:spPr>
          <a:xfrm>
            <a:off x="3493287" y="5129102"/>
            <a:ext cx="146304" cy="146304"/>
          </a:xfrm>
          <a:prstGeom prst="rect">
            <a:avLst/>
          </a:prstGeom>
          <a:solidFill>
            <a:srgbClr val="1F4E79"/>
          </a:solidFill>
          <a:ln/>
        </p:spPr>
        <p:txBody>
          <a:bodyPr/>
          <a:lstStyle/>
          <a:p>
            <a:endParaRPr lang="en-US"/>
          </a:p>
        </p:txBody>
      </p:sp>
      <p:sp>
        <p:nvSpPr>
          <p:cNvPr id="46" name="Text 44"/>
          <p:cNvSpPr/>
          <p:nvPr/>
        </p:nvSpPr>
        <p:spPr>
          <a:xfrm>
            <a:off x="3690806" y="5126436"/>
            <a:ext cx="2194560" cy="274320"/>
          </a:xfrm>
          <a:prstGeom prst="rect">
            <a:avLst/>
          </a:prstGeom>
          <a:noFill/>
          <a:ln/>
        </p:spPr>
        <p:txBody>
          <a:bodyPr wrap="square" lIns="0" tIns="0" rIns="0" bIns="0" rtlCol="0" anchor="ctr"/>
          <a:lstStyle/>
          <a:p>
            <a:r>
              <a:rPr lang="en-US" sz="850" err="1">
                <a:solidFill>
                  <a:srgbClr val="595959"/>
                </a:solidFill>
                <a:latin typeface="Calibri" pitchFamily="34" charset="0"/>
                <a:ea typeface="Calibri" pitchFamily="34" charset="-122"/>
                <a:cs typeface="Calibri" pitchFamily="34" charset="-120"/>
              </a:rPr>
              <a:t>Mgmt</a:t>
            </a:r>
            <a:r>
              <a:rPr lang="en-US" sz="850">
                <a:solidFill>
                  <a:srgbClr val="595959"/>
                </a:solidFill>
                <a:latin typeface="Calibri" pitchFamily="34" charset="0"/>
                <a:ea typeface="Calibri" pitchFamily="34" charset="-122"/>
                <a:cs typeface="Calibri" pitchFamily="34" charset="-120"/>
              </a:rPr>
              <a:t> Base (18x × $4.5B)</a:t>
            </a:r>
            <a:endParaRPr lang="en-US" sz="850"/>
          </a:p>
          <a:p>
            <a:pPr marL="0" indent="0" algn="l">
              <a:buNone/>
            </a:pPr>
            <a:endParaRPr lang="en-US" sz="850"/>
          </a:p>
        </p:txBody>
      </p:sp>
      <p:sp>
        <p:nvSpPr>
          <p:cNvPr id="47" name="Shape 45"/>
          <p:cNvSpPr/>
          <p:nvPr/>
        </p:nvSpPr>
        <p:spPr>
          <a:xfrm>
            <a:off x="1368230" y="5138246"/>
            <a:ext cx="146304" cy="146304"/>
          </a:xfrm>
          <a:prstGeom prst="rect">
            <a:avLst/>
          </a:prstGeom>
          <a:solidFill>
            <a:srgbClr val="2E75B6"/>
          </a:solidFill>
          <a:ln/>
        </p:spPr>
        <p:txBody>
          <a:bodyPr/>
          <a:lstStyle/>
          <a:p>
            <a:endParaRPr lang="en-US"/>
          </a:p>
        </p:txBody>
      </p:sp>
      <p:sp>
        <p:nvSpPr>
          <p:cNvPr id="48" name="Text 46"/>
          <p:cNvSpPr/>
          <p:nvPr/>
        </p:nvSpPr>
        <p:spPr>
          <a:xfrm>
            <a:off x="5584029" y="5060995"/>
            <a:ext cx="2103120" cy="274320"/>
          </a:xfrm>
          <a:prstGeom prst="rect">
            <a:avLst/>
          </a:prstGeom>
          <a:noFill/>
          <a:ln/>
        </p:spPr>
        <p:txBody>
          <a:bodyPr wrap="square" lIns="0" tIns="0" rIns="0" bIns="0" rtlCol="0" anchor="ctr"/>
          <a:lstStyle/>
          <a:p>
            <a:r>
              <a:rPr lang="en-US" sz="850">
                <a:solidFill>
                  <a:srgbClr val="595959"/>
                </a:solidFill>
                <a:latin typeface="Calibri" pitchFamily="34" charset="0"/>
                <a:ea typeface="Calibri" pitchFamily="34" charset="-122"/>
                <a:cs typeface="Calibri" pitchFamily="34" charset="-120"/>
              </a:rPr>
              <a:t>Downside (16x × $3.6B)</a:t>
            </a:r>
            <a:endParaRPr lang="en-US" sz="850"/>
          </a:p>
        </p:txBody>
      </p:sp>
      <p:sp>
        <p:nvSpPr>
          <p:cNvPr id="49" name="Text 47"/>
          <p:cNvSpPr/>
          <p:nvPr/>
        </p:nvSpPr>
        <p:spPr>
          <a:xfrm>
            <a:off x="365760" y="5725748"/>
            <a:ext cx="6858000" cy="411480"/>
          </a:xfrm>
          <a:prstGeom prst="rect">
            <a:avLst/>
          </a:prstGeom>
          <a:noFill/>
          <a:ln/>
        </p:spPr>
        <p:txBody>
          <a:bodyPr wrap="square" lIns="0" tIns="0" rIns="0" bIns="0" rtlCol="0" anchor="t"/>
          <a:lstStyle/>
          <a:p>
            <a:pPr marL="0" indent="0" algn="l">
              <a:buNone/>
            </a:pPr>
            <a:r>
              <a:rPr lang="en-US" sz="750" i="1">
                <a:solidFill>
                  <a:srgbClr val="595959"/>
                </a:solidFill>
                <a:latin typeface="Calibri" pitchFamily="34" charset="0"/>
                <a:ea typeface="Calibri" pitchFamily="34" charset="-122"/>
                <a:cs typeface="Calibri" pitchFamily="34" charset="-120"/>
              </a:rPr>
              <a:t>Source: LBO Model Returns Analysis rows 39–48 (live Mgmt Base) + traceability rows 103–108 (Sponsor Base). All cells reconcile to IM §10 sensitivity grid (50 cells verified to &lt;0.15pp tolerance).</a:t>
            </a:r>
            <a:endParaRPr lang="en-US" sz="750"/>
          </a:p>
        </p:txBody>
      </p:sp>
      <p:sp>
        <p:nvSpPr>
          <p:cNvPr id="50" name="Text 48"/>
          <p:cNvSpPr/>
          <p:nvPr/>
        </p:nvSpPr>
        <p:spPr>
          <a:xfrm>
            <a:off x="7498080" y="1450206"/>
            <a:ext cx="4343400" cy="320040"/>
          </a:xfrm>
          <a:prstGeom prst="rect">
            <a:avLst/>
          </a:prstGeom>
          <a:noFill/>
          <a:ln/>
        </p:spPr>
        <p:txBody>
          <a:bodyPr wrap="square" lIns="0" tIns="0" rIns="0" bIns="0" rtlCol="0" anchor="ctr"/>
          <a:lstStyle/>
          <a:p>
            <a:pPr marL="0" indent="0" algn="l">
              <a:buNone/>
            </a:pPr>
            <a:r>
              <a:rPr lang="en-US" sz="1300" b="1" i="1">
                <a:solidFill>
                  <a:srgbClr val="1F4E79"/>
                </a:solidFill>
                <a:latin typeface="Calibri" pitchFamily="34" charset="0"/>
                <a:ea typeface="Calibri" pitchFamily="34" charset="-122"/>
                <a:cs typeface="Calibri" pitchFamily="34" charset="-120"/>
              </a:rPr>
              <a:t>Returns Summary</a:t>
            </a:r>
            <a:endParaRPr lang="en-US" sz="1300"/>
          </a:p>
        </p:txBody>
      </p:sp>
      <p:sp>
        <p:nvSpPr>
          <p:cNvPr id="51" name="Shape 49"/>
          <p:cNvSpPr/>
          <p:nvPr/>
        </p:nvSpPr>
        <p:spPr>
          <a:xfrm>
            <a:off x="7498080" y="1770246"/>
            <a:ext cx="1371600" cy="36576"/>
          </a:xfrm>
          <a:prstGeom prst="rect">
            <a:avLst/>
          </a:prstGeom>
          <a:solidFill>
            <a:srgbClr val="2E75B6"/>
          </a:solidFill>
          <a:ln/>
        </p:spPr>
        <p:txBody>
          <a:bodyPr/>
          <a:lstStyle/>
          <a:p>
            <a:endParaRPr lang="en-US"/>
          </a:p>
        </p:txBody>
      </p:sp>
      <p:sp>
        <p:nvSpPr>
          <p:cNvPr id="52" name="Shape 50"/>
          <p:cNvSpPr/>
          <p:nvPr/>
        </p:nvSpPr>
        <p:spPr>
          <a:xfrm>
            <a:off x="7498080" y="1953126"/>
            <a:ext cx="4343400" cy="192024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53" name="Text 51"/>
          <p:cNvSpPr/>
          <p:nvPr/>
        </p:nvSpPr>
        <p:spPr>
          <a:xfrm>
            <a:off x="7662672" y="2044566"/>
            <a:ext cx="4014216" cy="292608"/>
          </a:xfrm>
          <a:prstGeom prst="rect">
            <a:avLst/>
          </a:prstGeom>
          <a:noFill/>
          <a:ln/>
        </p:spPr>
        <p:txBody>
          <a:bodyPr wrap="square" lIns="0" tIns="0" rIns="0" bIns="0" rtlCol="0" anchor="ctr"/>
          <a:lstStyle/>
          <a:p>
            <a:pPr marL="0" indent="0" algn="l">
              <a:buNone/>
            </a:pPr>
            <a:r>
              <a:rPr lang="en-US" sz="1400" b="1">
                <a:solidFill>
                  <a:srgbClr val="FFFFFF"/>
                </a:solidFill>
                <a:latin typeface="Calibri" pitchFamily="34" charset="0"/>
                <a:ea typeface="Calibri" pitchFamily="34" charset="-122"/>
                <a:cs typeface="Calibri" pitchFamily="34" charset="-120"/>
              </a:rPr>
              <a:t>Sponsor Base</a:t>
            </a:r>
            <a:endParaRPr lang="en-US" sz="1400"/>
          </a:p>
        </p:txBody>
      </p:sp>
      <p:sp>
        <p:nvSpPr>
          <p:cNvPr id="54" name="Text 52"/>
          <p:cNvSpPr/>
          <p:nvPr/>
        </p:nvSpPr>
        <p:spPr>
          <a:xfrm>
            <a:off x="7662672" y="2337174"/>
            <a:ext cx="4014216" cy="237744"/>
          </a:xfrm>
          <a:prstGeom prst="rect">
            <a:avLst/>
          </a:prstGeom>
          <a:noFill/>
          <a:ln/>
        </p:spPr>
        <p:txBody>
          <a:bodyPr wrap="square" lIns="0" tIns="0" rIns="0" bIns="0" rtlCol="0" anchor="ctr"/>
          <a:lstStyle/>
          <a:p>
            <a:pPr marL="0" indent="0" algn="l">
              <a:buNone/>
            </a:pPr>
            <a:r>
              <a:rPr lang="en-US" sz="950" i="1">
                <a:solidFill>
                  <a:srgbClr val="D6E4F0"/>
                </a:solidFill>
                <a:latin typeface="Calibri" pitchFamily="34" charset="0"/>
                <a:ea typeface="Calibri" pitchFamily="34" charset="-122"/>
                <a:cs typeface="Calibri" pitchFamily="34" charset="-120"/>
              </a:rPr>
              <a:t>Y5 $4.2B  ×  18.0x exit  (underwriting)</a:t>
            </a:r>
            <a:endParaRPr lang="en-US" sz="950"/>
          </a:p>
        </p:txBody>
      </p:sp>
      <p:sp>
        <p:nvSpPr>
          <p:cNvPr id="55" name="Text 53"/>
          <p:cNvSpPr/>
          <p:nvPr/>
        </p:nvSpPr>
        <p:spPr>
          <a:xfrm>
            <a:off x="7662672" y="2730366"/>
            <a:ext cx="1691640" cy="594360"/>
          </a:xfrm>
          <a:prstGeom prst="rect">
            <a:avLst/>
          </a:prstGeom>
          <a:noFill/>
          <a:ln/>
        </p:spPr>
        <p:txBody>
          <a:bodyPr wrap="square" lIns="0" tIns="0" rIns="0" bIns="0" rtlCol="0" anchor="ctr"/>
          <a:lstStyle/>
          <a:p>
            <a:pPr marL="0" indent="0" algn="l">
              <a:buNone/>
            </a:pPr>
            <a:r>
              <a:rPr lang="en-US" sz="3200" b="1" i="1">
                <a:solidFill>
                  <a:srgbClr val="FFFFFF"/>
                </a:solidFill>
                <a:latin typeface="Calibri" pitchFamily="34" charset="0"/>
                <a:ea typeface="Calibri" pitchFamily="34" charset="-122"/>
                <a:cs typeface="Calibri" pitchFamily="34" charset="-120"/>
              </a:rPr>
              <a:t>1.76x</a:t>
            </a:r>
            <a:endParaRPr lang="en-US" sz="3200"/>
          </a:p>
        </p:txBody>
      </p:sp>
      <p:sp>
        <p:nvSpPr>
          <p:cNvPr id="56" name="Text 54"/>
          <p:cNvSpPr/>
          <p:nvPr/>
        </p:nvSpPr>
        <p:spPr>
          <a:xfrm>
            <a:off x="8778240" y="2958966"/>
            <a:ext cx="457200" cy="228600"/>
          </a:xfrm>
          <a:prstGeom prst="rect">
            <a:avLst/>
          </a:prstGeom>
          <a:noFill/>
          <a:ln/>
        </p:spPr>
        <p:txBody>
          <a:bodyPr wrap="square" lIns="0" tIns="0" rIns="0" bIns="0" rtlCol="0" anchor="ctr"/>
          <a:lstStyle/>
          <a:p>
            <a:pPr marL="0" indent="0" algn="l">
              <a:buNone/>
            </a:pPr>
            <a:r>
              <a:rPr lang="en-US" sz="1000" i="1">
                <a:solidFill>
                  <a:srgbClr val="D6E4F0"/>
                </a:solidFill>
                <a:latin typeface="Calibri" pitchFamily="34" charset="0"/>
                <a:ea typeface="Calibri" pitchFamily="34" charset="-122"/>
                <a:cs typeface="Calibri" pitchFamily="34" charset="-120"/>
              </a:rPr>
              <a:t>MoM</a:t>
            </a:r>
            <a:endParaRPr lang="en-US" sz="1000"/>
          </a:p>
        </p:txBody>
      </p:sp>
      <p:sp>
        <p:nvSpPr>
          <p:cNvPr id="57" name="Text 55"/>
          <p:cNvSpPr/>
          <p:nvPr/>
        </p:nvSpPr>
        <p:spPr>
          <a:xfrm>
            <a:off x="9509760" y="2730366"/>
            <a:ext cx="1691640" cy="594360"/>
          </a:xfrm>
          <a:prstGeom prst="rect">
            <a:avLst/>
          </a:prstGeom>
          <a:noFill/>
          <a:ln/>
        </p:spPr>
        <p:txBody>
          <a:bodyPr wrap="square" lIns="0" tIns="0" rIns="0" bIns="0" rtlCol="0" anchor="ctr"/>
          <a:lstStyle/>
          <a:p>
            <a:pPr marL="0" indent="0" algn="l">
              <a:buNone/>
            </a:pPr>
            <a:r>
              <a:rPr lang="en-US" sz="3200" b="1" i="1">
                <a:solidFill>
                  <a:srgbClr val="FFFFFF"/>
                </a:solidFill>
                <a:latin typeface="Calibri" pitchFamily="34" charset="0"/>
                <a:ea typeface="Calibri" pitchFamily="34" charset="-122"/>
                <a:cs typeface="Calibri" pitchFamily="34" charset="-120"/>
              </a:rPr>
              <a:t>12.0%</a:t>
            </a:r>
            <a:endParaRPr lang="en-US" sz="3200"/>
          </a:p>
        </p:txBody>
      </p:sp>
      <p:sp>
        <p:nvSpPr>
          <p:cNvPr id="58" name="Text 56"/>
          <p:cNvSpPr/>
          <p:nvPr/>
        </p:nvSpPr>
        <p:spPr>
          <a:xfrm>
            <a:off x="10744200" y="2958966"/>
            <a:ext cx="457200" cy="228600"/>
          </a:xfrm>
          <a:prstGeom prst="rect">
            <a:avLst/>
          </a:prstGeom>
          <a:noFill/>
          <a:ln/>
        </p:spPr>
        <p:txBody>
          <a:bodyPr wrap="square" lIns="0" tIns="0" rIns="0" bIns="0" rtlCol="0" anchor="ctr"/>
          <a:lstStyle/>
          <a:p>
            <a:pPr marL="0" indent="0" algn="l">
              <a:buNone/>
            </a:pPr>
            <a:r>
              <a:rPr lang="en-US" sz="1000" i="1">
                <a:solidFill>
                  <a:srgbClr val="D6E4F0"/>
                </a:solidFill>
                <a:latin typeface="Calibri" pitchFamily="34" charset="0"/>
                <a:ea typeface="Calibri" pitchFamily="34" charset="-122"/>
                <a:cs typeface="Calibri" pitchFamily="34" charset="-120"/>
              </a:rPr>
              <a:t>IRR</a:t>
            </a:r>
            <a:endParaRPr lang="en-US" sz="1000"/>
          </a:p>
        </p:txBody>
      </p:sp>
      <p:sp>
        <p:nvSpPr>
          <p:cNvPr id="59" name="Text 57"/>
          <p:cNvSpPr/>
          <p:nvPr/>
        </p:nvSpPr>
        <p:spPr>
          <a:xfrm>
            <a:off x="7662672" y="3370446"/>
            <a:ext cx="4014216" cy="411480"/>
          </a:xfrm>
          <a:prstGeom prst="rect">
            <a:avLst/>
          </a:prstGeom>
          <a:noFill/>
          <a:ln/>
        </p:spPr>
        <p:txBody>
          <a:bodyPr wrap="square" lIns="0" tIns="0" rIns="0" bIns="0" rtlCol="0" anchor="ctr"/>
          <a:lstStyle/>
          <a:p>
            <a:pPr marL="0" indent="0" algn="l">
              <a:buNone/>
            </a:pPr>
            <a:r>
              <a:rPr lang="en-US" sz="1000">
                <a:solidFill>
                  <a:srgbClr val="D6E4F0"/>
                </a:solidFill>
                <a:latin typeface="Calibri" pitchFamily="34" charset="0"/>
                <a:ea typeface="Calibri" pitchFamily="34" charset="-122"/>
                <a:cs typeface="Calibri" pitchFamily="34" charset="-120"/>
              </a:rPr>
              <a:t>Exit equity $64.1B; equity gain +$27.7B</a:t>
            </a:r>
            <a:endParaRPr lang="en-US" sz="1000"/>
          </a:p>
        </p:txBody>
      </p:sp>
      <p:sp>
        <p:nvSpPr>
          <p:cNvPr id="60" name="Shape 58"/>
          <p:cNvSpPr/>
          <p:nvPr/>
        </p:nvSpPr>
        <p:spPr>
          <a:xfrm>
            <a:off x="7498080" y="3964806"/>
            <a:ext cx="4343400" cy="1188720"/>
          </a:xfrm>
          <a:prstGeom prst="rect">
            <a:avLst/>
          </a:prstGeom>
          <a:solidFill>
            <a:srgbClr val="2E75B6"/>
          </a:solidFill>
          <a:ln/>
          <a:effectLst>
            <a:outerShdw blurRad="76200" dist="25400" dir="5400000" algn="bl" rotWithShape="0">
              <a:srgbClr val="000000">
                <a:alpha val="15000"/>
              </a:srgbClr>
            </a:outerShdw>
          </a:effectLst>
        </p:spPr>
        <p:txBody>
          <a:bodyPr/>
          <a:lstStyle/>
          <a:p>
            <a:endParaRPr lang="en-US"/>
          </a:p>
        </p:txBody>
      </p:sp>
      <p:sp>
        <p:nvSpPr>
          <p:cNvPr id="61" name="Text 59"/>
          <p:cNvSpPr/>
          <p:nvPr/>
        </p:nvSpPr>
        <p:spPr>
          <a:xfrm>
            <a:off x="7635240" y="4010526"/>
            <a:ext cx="2194560" cy="27432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Management Base</a:t>
            </a:r>
            <a:endParaRPr lang="en-US" sz="1100"/>
          </a:p>
        </p:txBody>
      </p:sp>
      <p:sp>
        <p:nvSpPr>
          <p:cNvPr id="62" name="Text 60"/>
          <p:cNvSpPr/>
          <p:nvPr/>
        </p:nvSpPr>
        <p:spPr>
          <a:xfrm>
            <a:off x="7635240" y="4257414"/>
            <a:ext cx="2377440" cy="201168"/>
          </a:xfrm>
          <a:prstGeom prst="rect">
            <a:avLst/>
          </a:prstGeom>
          <a:noFill/>
          <a:ln/>
        </p:spPr>
        <p:txBody>
          <a:bodyPr wrap="square" lIns="0" tIns="0" rIns="0" bIns="0" rtlCol="0" anchor="ctr"/>
          <a:lstStyle/>
          <a:p>
            <a:pPr marL="0" indent="0" algn="l">
              <a:buNone/>
            </a:pPr>
            <a:r>
              <a:rPr lang="en-US" sz="800" i="1">
                <a:solidFill>
                  <a:srgbClr val="D6E4F0"/>
                </a:solidFill>
                <a:latin typeface="Calibri" pitchFamily="34" charset="0"/>
                <a:ea typeface="Calibri" pitchFamily="34" charset="-122"/>
                <a:cs typeface="Calibri" pitchFamily="34" charset="-120"/>
              </a:rPr>
              <a:t>Y5 $4.5B  ×  18.0x  (DEFA14A / Goldman)</a:t>
            </a:r>
            <a:endParaRPr lang="en-US" sz="800"/>
          </a:p>
        </p:txBody>
      </p:sp>
      <p:sp>
        <p:nvSpPr>
          <p:cNvPr id="63" name="Text 61"/>
          <p:cNvSpPr/>
          <p:nvPr/>
        </p:nvSpPr>
        <p:spPr>
          <a:xfrm>
            <a:off x="7635240" y="4842630"/>
            <a:ext cx="2377440" cy="237744"/>
          </a:xfrm>
          <a:prstGeom prst="rect">
            <a:avLst/>
          </a:prstGeom>
          <a:noFill/>
          <a:ln/>
        </p:spPr>
        <p:txBody>
          <a:bodyPr wrap="square" lIns="0" tIns="0" rIns="0" bIns="0" rtlCol="0" anchor="ctr"/>
          <a:lstStyle/>
          <a:p>
            <a:pPr marL="0" indent="0" algn="l">
              <a:buNone/>
            </a:pPr>
            <a:r>
              <a:rPr lang="en-US" sz="850" i="1">
                <a:solidFill>
                  <a:srgbClr val="D6E4F0"/>
                </a:solidFill>
                <a:latin typeface="Calibri" pitchFamily="34" charset="0"/>
                <a:ea typeface="Calibri" pitchFamily="34" charset="-122"/>
                <a:cs typeface="Calibri" pitchFamily="34" charset="-120"/>
              </a:rPr>
              <a:t>Reference case</a:t>
            </a:r>
            <a:endParaRPr lang="en-US" sz="850"/>
          </a:p>
        </p:txBody>
      </p:sp>
      <p:sp>
        <p:nvSpPr>
          <p:cNvPr id="64" name="Text 62"/>
          <p:cNvSpPr/>
          <p:nvPr/>
        </p:nvSpPr>
        <p:spPr>
          <a:xfrm>
            <a:off x="10104120" y="4239126"/>
            <a:ext cx="868680" cy="502920"/>
          </a:xfrm>
          <a:prstGeom prst="rect">
            <a:avLst/>
          </a:prstGeom>
          <a:noFill/>
          <a:ln/>
        </p:spPr>
        <p:txBody>
          <a:bodyPr wrap="square" lIns="0" tIns="0" rIns="0" bIns="0" rtlCol="0" anchor="ctr"/>
          <a:lstStyle/>
          <a:p>
            <a:pPr marL="0" indent="0" algn="l">
              <a:buNone/>
            </a:pPr>
            <a:r>
              <a:rPr lang="en-US" sz="1800" b="1" i="1">
                <a:solidFill>
                  <a:srgbClr val="FFFFFF"/>
                </a:solidFill>
                <a:latin typeface="Calibri" pitchFamily="34" charset="0"/>
                <a:ea typeface="Calibri" pitchFamily="34" charset="-122"/>
                <a:cs typeface="Calibri" pitchFamily="34" charset="-120"/>
              </a:rPr>
              <a:t>1.91x</a:t>
            </a:r>
            <a:endParaRPr lang="en-US" sz="1800"/>
          </a:p>
        </p:txBody>
      </p:sp>
      <p:sp>
        <p:nvSpPr>
          <p:cNvPr id="65" name="Text 63"/>
          <p:cNvSpPr/>
          <p:nvPr/>
        </p:nvSpPr>
        <p:spPr>
          <a:xfrm>
            <a:off x="10744200" y="4376286"/>
            <a:ext cx="411480" cy="228600"/>
          </a:xfrm>
          <a:prstGeom prst="rect">
            <a:avLst/>
          </a:prstGeom>
          <a:noFill/>
          <a:ln/>
        </p:spPr>
        <p:txBody>
          <a:bodyPr wrap="square" lIns="0" tIns="0" rIns="0" bIns="0" rtlCol="0" anchor="ctr"/>
          <a:lstStyle/>
          <a:p>
            <a:pPr marL="0" indent="0" algn="l">
              <a:buNone/>
            </a:pPr>
            <a:r>
              <a:rPr lang="en-US" sz="800" i="1">
                <a:solidFill>
                  <a:srgbClr val="D6E4F0"/>
                </a:solidFill>
                <a:latin typeface="Calibri" pitchFamily="34" charset="0"/>
                <a:ea typeface="Calibri" pitchFamily="34" charset="-122"/>
                <a:cs typeface="Calibri" pitchFamily="34" charset="-120"/>
              </a:rPr>
              <a:t>MoM</a:t>
            </a:r>
            <a:endParaRPr lang="en-US" sz="800"/>
          </a:p>
        </p:txBody>
      </p:sp>
      <p:sp>
        <p:nvSpPr>
          <p:cNvPr id="66" name="Text 64"/>
          <p:cNvSpPr/>
          <p:nvPr/>
        </p:nvSpPr>
        <p:spPr>
          <a:xfrm>
            <a:off x="10104120" y="4678038"/>
            <a:ext cx="868680" cy="502920"/>
          </a:xfrm>
          <a:prstGeom prst="rect">
            <a:avLst/>
          </a:prstGeom>
          <a:noFill/>
          <a:ln/>
        </p:spPr>
        <p:txBody>
          <a:bodyPr wrap="square" lIns="0" tIns="0" rIns="0" bIns="0" rtlCol="0" anchor="ctr"/>
          <a:lstStyle/>
          <a:p>
            <a:pPr marL="0" indent="0" algn="l">
              <a:buNone/>
            </a:pPr>
            <a:r>
              <a:rPr lang="en-US" sz="1800" b="1" i="1">
                <a:solidFill>
                  <a:srgbClr val="FFFFFF"/>
                </a:solidFill>
                <a:latin typeface="Calibri" pitchFamily="34" charset="0"/>
                <a:ea typeface="Calibri" pitchFamily="34" charset="-122"/>
                <a:cs typeface="Calibri" pitchFamily="34" charset="-120"/>
              </a:rPr>
              <a:t>13.8%</a:t>
            </a:r>
            <a:endParaRPr lang="en-US" sz="1800"/>
          </a:p>
        </p:txBody>
      </p:sp>
      <p:sp>
        <p:nvSpPr>
          <p:cNvPr id="67" name="Text 65"/>
          <p:cNvSpPr/>
          <p:nvPr/>
        </p:nvSpPr>
        <p:spPr>
          <a:xfrm>
            <a:off x="10835640" y="4815198"/>
            <a:ext cx="411480" cy="228600"/>
          </a:xfrm>
          <a:prstGeom prst="rect">
            <a:avLst/>
          </a:prstGeom>
          <a:noFill/>
          <a:ln/>
        </p:spPr>
        <p:txBody>
          <a:bodyPr wrap="square" lIns="0" tIns="0" rIns="0" bIns="0" rtlCol="0" anchor="ctr"/>
          <a:lstStyle/>
          <a:p>
            <a:pPr marL="0" indent="0" algn="l">
              <a:buNone/>
            </a:pPr>
            <a:r>
              <a:rPr lang="en-US" sz="800" i="1">
                <a:solidFill>
                  <a:srgbClr val="D6E4F0"/>
                </a:solidFill>
                <a:latin typeface="Calibri" pitchFamily="34" charset="0"/>
                <a:ea typeface="Calibri" pitchFamily="34" charset="-122"/>
                <a:cs typeface="Calibri" pitchFamily="34" charset="-120"/>
              </a:rPr>
              <a:t>IRR</a:t>
            </a:r>
            <a:endParaRPr lang="en-US" sz="800"/>
          </a:p>
        </p:txBody>
      </p:sp>
      <p:sp>
        <p:nvSpPr>
          <p:cNvPr id="68" name="Shape 66"/>
          <p:cNvSpPr/>
          <p:nvPr/>
        </p:nvSpPr>
        <p:spPr>
          <a:xfrm>
            <a:off x="7498080" y="5244966"/>
            <a:ext cx="4343400" cy="1188720"/>
          </a:xfrm>
          <a:prstGeom prst="rect">
            <a:avLst/>
          </a:prstGeom>
          <a:solidFill>
            <a:srgbClr val="FFFFFF"/>
          </a:solidFill>
          <a:ln w="19050">
            <a:solidFill>
              <a:srgbClr val="C00000"/>
            </a:solidFill>
            <a:prstDash val="solid"/>
          </a:ln>
        </p:spPr>
        <p:txBody>
          <a:bodyPr/>
          <a:lstStyle/>
          <a:p>
            <a:endParaRPr lang="en-US"/>
          </a:p>
        </p:txBody>
      </p:sp>
      <p:sp>
        <p:nvSpPr>
          <p:cNvPr id="69" name="Shape 67"/>
          <p:cNvSpPr/>
          <p:nvPr/>
        </p:nvSpPr>
        <p:spPr>
          <a:xfrm>
            <a:off x="7498080" y="5244966"/>
            <a:ext cx="4343400" cy="274320"/>
          </a:xfrm>
          <a:prstGeom prst="rect">
            <a:avLst/>
          </a:prstGeom>
          <a:solidFill>
            <a:srgbClr val="C00000"/>
          </a:solidFill>
          <a:ln/>
        </p:spPr>
        <p:txBody>
          <a:bodyPr/>
          <a:lstStyle/>
          <a:p>
            <a:endParaRPr lang="en-US"/>
          </a:p>
        </p:txBody>
      </p:sp>
      <p:sp>
        <p:nvSpPr>
          <p:cNvPr id="70" name="Text 68"/>
          <p:cNvSpPr/>
          <p:nvPr/>
        </p:nvSpPr>
        <p:spPr>
          <a:xfrm>
            <a:off x="7635240" y="5244966"/>
            <a:ext cx="2194560" cy="27432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Sponsor Downside</a:t>
            </a:r>
            <a:endParaRPr lang="en-US" sz="1100"/>
          </a:p>
        </p:txBody>
      </p:sp>
      <p:sp>
        <p:nvSpPr>
          <p:cNvPr id="71" name="Text 69"/>
          <p:cNvSpPr/>
          <p:nvPr/>
        </p:nvSpPr>
        <p:spPr>
          <a:xfrm>
            <a:off x="7635240" y="5555862"/>
            <a:ext cx="2377440" cy="201168"/>
          </a:xfrm>
          <a:prstGeom prst="rect">
            <a:avLst/>
          </a:prstGeom>
          <a:noFill/>
          <a:ln/>
        </p:spPr>
        <p:txBody>
          <a:bodyPr wrap="square" lIns="0" tIns="0" rIns="0" bIns="0" rtlCol="0" anchor="ctr"/>
          <a:lstStyle/>
          <a:p>
            <a:pPr marL="0" indent="0" algn="l">
              <a:buNone/>
            </a:pPr>
            <a:r>
              <a:rPr lang="en-US" sz="800" i="1">
                <a:solidFill>
                  <a:srgbClr val="595959"/>
                </a:solidFill>
                <a:latin typeface="Calibri" pitchFamily="34" charset="0"/>
                <a:ea typeface="Calibri" pitchFamily="34" charset="-122"/>
                <a:cs typeface="Calibri" pitchFamily="34" charset="-120"/>
              </a:rPr>
              <a:t>Y5 $3.6B  ×  16.0x  (stress)</a:t>
            </a:r>
            <a:endParaRPr lang="en-US" sz="800"/>
          </a:p>
        </p:txBody>
      </p:sp>
      <p:sp>
        <p:nvSpPr>
          <p:cNvPr id="72" name="Text 70"/>
          <p:cNvSpPr/>
          <p:nvPr/>
        </p:nvSpPr>
        <p:spPr>
          <a:xfrm>
            <a:off x="7635240" y="6141078"/>
            <a:ext cx="2377440" cy="237744"/>
          </a:xfrm>
          <a:prstGeom prst="rect">
            <a:avLst/>
          </a:prstGeom>
          <a:noFill/>
          <a:ln/>
        </p:spPr>
        <p:txBody>
          <a:bodyPr wrap="square" lIns="0" tIns="0" rIns="0" bIns="0" rtlCol="0" anchor="ctr"/>
          <a:lstStyle/>
          <a:p>
            <a:pPr marL="0" indent="0" algn="l">
              <a:buNone/>
            </a:pPr>
            <a:r>
              <a:rPr lang="en-US" sz="850" i="1">
                <a:solidFill>
                  <a:srgbClr val="595959"/>
                </a:solidFill>
                <a:latin typeface="Calibri" pitchFamily="34" charset="0"/>
                <a:ea typeface="Calibri" pitchFamily="34" charset="-122"/>
                <a:cs typeface="Calibri" pitchFamily="34" charset="-120"/>
              </a:rPr>
              <a:t>Capital preserved</a:t>
            </a:r>
            <a:endParaRPr lang="en-US" sz="850"/>
          </a:p>
        </p:txBody>
      </p:sp>
      <p:sp>
        <p:nvSpPr>
          <p:cNvPr id="73" name="Text 71"/>
          <p:cNvSpPr/>
          <p:nvPr/>
        </p:nvSpPr>
        <p:spPr>
          <a:xfrm>
            <a:off x="10104120" y="5555862"/>
            <a:ext cx="868680" cy="457200"/>
          </a:xfrm>
          <a:prstGeom prst="rect">
            <a:avLst/>
          </a:prstGeom>
          <a:noFill/>
          <a:ln/>
        </p:spPr>
        <p:txBody>
          <a:bodyPr wrap="square" lIns="0" tIns="0" rIns="0" bIns="0" rtlCol="0" anchor="ctr"/>
          <a:lstStyle/>
          <a:p>
            <a:pPr marL="0" indent="0" algn="l">
              <a:buNone/>
            </a:pPr>
            <a:r>
              <a:rPr lang="en-US" sz="1800" b="1" i="1">
                <a:solidFill>
                  <a:srgbClr val="C00000"/>
                </a:solidFill>
                <a:latin typeface="Calibri" pitchFamily="34" charset="0"/>
                <a:ea typeface="Calibri" pitchFamily="34" charset="-122"/>
                <a:cs typeface="Calibri" pitchFamily="34" charset="-120"/>
              </a:rPr>
              <a:t>1.27x</a:t>
            </a:r>
            <a:endParaRPr lang="en-US" sz="1800"/>
          </a:p>
        </p:txBody>
      </p:sp>
      <p:sp>
        <p:nvSpPr>
          <p:cNvPr id="74" name="Text 72"/>
          <p:cNvSpPr/>
          <p:nvPr/>
        </p:nvSpPr>
        <p:spPr>
          <a:xfrm>
            <a:off x="10744200" y="5693022"/>
            <a:ext cx="411480" cy="228600"/>
          </a:xfrm>
          <a:prstGeom prst="rect">
            <a:avLst/>
          </a:prstGeom>
          <a:noFill/>
          <a:ln/>
        </p:spPr>
        <p:txBody>
          <a:bodyPr wrap="square" lIns="0" tIns="0" rIns="0" bIns="0" rtlCol="0" anchor="ctr"/>
          <a:lstStyle/>
          <a:p>
            <a:pPr marL="0" indent="0" algn="l">
              <a:buNone/>
            </a:pPr>
            <a:r>
              <a:rPr lang="en-US" sz="800" i="1">
                <a:solidFill>
                  <a:srgbClr val="595959"/>
                </a:solidFill>
                <a:latin typeface="Calibri" pitchFamily="34" charset="0"/>
                <a:ea typeface="Calibri" pitchFamily="34" charset="-122"/>
                <a:cs typeface="Calibri" pitchFamily="34" charset="-120"/>
              </a:rPr>
              <a:t>MoM</a:t>
            </a:r>
            <a:endParaRPr lang="en-US" sz="800"/>
          </a:p>
        </p:txBody>
      </p:sp>
      <p:sp>
        <p:nvSpPr>
          <p:cNvPr id="75" name="Text 73"/>
          <p:cNvSpPr/>
          <p:nvPr/>
        </p:nvSpPr>
        <p:spPr>
          <a:xfrm>
            <a:off x="10104120" y="5976486"/>
            <a:ext cx="868680" cy="457200"/>
          </a:xfrm>
          <a:prstGeom prst="rect">
            <a:avLst/>
          </a:prstGeom>
          <a:noFill/>
          <a:ln/>
        </p:spPr>
        <p:txBody>
          <a:bodyPr wrap="square" lIns="0" tIns="0" rIns="0" bIns="0" rtlCol="0" anchor="ctr"/>
          <a:lstStyle/>
          <a:p>
            <a:pPr marL="0" indent="0" algn="l">
              <a:buNone/>
            </a:pPr>
            <a:r>
              <a:rPr lang="en-US" sz="1800" b="1" i="1">
                <a:solidFill>
                  <a:srgbClr val="C00000"/>
                </a:solidFill>
                <a:latin typeface="Calibri" pitchFamily="34" charset="0"/>
                <a:ea typeface="Calibri" pitchFamily="34" charset="-122"/>
                <a:cs typeface="Calibri" pitchFamily="34" charset="-120"/>
              </a:rPr>
              <a:t>4.8%</a:t>
            </a:r>
            <a:endParaRPr lang="en-US" sz="1800"/>
          </a:p>
        </p:txBody>
      </p:sp>
      <p:sp>
        <p:nvSpPr>
          <p:cNvPr id="76" name="Text 74"/>
          <p:cNvSpPr/>
          <p:nvPr/>
        </p:nvSpPr>
        <p:spPr>
          <a:xfrm>
            <a:off x="10835640" y="6113646"/>
            <a:ext cx="411480" cy="228600"/>
          </a:xfrm>
          <a:prstGeom prst="rect">
            <a:avLst/>
          </a:prstGeom>
          <a:noFill/>
          <a:ln/>
        </p:spPr>
        <p:txBody>
          <a:bodyPr wrap="square" lIns="0" tIns="0" rIns="0" bIns="0" rtlCol="0" anchor="ctr"/>
          <a:lstStyle/>
          <a:p>
            <a:pPr marL="0" indent="0" algn="l">
              <a:buNone/>
            </a:pPr>
            <a:r>
              <a:rPr lang="en-US" sz="800" i="1">
                <a:solidFill>
                  <a:srgbClr val="595959"/>
                </a:solidFill>
                <a:latin typeface="Calibri" pitchFamily="34" charset="0"/>
                <a:ea typeface="Calibri" pitchFamily="34" charset="-122"/>
                <a:cs typeface="Calibri" pitchFamily="34" charset="-120"/>
              </a:rPr>
              <a:t>IRR</a:t>
            </a:r>
            <a:endParaRPr lang="en-US" sz="800"/>
          </a:p>
        </p:txBody>
      </p:sp>
      <p:sp>
        <p:nvSpPr>
          <p:cNvPr id="31" name="Shape 29"/>
          <p:cNvSpPr/>
          <p:nvPr/>
        </p:nvSpPr>
        <p:spPr>
          <a:xfrm>
            <a:off x="1325880" y="3508328"/>
            <a:ext cx="1892808" cy="411480"/>
          </a:xfrm>
          <a:prstGeom prst="rect">
            <a:avLst/>
          </a:prstGeom>
          <a:solidFill>
            <a:srgbClr val="2E75B6"/>
          </a:solidFill>
          <a:ln/>
        </p:spPr>
        <p:txBody>
          <a:bodyPr/>
          <a:lstStyle/>
          <a:p>
            <a:endParaRPr lang="en-US"/>
          </a:p>
        </p:txBody>
      </p:sp>
      <p:sp>
        <p:nvSpPr>
          <p:cNvPr id="79" name="TextBox 78">
            <a:extLst>
              <a:ext uri="{FF2B5EF4-FFF2-40B4-BE49-F238E27FC236}">
                <a16:creationId xmlns:a16="http://schemas.microsoft.com/office/drawing/2014/main" id="{DB2F2972-6F69-1652-07FF-A8FCCDE42AFB}"/>
              </a:ext>
            </a:extLst>
          </p:cNvPr>
          <p:cNvSpPr txBox="1"/>
          <p:nvPr/>
        </p:nvSpPr>
        <p:spPr>
          <a:xfrm>
            <a:off x="1489670" y="3588073"/>
            <a:ext cx="1606296" cy="276999"/>
          </a:xfrm>
          <a:prstGeom prst="rect">
            <a:avLst/>
          </a:prstGeom>
          <a:noFill/>
        </p:spPr>
        <p:txBody>
          <a:bodyPr wrap="square">
            <a:spAutoFit/>
          </a:bodyPr>
          <a:lstStyle/>
          <a:p>
            <a:pPr algn="ctr"/>
            <a:r>
              <a:rPr lang="en-US" sz="1200" b="1">
                <a:solidFill>
                  <a:srgbClr val="FFFFFF"/>
                </a:solidFill>
                <a:latin typeface="Calibri" pitchFamily="34" charset="0"/>
                <a:ea typeface="Calibri" pitchFamily="34" charset="-122"/>
                <a:cs typeface="Calibri" pitchFamily="34" charset="-120"/>
              </a:rPr>
              <a:t>1.76x / 12.0%</a:t>
            </a:r>
            <a:endParaRPr 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Valuation — Football Field</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13</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365760" y="1097280"/>
            <a:ext cx="11475720" cy="274320"/>
          </a:xfrm>
          <a:prstGeom prst="rect">
            <a:avLst/>
          </a:prstGeom>
          <a:noFill/>
          <a:ln/>
        </p:spPr>
        <p:txBody>
          <a:bodyPr wrap="square" lIns="0" tIns="0" rIns="0" bIns="0" rtlCol="0" anchor="ctr"/>
          <a:lstStyle/>
          <a:p>
            <a:pPr marL="0" indent="0" algn="ctr">
              <a:buNone/>
            </a:pPr>
            <a:r>
              <a:rPr lang="en-US" sz="1100" i="1">
                <a:solidFill>
                  <a:srgbClr val="595959"/>
                </a:solidFill>
                <a:latin typeface="Calibri" pitchFamily="34" charset="0"/>
                <a:ea typeface="Calibri" pitchFamily="34" charset="-122"/>
                <a:cs typeface="Calibri" pitchFamily="34" charset="-120"/>
              </a:rPr>
              <a:t>Goldman Sachs Fairness Opinion (Primary) + Independent Reference Analyses  •  Implied Equity Value per Share</a:t>
            </a:r>
            <a:endParaRPr lang="en-US" sz="1100"/>
          </a:p>
        </p:txBody>
      </p:sp>
      <p:sp>
        <p:nvSpPr>
          <p:cNvPr id="8" name="Shape 6"/>
          <p:cNvSpPr/>
          <p:nvPr/>
        </p:nvSpPr>
        <p:spPr>
          <a:xfrm>
            <a:off x="365760" y="1508760"/>
            <a:ext cx="8229600" cy="292608"/>
          </a:xfrm>
          <a:prstGeom prst="rect">
            <a:avLst/>
          </a:prstGeom>
          <a:solidFill>
            <a:srgbClr val="1F4E79"/>
          </a:solidFill>
          <a:ln/>
        </p:spPr>
        <p:txBody>
          <a:bodyPr/>
          <a:lstStyle/>
          <a:p>
            <a:endParaRPr lang="en-US"/>
          </a:p>
        </p:txBody>
      </p:sp>
      <p:sp>
        <p:nvSpPr>
          <p:cNvPr id="9" name="Text 7"/>
          <p:cNvSpPr/>
          <p:nvPr/>
        </p:nvSpPr>
        <p:spPr>
          <a:xfrm>
            <a:off x="502920" y="1508760"/>
            <a:ext cx="7955280" cy="292608"/>
          </a:xfrm>
          <a:prstGeom prst="rect">
            <a:avLst/>
          </a:prstGeom>
          <a:noFill/>
          <a:ln/>
        </p:spPr>
        <p:txBody>
          <a:bodyPr wrap="square" lIns="0" tIns="0" rIns="0" bIns="0" rtlCol="0" anchor="ctr"/>
          <a:lstStyle/>
          <a:p>
            <a:pPr marL="0" indent="0" algn="l">
              <a:buNone/>
            </a:pPr>
            <a:r>
              <a:rPr lang="en-US" sz="1000" b="1" kern="0" spc="100">
                <a:solidFill>
                  <a:srgbClr val="FFFFFF"/>
                </a:solidFill>
                <a:latin typeface="Calibri" pitchFamily="34" charset="0"/>
                <a:ea typeface="Calibri" pitchFamily="34" charset="-122"/>
                <a:cs typeface="Calibri" pitchFamily="34" charset="-120"/>
              </a:rPr>
              <a:t>GOLDMAN SACHS FAIRNESS OPINION (PRIMARY)  —  per DEFM14A / DEFA14A</a:t>
            </a:r>
            <a:endParaRPr lang="en-US" sz="1000"/>
          </a:p>
        </p:txBody>
      </p:sp>
      <p:sp>
        <p:nvSpPr>
          <p:cNvPr id="10" name="Text 8"/>
          <p:cNvSpPr/>
          <p:nvPr/>
        </p:nvSpPr>
        <p:spPr>
          <a:xfrm>
            <a:off x="365760" y="1828800"/>
            <a:ext cx="2743200" cy="329184"/>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52-Week Trading Range</a:t>
            </a:r>
            <a:endParaRPr lang="en-US" sz="1000"/>
          </a:p>
        </p:txBody>
      </p:sp>
      <p:sp>
        <p:nvSpPr>
          <p:cNvPr id="11" name="Shape 9"/>
          <p:cNvSpPr/>
          <p:nvPr/>
        </p:nvSpPr>
        <p:spPr>
          <a:xfrm>
            <a:off x="3675774" y="1883664"/>
            <a:ext cx="2142439" cy="219456"/>
          </a:xfrm>
          <a:prstGeom prst="rect">
            <a:avLst/>
          </a:prstGeom>
          <a:solidFill>
            <a:srgbClr val="1F4E79"/>
          </a:solidFill>
          <a:ln/>
        </p:spPr>
        <p:txBody>
          <a:bodyPr/>
          <a:lstStyle/>
          <a:p>
            <a:endParaRPr lang="en-US"/>
          </a:p>
        </p:txBody>
      </p:sp>
      <p:sp>
        <p:nvSpPr>
          <p:cNvPr id="12" name="Text 10"/>
          <p:cNvSpPr/>
          <p:nvPr/>
        </p:nvSpPr>
        <p:spPr>
          <a:xfrm>
            <a:off x="3218574" y="1828800"/>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$117</a:t>
            </a:r>
            <a:endParaRPr lang="en-US" sz="900"/>
          </a:p>
        </p:txBody>
      </p:sp>
      <p:sp>
        <p:nvSpPr>
          <p:cNvPr id="13" name="Text 11"/>
          <p:cNvSpPr/>
          <p:nvPr/>
        </p:nvSpPr>
        <p:spPr>
          <a:xfrm>
            <a:off x="5836501" y="1828800"/>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$179</a:t>
            </a:r>
            <a:endParaRPr lang="en-US" sz="900"/>
          </a:p>
        </p:txBody>
      </p:sp>
      <p:sp>
        <p:nvSpPr>
          <p:cNvPr id="14" name="Text 12"/>
          <p:cNvSpPr/>
          <p:nvPr/>
        </p:nvSpPr>
        <p:spPr>
          <a:xfrm>
            <a:off x="365760" y="2212848"/>
            <a:ext cx="2743200" cy="329184"/>
          </a:xfrm>
          <a:prstGeom prst="rect">
            <a:avLst/>
          </a:prstGeom>
          <a:noFill/>
          <a:ln/>
        </p:spPr>
        <p:txBody>
          <a:bodyPr wrap="square" lIns="0" tIns="0" rIns="0" bIns="0" rtlCol="0" anchor="ctr">
            <a:noAutofit/>
          </a:bodyPr>
          <a:lstStyle/>
          <a:p>
            <a:pPr marL="0" indent="0" algn="l">
              <a:buNone/>
            </a:pPr>
            <a:r>
              <a:rPr lang="en-US" sz="1000" b="1">
                <a:solidFill>
                  <a:srgbClr val="1F4E79"/>
                </a:solidFill>
                <a:latin typeface="Calibri" pitchFamily="34" charset="0"/>
                <a:ea typeface="Calibri" pitchFamily="34" charset="-122"/>
                <a:cs typeface="Calibri" pitchFamily="34" charset="-120"/>
              </a:rPr>
              <a:t>Premia Paid — 52-Wk High</a:t>
            </a:r>
            <a:endParaRPr lang="en-US" sz="1000"/>
          </a:p>
          <a:p>
            <a:pPr algn="l">
              <a:spcBef>
                <a:spcPts val="0"/>
              </a:spcBef>
              <a:spcAft>
                <a:spcPts val="0"/>
              </a:spcAft>
            </a:pPr>
            <a:r>
              <a:rPr sz="700" i="1">
                <a:solidFill>
                  <a:srgbClr val="595959"/>
                </a:solidFill>
                <a:latin typeface="Calibri"/>
              </a:rPr>
              <a:t>−9% to +22% × $179.01</a:t>
            </a:r>
          </a:p>
        </p:txBody>
      </p:sp>
      <p:sp>
        <p:nvSpPr>
          <p:cNvPr id="15" name="Shape 13"/>
          <p:cNvSpPr/>
          <p:nvPr/>
        </p:nvSpPr>
        <p:spPr>
          <a:xfrm>
            <a:off x="5269230" y="2267712"/>
            <a:ext cx="1885950" cy="219456"/>
          </a:xfrm>
          <a:prstGeom prst="rect">
            <a:avLst/>
          </a:prstGeom>
          <a:solidFill>
            <a:srgbClr val="1F4E79"/>
          </a:solidFill>
          <a:ln/>
        </p:spPr>
        <p:txBody>
          <a:bodyPr/>
          <a:lstStyle/>
          <a:p>
            <a:endParaRPr lang="en-US"/>
          </a:p>
        </p:txBody>
      </p:sp>
      <p:sp>
        <p:nvSpPr>
          <p:cNvPr id="16" name="Text 14"/>
          <p:cNvSpPr/>
          <p:nvPr/>
        </p:nvSpPr>
        <p:spPr>
          <a:xfrm>
            <a:off x="4812030" y="2212848"/>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$163</a:t>
            </a:r>
            <a:endParaRPr lang="en-US" sz="900"/>
          </a:p>
        </p:txBody>
      </p:sp>
      <p:sp>
        <p:nvSpPr>
          <p:cNvPr id="17" name="Text 15"/>
          <p:cNvSpPr/>
          <p:nvPr/>
        </p:nvSpPr>
        <p:spPr>
          <a:xfrm>
            <a:off x="7173468" y="2212848"/>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$218</a:t>
            </a:r>
            <a:endParaRPr lang="en-US" sz="900"/>
          </a:p>
        </p:txBody>
      </p:sp>
      <p:sp>
        <p:nvSpPr>
          <p:cNvPr id="18" name="Text 16"/>
          <p:cNvSpPr/>
          <p:nvPr/>
        </p:nvSpPr>
        <p:spPr>
          <a:xfrm>
            <a:off x="365760" y="2596896"/>
            <a:ext cx="2743200" cy="329184"/>
          </a:xfrm>
          <a:prstGeom prst="rect">
            <a:avLst/>
          </a:prstGeom>
          <a:noFill/>
          <a:ln/>
        </p:spPr>
        <p:txBody>
          <a:bodyPr wrap="square" lIns="0" tIns="0" rIns="0" bIns="0" rtlCol="0" anchor="ctr">
            <a:noAutofit/>
          </a:bodyPr>
          <a:lstStyle/>
          <a:p>
            <a:pPr marL="0" indent="0" algn="l">
              <a:buNone/>
            </a:pPr>
            <a:r>
              <a:rPr lang="en-US" sz="1000" b="1">
                <a:solidFill>
                  <a:srgbClr val="1F4E79"/>
                </a:solidFill>
                <a:latin typeface="Calibri" pitchFamily="34" charset="0"/>
                <a:ea typeface="Calibri" pitchFamily="34" charset="-122"/>
                <a:cs typeface="Calibri" pitchFamily="34" charset="-120"/>
              </a:rPr>
              <a:t>Premia Paid — Unaffected</a:t>
            </a:r>
            <a:endParaRPr lang="en-US" sz="1000"/>
          </a:p>
          <a:p>
            <a:pPr algn="l">
              <a:spcBef>
                <a:spcPts val="0"/>
              </a:spcBef>
              <a:spcAft>
                <a:spcPts val="0"/>
              </a:spcAft>
            </a:pPr>
            <a:r>
              <a:rPr sz="700" i="1">
                <a:solidFill>
                  <a:srgbClr val="595959"/>
                </a:solidFill>
                <a:latin typeface="Calibri"/>
              </a:rPr>
              <a:t>20% to 51% × $168.32</a:t>
            </a:r>
          </a:p>
        </p:txBody>
      </p:sp>
      <p:sp>
        <p:nvSpPr>
          <p:cNvPr id="19" name="Shape 17"/>
          <p:cNvSpPr/>
          <p:nvPr/>
        </p:nvSpPr>
        <p:spPr>
          <a:xfrm>
            <a:off x="6640830" y="2651760"/>
            <a:ext cx="1783080" cy="219456"/>
          </a:xfrm>
          <a:prstGeom prst="rect">
            <a:avLst/>
          </a:prstGeom>
          <a:solidFill>
            <a:srgbClr val="1F4E79"/>
          </a:solidFill>
          <a:ln/>
        </p:spPr>
        <p:txBody>
          <a:bodyPr/>
          <a:lstStyle/>
          <a:p>
            <a:endParaRPr lang="en-US"/>
          </a:p>
        </p:txBody>
      </p:sp>
      <p:sp>
        <p:nvSpPr>
          <p:cNvPr id="20" name="Text 18"/>
          <p:cNvSpPr/>
          <p:nvPr/>
        </p:nvSpPr>
        <p:spPr>
          <a:xfrm>
            <a:off x="6183630" y="2596896"/>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$203</a:t>
            </a:r>
            <a:endParaRPr lang="en-US" sz="900"/>
          </a:p>
        </p:txBody>
      </p:sp>
      <p:sp>
        <p:nvSpPr>
          <p:cNvPr id="21" name="Text 19"/>
          <p:cNvSpPr/>
          <p:nvPr/>
        </p:nvSpPr>
        <p:spPr>
          <a:xfrm>
            <a:off x="8442198" y="2596896"/>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$255</a:t>
            </a:r>
            <a:endParaRPr lang="en-US" sz="900"/>
          </a:p>
        </p:txBody>
      </p:sp>
      <p:sp>
        <p:nvSpPr>
          <p:cNvPr id="22" name="Text 20"/>
          <p:cNvSpPr/>
          <p:nvPr/>
        </p:nvSpPr>
        <p:spPr>
          <a:xfrm>
            <a:off x="365760" y="2980944"/>
            <a:ext cx="2743200" cy="329184"/>
          </a:xfrm>
          <a:prstGeom prst="rect">
            <a:avLst/>
          </a:prstGeom>
          <a:noFill/>
          <a:ln/>
        </p:spPr>
        <p:txBody>
          <a:bodyPr wrap="square" lIns="0" tIns="0" rIns="0" bIns="0" rtlCol="0" anchor="ctr">
            <a:noAutofit/>
          </a:bodyPr>
          <a:lstStyle/>
          <a:p>
            <a:pPr marL="0" indent="0" algn="l">
              <a:buNone/>
            </a:pPr>
            <a:r>
              <a:rPr lang="en-US" sz="1000" b="1">
                <a:solidFill>
                  <a:srgbClr val="1F4E79"/>
                </a:solidFill>
                <a:latin typeface="Calibri" pitchFamily="34" charset="0"/>
                <a:ea typeface="Calibri" pitchFamily="34" charset="-122"/>
                <a:cs typeface="Calibri" pitchFamily="34" charset="-120"/>
              </a:rPr>
              <a:t>Future Share Price</a:t>
            </a:r>
            <a:endParaRPr lang="en-US" sz="1000"/>
          </a:p>
          <a:p>
            <a:pPr algn="l">
              <a:spcBef>
                <a:spcPts val="0"/>
              </a:spcBef>
              <a:spcAft>
                <a:spcPts val="0"/>
              </a:spcAft>
            </a:pPr>
            <a:r>
              <a:rPr sz="700" i="1">
                <a:solidFill>
                  <a:srgbClr val="595959"/>
                </a:solidFill>
                <a:latin typeface="Calibri"/>
              </a:rPr>
              <a:t>14x–16x EV/NTM EBITDA × PV @ 8.5%</a:t>
            </a:r>
          </a:p>
        </p:txBody>
      </p:sp>
      <p:sp>
        <p:nvSpPr>
          <p:cNvPr id="23" name="Shape 21"/>
          <p:cNvSpPr/>
          <p:nvPr/>
        </p:nvSpPr>
        <p:spPr>
          <a:xfrm>
            <a:off x="5063490" y="3035808"/>
            <a:ext cx="2708910" cy="219456"/>
          </a:xfrm>
          <a:prstGeom prst="rect">
            <a:avLst/>
          </a:prstGeom>
          <a:solidFill>
            <a:srgbClr val="1F4E79"/>
          </a:solidFill>
          <a:ln/>
        </p:spPr>
        <p:txBody>
          <a:bodyPr/>
          <a:lstStyle/>
          <a:p>
            <a:endParaRPr lang="en-US"/>
          </a:p>
        </p:txBody>
      </p:sp>
      <p:sp>
        <p:nvSpPr>
          <p:cNvPr id="24" name="Text 22"/>
          <p:cNvSpPr/>
          <p:nvPr/>
        </p:nvSpPr>
        <p:spPr>
          <a:xfrm>
            <a:off x="4606290" y="2980944"/>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$157</a:t>
            </a:r>
            <a:endParaRPr lang="en-US" sz="900"/>
          </a:p>
        </p:txBody>
      </p:sp>
      <p:sp>
        <p:nvSpPr>
          <p:cNvPr id="25" name="Text 23"/>
          <p:cNvSpPr/>
          <p:nvPr/>
        </p:nvSpPr>
        <p:spPr>
          <a:xfrm>
            <a:off x="7790688" y="2980944"/>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$236</a:t>
            </a:r>
            <a:endParaRPr lang="en-US" sz="900"/>
          </a:p>
        </p:txBody>
      </p:sp>
      <p:sp>
        <p:nvSpPr>
          <p:cNvPr id="26" name="Text 24"/>
          <p:cNvSpPr/>
          <p:nvPr/>
        </p:nvSpPr>
        <p:spPr>
          <a:xfrm>
            <a:off x="365760" y="3364992"/>
            <a:ext cx="2743200" cy="329184"/>
          </a:xfrm>
          <a:prstGeom prst="rect">
            <a:avLst/>
          </a:prstGeom>
          <a:noFill/>
          <a:ln/>
        </p:spPr>
        <p:txBody>
          <a:bodyPr wrap="square" lIns="0" tIns="0" rIns="0" bIns="0" rtlCol="0" anchor="ctr">
            <a:noAutofit/>
          </a:bodyPr>
          <a:lstStyle/>
          <a:p>
            <a:pPr marL="0" indent="0" algn="l">
              <a:buNone/>
            </a:pPr>
            <a:r>
              <a:rPr lang="en-US" sz="1000" b="1">
                <a:solidFill>
                  <a:srgbClr val="1F4E79"/>
                </a:solidFill>
                <a:latin typeface="Calibri" pitchFamily="34" charset="0"/>
                <a:ea typeface="Calibri" pitchFamily="34" charset="-122"/>
                <a:cs typeface="Calibri" pitchFamily="34" charset="-120"/>
              </a:rPr>
              <a:t>DCF (Goldman)</a:t>
            </a:r>
            <a:endParaRPr lang="en-US" sz="1000"/>
          </a:p>
          <a:p>
            <a:pPr algn="l">
              <a:spcBef>
                <a:spcPts val="0"/>
              </a:spcBef>
              <a:spcAft>
                <a:spcPts val="0"/>
              </a:spcAft>
            </a:pPr>
            <a:r>
              <a:rPr sz="700" i="1">
                <a:solidFill>
                  <a:srgbClr val="595959"/>
                </a:solidFill>
                <a:latin typeface="Calibri"/>
              </a:rPr>
              <a:t>7.5%–9.5% WACC × 2%–3% TGR</a:t>
            </a:r>
          </a:p>
        </p:txBody>
      </p:sp>
      <p:sp>
        <p:nvSpPr>
          <p:cNvPr id="27" name="Shape 25"/>
          <p:cNvSpPr/>
          <p:nvPr/>
        </p:nvSpPr>
        <p:spPr>
          <a:xfrm>
            <a:off x="4377690" y="3419856"/>
            <a:ext cx="2846070" cy="219456"/>
          </a:xfrm>
          <a:prstGeom prst="rect">
            <a:avLst/>
          </a:prstGeom>
          <a:solidFill>
            <a:srgbClr val="1F4E79"/>
          </a:solidFill>
          <a:ln/>
        </p:spPr>
        <p:txBody>
          <a:bodyPr/>
          <a:lstStyle/>
          <a:p>
            <a:endParaRPr lang="en-US"/>
          </a:p>
        </p:txBody>
      </p:sp>
      <p:sp>
        <p:nvSpPr>
          <p:cNvPr id="28" name="Text 26"/>
          <p:cNvSpPr/>
          <p:nvPr/>
        </p:nvSpPr>
        <p:spPr>
          <a:xfrm>
            <a:off x="3920490" y="3364992"/>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$137</a:t>
            </a:r>
            <a:endParaRPr lang="en-US" sz="900"/>
          </a:p>
        </p:txBody>
      </p:sp>
      <p:sp>
        <p:nvSpPr>
          <p:cNvPr id="29" name="Text 27"/>
          <p:cNvSpPr/>
          <p:nvPr/>
        </p:nvSpPr>
        <p:spPr>
          <a:xfrm>
            <a:off x="7242048" y="3364992"/>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$220</a:t>
            </a:r>
            <a:endParaRPr lang="en-US" sz="900"/>
          </a:p>
        </p:txBody>
      </p:sp>
      <p:sp>
        <p:nvSpPr>
          <p:cNvPr id="30" name="Shape 28"/>
          <p:cNvSpPr/>
          <p:nvPr/>
        </p:nvSpPr>
        <p:spPr>
          <a:xfrm>
            <a:off x="365760" y="3840480"/>
            <a:ext cx="8229600" cy="292608"/>
          </a:xfrm>
          <a:prstGeom prst="rect">
            <a:avLst/>
          </a:prstGeom>
          <a:solidFill>
            <a:srgbClr val="2E75B6"/>
          </a:solidFill>
          <a:ln/>
        </p:spPr>
        <p:txBody>
          <a:bodyPr/>
          <a:lstStyle/>
          <a:p>
            <a:endParaRPr lang="en-US"/>
          </a:p>
        </p:txBody>
      </p:sp>
      <p:sp>
        <p:nvSpPr>
          <p:cNvPr id="31" name="Text 29"/>
          <p:cNvSpPr/>
          <p:nvPr/>
        </p:nvSpPr>
        <p:spPr>
          <a:xfrm>
            <a:off x="502920" y="3840480"/>
            <a:ext cx="7955280" cy="292608"/>
          </a:xfrm>
          <a:prstGeom prst="rect">
            <a:avLst/>
          </a:prstGeom>
          <a:noFill/>
          <a:ln/>
        </p:spPr>
        <p:txBody>
          <a:bodyPr wrap="square" lIns="0" tIns="0" rIns="0" bIns="0" rtlCol="0" anchor="ctr"/>
          <a:lstStyle/>
          <a:p>
            <a:pPr marL="0" indent="0" algn="l">
              <a:buNone/>
            </a:pPr>
            <a:r>
              <a:rPr lang="en-US" sz="1000" b="1" kern="0" spc="100">
                <a:solidFill>
                  <a:srgbClr val="FFFFFF"/>
                </a:solidFill>
                <a:latin typeface="Calibri" pitchFamily="34" charset="0"/>
                <a:ea typeface="Calibri" pitchFamily="34" charset="-122"/>
                <a:cs typeface="Calibri" pitchFamily="34" charset="-120"/>
              </a:rPr>
              <a:t>INDEPENDENT REFERENCE ANALYSES  —  Deal-Team Constructed</a:t>
            </a:r>
            <a:endParaRPr lang="en-US" sz="1000"/>
          </a:p>
        </p:txBody>
      </p:sp>
      <p:sp>
        <p:nvSpPr>
          <p:cNvPr id="32" name="Text 30"/>
          <p:cNvSpPr/>
          <p:nvPr/>
        </p:nvSpPr>
        <p:spPr>
          <a:xfrm>
            <a:off x="365760" y="4160520"/>
            <a:ext cx="2743200" cy="329184"/>
          </a:xfrm>
          <a:prstGeom prst="rect">
            <a:avLst/>
          </a:prstGeom>
          <a:noFill/>
          <a:ln/>
        </p:spPr>
        <p:txBody>
          <a:bodyPr wrap="square" lIns="0" tIns="0" rIns="0" bIns="0" rtlCol="0" anchor="ctr">
            <a:noAutofit/>
          </a:bodyPr>
          <a:lstStyle/>
          <a:p>
            <a:pPr marL="0" indent="0" algn="l">
              <a:buNone/>
            </a:pPr>
            <a:r>
              <a:rPr lang="en-US" sz="1000" b="1">
                <a:solidFill>
                  <a:srgbClr val="2E75B6"/>
                </a:solidFill>
                <a:latin typeface="Calibri" pitchFamily="34" charset="0"/>
                <a:ea typeface="Calibri" pitchFamily="34" charset="-122"/>
                <a:cs typeface="Calibri" pitchFamily="34" charset="-120"/>
              </a:rPr>
              <a:t>CCA (FY27E EV/EBITDA)</a:t>
            </a:r>
            <a:endParaRPr lang="en-US" sz="1000"/>
          </a:p>
          <a:p>
            <a:pPr algn="l">
              <a:spcBef>
                <a:spcPts val="0"/>
              </a:spcBef>
              <a:spcAft>
                <a:spcPts val="0"/>
              </a:spcAft>
            </a:pPr>
            <a:r>
              <a:rPr sz="700" i="1">
                <a:solidFill>
                  <a:srgbClr val="595959"/>
                </a:solidFill>
                <a:latin typeface="Calibri"/>
              </a:rPr>
              <a:t>14.0x–20.0x range</a:t>
            </a:r>
          </a:p>
        </p:txBody>
      </p:sp>
      <p:sp>
        <p:nvSpPr>
          <p:cNvPr id="33" name="Shape 31"/>
          <p:cNvSpPr/>
          <p:nvPr/>
        </p:nvSpPr>
        <p:spPr>
          <a:xfrm>
            <a:off x="5300777" y="4215384"/>
            <a:ext cx="2388299" cy="219456"/>
          </a:xfrm>
          <a:prstGeom prst="rect">
            <a:avLst/>
          </a:prstGeom>
          <a:solidFill>
            <a:srgbClr val="2E75B6"/>
          </a:solidFill>
          <a:ln/>
        </p:spPr>
        <p:txBody>
          <a:bodyPr/>
          <a:lstStyle/>
          <a:p>
            <a:endParaRPr lang="en-US"/>
          </a:p>
        </p:txBody>
      </p:sp>
      <p:sp>
        <p:nvSpPr>
          <p:cNvPr id="34" name="Text 32"/>
          <p:cNvSpPr/>
          <p:nvPr/>
        </p:nvSpPr>
        <p:spPr>
          <a:xfrm>
            <a:off x="4843577" y="4160520"/>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$164</a:t>
            </a:r>
            <a:endParaRPr lang="en-US" sz="900"/>
          </a:p>
        </p:txBody>
      </p:sp>
      <p:sp>
        <p:nvSpPr>
          <p:cNvPr id="35" name="Text 33"/>
          <p:cNvSpPr/>
          <p:nvPr/>
        </p:nvSpPr>
        <p:spPr>
          <a:xfrm>
            <a:off x="7707363" y="4160520"/>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$234</a:t>
            </a:r>
            <a:endParaRPr lang="en-US" sz="900"/>
          </a:p>
        </p:txBody>
      </p:sp>
      <p:sp>
        <p:nvSpPr>
          <p:cNvPr id="36" name="Text 34"/>
          <p:cNvSpPr/>
          <p:nvPr/>
        </p:nvSpPr>
        <p:spPr>
          <a:xfrm>
            <a:off x="365760" y="4544568"/>
            <a:ext cx="2743200" cy="329184"/>
          </a:xfrm>
          <a:prstGeom prst="rect">
            <a:avLst/>
          </a:prstGeom>
          <a:noFill/>
          <a:ln/>
        </p:spPr>
        <p:txBody>
          <a:bodyPr wrap="square" lIns="0" tIns="0" rIns="0" bIns="0" rtlCol="0" anchor="ctr">
            <a:noAutofit/>
          </a:bodyPr>
          <a:lstStyle/>
          <a:p>
            <a:pPr marL="0" indent="0" algn="l">
              <a:buNone/>
            </a:pPr>
            <a:r>
              <a:rPr lang="en-US" sz="1000" b="1">
                <a:solidFill>
                  <a:srgbClr val="2E75B6"/>
                </a:solidFill>
                <a:latin typeface="Calibri" pitchFamily="34" charset="0"/>
                <a:ea typeface="Calibri" pitchFamily="34" charset="-122"/>
                <a:cs typeface="Calibri" pitchFamily="34" charset="-120"/>
              </a:rPr>
              <a:t>Precedent Transactions (FY27E)</a:t>
            </a:r>
            <a:endParaRPr lang="en-US" sz="1000"/>
          </a:p>
          <a:p>
            <a:pPr algn="l">
              <a:spcBef>
                <a:spcPts val="0"/>
              </a:spcBef>
              <a:spcAft>
                <a:spcPts val="0"/>
              </a:spcAft>
            </a:pPr>
            <a:r>
              <a:rPr sz="700" i="1">
                <a:solidFill>
                  <a:srgbClr val="595959"/>
                </a:solidFill>
                <a:latin typeface="Calibri"/>
              </a:rPr>
              <a:t>16.0x–20.0x EV/FY27E</a:t>
            </a:r>
          </a:p>
        </p:txBody>
      </p:sp>
      <p:sp>
        <p:nvSpPr>
          <p:cNvPr id="37" name="Shape 35"/>
          <p:cNvSpPr/>
          <p:nvPr/>
        </p:nvSpPr>
        <p:spPr>
          <a:xfrm>
            <a:off x="6096991" y="4599432"/>
            <a:ext cx="1592085" cy="219456"/>
          </a:xfrm>
          <a:prstGeom prst="rect">
            <a:avLst/>
          </a:prstGeom>
          <a:solidFill>
            <a:srgbClr val="2E75B6"/>
          </a:solidFill>
          <a:ln/>
        </p:spPr>
        <p:txBody>
          <a:bodyPr/>
          <a:lstStyle/>
          <a:p>
            <a:endParaRPr lang="en-US"/>
          </a:p>
        </p:txBody>
      </p:sp>
      <p:sp>
        <p:nvSpPr>
          <p:cNvPr id="38" name="Text 36"/>
          <p:cNvSpPr/>
          <p:nvPr/>
        </p:nvSpPr>
        <p:spPr>
          <a:xfrm>
            <a:off x="5639791" y="4544568"/>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$187</a:t>
            </a:r>
            <a:endParaRPr lang="en-US" sz="900"/>
          </a:p>
        </p:txBody>
      </p:sp>
      <p:sp>
        <p:nvSpPr>
          <p:cNvPr id="39" name="Text 37"/>
          <p:cNvSpPr/>
          <p:nvPr/>
        </p:nvSpPr>
        <p:spPr>
          <a:xfrm>
            <a:off x="7707363" y="4544568"/>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$234</a:t>
            </a:r>
            <a:endParaRPr lang="en-US" sz="900"/>
          </a:p>
        </p:txBody>
      </p:sp>
      <p:sp>
        <p:nvSpPr>
          <p:cNvPr id="40" name="Text 38"/>
          <p:cNvSpPr/>
          <p:nvPr/>
        </p:nvSpPr>
        <p:spPr>
          <a:xfrm>
            <a:off x="365760" y="4928616"/>
            <a:ext cx="2743200" cy="329184"/>
          </a:xfrm>
          <a:prstGeom prst="rect">
            <a:avLst/>
          </a:prstGeom>
          <a:noFill/>
          <a:ln/>
        </p:spPr>
        <p:txBody>
          <a:bodyPr wrap="square" lIns="0" tIns="0" rIns="0" bIns="0" rtlCol="0" anchor="ctr">
            <a:noAutofit/>
          </a:bodyPr>
          <a:lstStyle/>
          <a:p>
            <a:pPr marL="0" indent="0" algn="l">
              <a:buNone/>
            </a:pPr>
            <a:r>
              <a:rPr lang="en-US" sz="1000" b="1">
                <a:solidFill>
                  <a:srgbClr val="2E75B6"/>
                </a:solidFill>
                <a:latin typeface="Calibri" pitchFamily="34" charset="0"/>
                <a:ea typeface="Calibri" pitchFamily="34" charset="-122"/>
                <a:cs typeface="Calibri" pitchFamily="34" charset="-120"/>
              </a:rPr>
              <a:t>LBO Affordability (20% IRR)</a:t>
            </a:r>
            <a:endParaRPr lang="en-US" sz="1000"/>
          </a:p>
          <a:p>
            <a:pPr algn="l">
              <a:spcBef>
                <a:spcPts val="0"/>
              </a:spcBef>
              <a:spcAft>
                <a:spcPts val="0"/>
              </a:spcAft>
            </a:pPr>
            <a:r>
              <a:rPr sz="700" i="1">
                <a:solidFill>
                  <a:srgbClr val="595959"/>
                </a:solidFill>
                <a:latin typeface="Calibri"/>
              </a:rPr>
              <a:t>16x–20x exit on FY31E EBITDA</a:t>
            </a:r>
          </a:p>
        </p:txBody>
      </p:sp>
      <p:sp>
        <p:nvSpPr>
          <p:cNvPr id="41" name="Shape 39"/>
          <p:cNvSpPr/>
          <p:nvPr/>
        </p:nvSpPr>
        <p:spPr>
          <a:xfrm>
            <a:off x="5287404" y="4983480"/>
            <a:ext cx="959091" cy="219456"/>
          </a:xfrm>
          <a:prstGeom prst="rect">
            <a:avLst/>
          </a:prstGeom>
          <a:solidFill>
            <a:srgbClr val="2E75B6"/>
          </a:solidFill>
          <a:ln/>
        </p:spPr>
        <p:txBody>
          <a:bodyPr/>
          <a:lstStyle/>
          <a:p>
            <a:endParaRPr lang="en-US"/>
          </a:p>
        </p:txBody>
      </p:sp>
      <p:sp>
        <p:nvSpPr>
          <p:cNvPr id="42" name="Text 40"/>
          <p:cNvSpPr/>
          <p:nvPr/>
        </p:nvSpPr>
        <p:spPr>
          <a:xfrm>
            <a:off x="4830204" y="4928616"/>
            <a:ext cx="438912" cy="329184"/>
          </a:xfrm>
          <a:prstGeom prst="rect">
            <a:avLst/>
          </a:prstGeom>
          <a:noFill/>
          <a:ln/>
        </p:spPr>
        <p:txBody>
          <a:bodyPr wrap="square" lIns="0" tIns="0" rIns="0" bIns="0" rtlCol="0" anchor="ctr"/>
          <a:lstStyle/>
          <a:p>
            <a:pPr marL="0" indent="0" algn="r">
              <a:buNone/>
            </a:pPr>
            <a:r>
              <a:rPr lang="en-US" sz="900">
                <a:solidFill>
                  <a:srgbClr val="595959"/>
                </a:solidFill>
                <a:latin typeface="Calibri" pitchFamily="34" charset="0"/>
                <a:ea typeface="Calibri" pitchFamily="34" charset="-122"/>
                <a:cs typeface="Calibri" pitchFamily="34" charset="-120"/>
              </a:rPr>
              <a:t>$164</a:t>
            </a:r>
            <a:endParaRPr lang="en-US" sz="900"/>
          </a:p>
        </p:txBody>
      </p:sp>
      <p:sp>
        <p:nvSpPr>
          <p:cNvPr id="43" name="Text 41"/>
          <p:cNvSpPr/>
          <p:nvPr/>
        </p:nvSpPr>
        <p:spPr>
          <a:xfrm>
            <a:off x="6264783" y="4928616"/>
            <a:ext cx="438912" cy="329184"/>
          </a:xfrm>
          <a:prstGeom prst="rect">
            <a:avLst/>
          </a:prstGeom>
          <a:noFill/>
          <a:ln/>
        </p:spPr>
        <p:txBody>
          <a:bodyPr wrap="square" lIns="0" tIns="0" rIns="0" bIns="0" rtlCol="0" anchor="ctr"/>
          <a:lstStyle/>
          <a:p>
            <a:pPr marL="0" indent="0" algn="l">
              <a:buNone/>
            </a:pPr>
            <a:r>
              <a:rPr lang="en-US" sz="900">
                <a:solidFill>
                  <a:srgbClr val="595959"/>
                </a:solidFill>
                <a:latin typeface="Calibri" pitchFamily="34" charset="0"/>
                <a:ea typeface="Calibri" pitchFamily="34" charset="-122"/>
                <a:cs typeface="Calibri" pitchFamily="34" charset="-120"/>
              </a:rPr>
              <a:t>$192</a:t>
            </a:r>
            <a:endParaRPr lang="en-US" sz="900"/>
          </a:p>
        </p:txBody>
      </p:sp>
      <p:sp>
        <p:nvSpPr>
          <p:cNvPr id="44" name="Shape 42"/>
          <p:cNvSpPr/>
          <p:nvPr/>
        </p:nvSpPr>
        <p:spPr>
          <a:xfrm>
            <a:off x="3108960" y="5358384"/>
            <a:ext cx="5486400" cy="10973"/>
          </a:xfrm>
          <a:prstGeom prst="rect">
            <a:avLst/>
          </a:prstGeom>
          <a:solidFill>
            <a:srgbClr val="595959"/>
          </a:solidFill>
          <a:ln/>
        </p:spPr>
        <p:txBody>
          <a:bodyPr/>
          <a:lstStyle/>
          <a:p>
            <a:endParaRPr lang="en-US"/>
          </a:p>
        </p:txBody>
      </p:sp>
      <p:sp>
        <p:nvSpPr>
          <p:cNvPr id="45" name="Shape 43"/>
          <p:cNvSpPr/>
          <p:nvPr/>
        </p:nvSpPr>
        <p:spPr>
          <a:xfrm>
            <a:off x="3104388" y="5358384"/>
            <a:ext cx="9144" cy="91440"/>
          </a:xfrm>
          <a:prstGeom prst="rect">
            <a:avLst/>
          </a:prstGeom>
          <a:solidFill>
            <a:srgbClr val="595959"/>
          </a:solidFill>
          <a:ln/>
        </p:spPr>
        <p:txBody>
          <a:bodyPr/>
          <a:lstStyle/>
          <a:p>
            <a:endParaRPr lang="en-US"/>
          </a:p>
        </p:txBody>
      </p:sp>
      <p:sp>
        <p:nvSpPr>
          <p:cNvPr id="46" name="Text 44"/>
          <p:cNvSpPr/>
          <p:nvPr/>
        </p:nvSpPr>
        <p:spPr>
          <a:xfrm>
            <a:off x="2834640" y="5449824"/>
            <a:ext cx="548640" cy="228600"/>
          </a:xfrm>
          <a:prstGeom prst="rect">
            <a:avLst/>
          </a:prstGeom>
          <a:noFill/>
          <a:ln/>
        </p:spPr>
        <p:txBody>
          <a:bodyPr wrap="square" lIns="0" tIns="0" rIns="0" bIns="0" rtlCol="0" anchor="ctr"/>
          <a:lstStyle/>
          <a:p>
            <a:pPr marL="0" indent="0" algn="ctr">
              <a:buNone/>
            </a:pPr>
            <a:r>
              <a:rPr lang="en-US" sz="900">
                <a:solidFill>
                  <a:srgbClr val="595959"/>
                </a:solidFill>
                <a:latin typeface="Calibri" pitchFamily="34" charset="0"/>
                <a:ea typeface="Calibri" pitchFamily="34" charset="-122"/>
                <a:cs typeface="Calibri" pitchFamily="34" charset="-120"/>
              </a:rPr>
              <a:t>$100</a:t>
            </a:r>
            <a:endParaRPr lang="en-US" sz="900"/>
          </a:p>
        </p:txBody>
      </p:sp>
      <p:sp>
        <p:nvSpPr>
          <p:cNvPr id="47" name="Shape 45"/>
          <p:cNvSpPr/>
          <p:nvPr/>
        </p:nvSpPr>
        <p:spPr>
          <a:xfrm>
            <a:off x="4475988" y="5358384"/>
            <a:ext cx="9144" cy="91440"/>
          </a:xfrm>
          <a:prstGeom prst="rect">
            <a:avLst/>
          </a:prstGeom>
          <a:solidFill>
            <a:srgbClr val="595959"/>
          </a:solidFill>
          <a:ln/>
        </p:spPr>
        <p:txBody>
          <a:bodyPr/>
          <a:lstStyle/>
          <a:p>
            <a:endParaRPr lang="en-US"/>
          </a:p>
        </p:txBody>
      </p:sp>
      <p:sp>
        <p:nvSpPr>
          <p:cNvPr id="48" name="Text 46"/>
          <p:cNvSpPr/>
          <p:nvPr/>
        </p:nvSpPr>
        <p:spPr>
          <a:xfrm>
            <a:off x="4206240" y="5449824"/>
            <a:ext cx="548640" cy="228600"/>
          </a:xfrm>
          <a:prstGeom prst="rect">
            <a:avLst/>
          </a:prstGeom>
          <a:noFill/>
          <a:ln/>
        </p:spPr>
        <p:txBody>
          <a:bodyPr wrap="square" lIns="0" tIns="0" rIns="0" bIns="0" rtlCol="0" anchor="ctr"/>
          <a:lstStyle/>
          <a:p>
            <a:pPr marL="0" indent="0" algn="ctr">
              <a:buNone/>
            </a:pPr>
            <a:r>
              <a:rPr lang="en-US" sz="900">
                <a:solidFill>
                  <a:srgbClr val="595959"/>
                </a:solidFill>
                <a:latin typeface="Calibri" pitchFamily="34" charset="0"/>
                <a:ea typeface="Calibri" pitchFamily="34" charset="-122"/>
                <a:cs typeface="Calibri" pitchFamily="34" charset="-120"/>
              </a:rPr>
              <a:t>$140</a:t>
            </a:r>
            <a:endParaRPr lang="en-US" sz="900"/>
          </a:p>
        </p:txBody>
      </p:sp>
      <p:sp>
        <p:nvSpPr>
          <p:cNvPr id="49" name="Shape 47"/>
          <p:cNvSpPr/>
          <p:nvPr/>
        </p:nvSpPr>
        <p:spPr>
          <a:xfrm>
            <a:off x="5847588" y="5358384"/>
            <a:ext cx="9144" cy="91440"/>
          </a:xfrm>
          <a:prstGeom prst="rect">
            <a:avLst/>
          </a:prstGeom>
          <a:solidFill>
            <a:srgbClr val="595959"/>
          </a:solidFill>
          <a:ln/>
        </p:spPr>
        <p:txBody>
          <a:bodyPr/>
          <a:lstStyle/>
          <a:p>
            <a:endParaRPr lang="en-US"/>
          </a:p>
        </p:txBody>
      </p:sp>
      <p:sp>
        <p:nvSpPr>
          <p:cNvPr id="50" name="Text 48"/>
          <p:cNvSpPr/>
          <p:nvPr/>
        </p:nvSpPr>
        <p:spPr>
          <a:xfrm>
            <a:off x="5577840" y="5449824"/>
            <a:ext cx="548640" cy="228600"/>
          </a:xfrm>
          <a:prstGeom prst="rect">
            <a:avLst/>
          </a:prstGeom>
          <a:noFill/>
          <a:ln/>
        </p:spPr>
        <p:txBody>
          <a:bodyPr wrap="square" lIns="0" tIns="0" rIns="0" bIns="0" rtlCol="0" anchor="ctr"/>
          <a:lstStyle/>
          <a:p>
            <a:pPr marL="0" indent="0" algn="ctr">
              <a:buNone/>
            </a:pPr>
            <a:r>
              <a:rPr lang="en-US" sz="900">
                <a:solidFill>
                  <a:srgbClr val="595959"/>
                </a:solidFill>
                <a:latin typeface="Calibri" pitchFamily="34" charset="0"/>
                <a:ea typeface="Calibri" pitchFamily="34" charset="-122"/>
                <a:cs typeface="Calibri" pitchFamily="34" charset="-120"/>
              </a:rPr>
              <a:t>$180</a:t>
            </a:r>
            <a:endParaRPr lang="en-US" sz="900"/>
          </a:p>
        </p:txBody>
      </p:sp>
      <p:sp>
        <p:nvSpPr>
          <p:cNvPr id="51" name="Shape 49"/>
          <p:cNvSpPr/>
          <p:nvPr/>
        </p:nvSpPr>
        <p:spPr>
          <a:xfrm>
            <a:off x="7219188" y="5358384"/>
            <a:ext cx="9144" cy="91440"/>
          </a:xfrm>
          <a:prstGeom prst="rect">
            <a:avLst/>
          </a:prstGeom>
          <a:solidFill>
            <a:srgbClr val="595959"/>
          </a:solidFill>
          <a:ln/>
        </p:spPr>
        <p:txBody>
          <a:bodyPr/>
          <a:lstStyle/>
          <a:p>
            <a:endParaRPr lang="en-US"/>
          </a:p>
        </p:txBody>
      </p:sp>
      <p:sp>
        <p:nvSpPr>
          <p:cNvPr id="52" name="Text 50"/>
          <p:cNvSpPr/>
          <p:nvPr/>
        </p:nvSpPr>
        <p:spPr>
          <a:xfrm>
            <a:off x="6949440" y="5449824"/>
            <a:ext cx="548640" cy="228600"/>
          </a:xfrm>
          <a:prstGeom prst="rect">
            <a:avLst/>
          </a:prstGeom>
          <a:noFill/>
          <a:ln/>
        </p:spPr>
        <p:txBody>
          <a:bodyPr wrap="square" lIns="0" tIns="0" rIns="0" bIns="0" rtlCol="0" anchor="ctr"/>
          <a:lstStyle/>
          <a:p>
            <a:pPr marL="0" indent="0" algn="ctr">
              <a:buNone/>
            </a:pPr>
            <a:r>
              <a:rPr lang="en-US" sz="900">
                <a:solidFill>
                  <a:srgbClr val="595959"/>
                </a:solidFill>
                <a:latin typeface="Calibri" pitchFamily="34" charset="0"/>
                <a:ea typeface="Calibri" pitchFamily="34" charset="-122"/>
                <a:cs typeface="Calibri" pitchFamily="34" charset="-120"/>
              </a:rPr>
              <a:t>$220</a:t>
            </a:r>
            <a:endParaRPr lang="en-US" sz="900"/>
          </a:p>
        </p:txBody>
      </p:sp>
      <p:sp>
        <p:nvSpPr>
          <p:cNvPr id="53" name="Shape 51"/>
          <p:cNvSpPr/>
          <p:nvPr/>
        </p:nvSpPr>
        <p:spPr>
          <a:xfrm>
            <a:off x="8590788" y="5358384"/>
            <a:ext cx="9144" cy="91440"/>
          </a:xfrm>
          <a:prstGeom prst="rect">
            <a:avLst/>
          </a:prstGeom>
          <a:solidFill>
            <a:srgbClr val="595959"/>
          </a:solidFill>
          <a:ln/>
        </p:spPr>
        <p:txBody>
          <a:bodyPr/>
          <a:lstStyle/>
          <a:p>
            <a:endParaRPr lang="en-US"/>
          </a:p>
        </p:txBody>
      </p:sp>
      <p:sp>
        <p:nvSpPr>
          <p:cNvPr id="54" name="Text 52"/>
          <p:cNvSpPr/>
          <p:nvPr/>
        </p:nvSpPr>
        <p:spPr>
          <a:xfrm>
            <a:off x="8321040" y="5449824"/>
            <a:ext cx="548640" cy="228600"/>
          </a:xfrm>
          <a:prstGeom prst="rect">
            <a:avLst/>
          </a:prstGeom>
          <a:noFill/>
          <a:ln/>
        </p:spPr>
        <p:txBody>
          <a:bodyPr wrap="square" lIns="0" tIns="0" rIns="0" bIns="0" rtlCol="0" anchor="ctr"/>
          <a:lstStyle/>
          <a:p>
            <a:pPr marL="0" indent="0" algn="ctr">
              <a:buNone/>
            </a:pPr>
            <a:r>
              <a:rPr lang="en-US" sz="900">
                <a:solidFill>
                  <a:srgbClr val="595959"/>
                </a:solidFill>
                <a:latin typeface="Calibri" pitchFamily="34" charset="0"/>
                <a:ea typeface="Calibri" pitchFamily="34" charset="-122"/>
                <a:cs typeface="Calibri" pitchFamily="34" charset="-120"/>
              </a:rPr>
              <a:t>$260</a:t>
            </a:r>
            <a:endParaRPr lang="en-US" sz="900"/>
          </a:p>
        </p:txBody>
      </p:sp>
      <p:sp>
        <p:nvSpPr>
          <p:cNvPr id="55" name="Text 53"/>
          <p:cNvSpPr/>
          <p:nvPr/>
        </p:nvSpPr>
        <p:spPr>
          <a:xfrm>
            <a:off x="3108960" y="5724144"/>
            <a:ext cx="5486400" cy="228600"/>
          </a:xfrm>
          <a:prstGeom prst="rect">
            <a:avLst/>
          </a:prstGeom>
          <a:noFill/>
          <a:ln/>
        </p:spPr>
        <p:txBody>
          <a:bodyPr wrap="square" lIns="0" tIns="0" rIns="0" bIns="0" rtlCol="0" anchor="ctr"/>
          <a:lstStyle/>
          <a:p>
            <a:pPr marL="0" indent="0" algn="ctr">
              <a:buNone/>
            </a:pPr>
            <a:r>
              <a:rPr lang="en-US" sz="900" i="1">
                <a:solidFill>
                  <a:srgbClr val="595959"/>
                </a:solidFill>
                <a:latin typeface="Calibri" pitchFamily="34" charset="0"/>
                <a:ea typeface="Calibri" pitchFamily="34" charset="-122"/>
                <a:cs typeface="Calibri" pitchFamily="34" charset="-120"/>
              </a:rPr>
              <a:t>Implied Equity Value per Share ($)</a:t>
            </a:r>
            <a:endParaRPr lang="en-US" sz="900"/>
          </a:p>
        </p:txBody>
      </p:sp>
      <p:sp>
        <p:nvSpPr>
          <p:cNvPr id="56" name="Shape 54"/>
          <p:cNvSpPr/>
          <p:nvPr/>
        </p:nvSpPr>
        <p:spPr>
          <a:xfrm>
            <a:off x="6869887" y="1828800"/>
            <a:ext cx="22860" cy="3529584"/>
          </a:xfrm>
          <a:prstGeom prst="rect">
            <a:avLst/>
          </a:prstGeom>
          <a:solidFill>
            <a:srgbClr val="C00000"/>
          </a:solidFill>
          <a:ln/>
        </p:spPr>
        <p:txBody>
          <a:bodyPr/>
          <a:lstStyle/>
          <a:p>
            <a:endParaRPr lang="en-US"/>
          </a:p>
        </p:txBody>
      </p:sp>
      <p:sp>
        <p:nvSpPr>
          <p:cNvPr id="57" name="Shape 55"/>
          <p:cNvSpPr/>
          <p:nvPr/>
        </p:nvSpPr>
        <p:spPr>
          <a:xfrm>
            <a:off x="6469380" y="1435608"/>
            <a:ext cx="822960" cy="274320"/>
          </a:xfrm>
          <a:prstGeom prst="rect">
            <a:avLst/>
          </a:prstGeom>
          <a:solidFill>
            <a:srgbClr val="C00000"/>
          </a:solidFill>
          <a:ln/>
        </p:spPr>
        <p:txBody>
          <a:bodyPr/>
          <a:lstStyle/>
          <a:p>
            <a:endParaRPr lang="en-US"/>
          </a:p>
        </p:txBody>
      </p:sp>
      <p:sp>
        <p:nvSpPr>
          <p:cNvPr id="58" name="Text 56"/>
          <p:cNvSpPr/>
          <p:nvPr/>
        </p:nvSpPr>
        <p:spPr>
          <a:xfrm>
            <a:off x="6469380" y="1435608"/>
            <a:ext cx="82296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$210 Offer</a:t>
            </a:r>
            <a:endParaRPr lang="en-US" sz="900"/>
          </a:p>
        </p:txBody>
      </p:sp>
      <p:sp>
        <p:nvSpPr>
          <p:cNvPr id="59" name="Shape 57"/>
          <p:cNvSpPr/>
          <p:nvPr/>
        </p:nvSpPr>
        <p:spPr>
          <a:xfrm>
            <a:off x="8778240" y="1508760"/>
            <a:ext cx="3090672" cy="4754880"/>
          </a:xfrm>
          <a:prstGeom prst="rect">
            <a:avLst/>
          </a:prstGeom>
          <a:solidFill>
            <a:srgbClr val="1F4E79"/>
          </a:solidFill>
          <a:ln/>
        </p:spPr>
        <p:txBody>
          <a:bodyPr/>
          <a:lstStyle/>
          <a:p>
            <a:endParaRPr lang="en-US"/>
          </a:p>
        </p:txBody>
      </p:sp>
      <p:sp>
        <p:nvSpPr>
          <p:cNvPr id="60" name="Text 58"/>
          <p:cNvSpPr/>
          <p:nvPr/>
        </p:nvSpPr>
        <p:spPr>
          <a:xfrm>
            <a:off x="8915400" y="1600200"/>
            <a:ext cx="2816352" cy="365760"/>
          </a:xfrm>
          <a:prstGeom prst="rect">
            <a:avLst/>
          </a:prstGeom>
          <a:noFill/>
          <a:ln/>
        </p:spPr>
        <p:txBody>
          <a:bodyPr wrap="square" lIns="0" tIns="0" rIns="0" bIns="0" rtlCol="0" anchor="ctr"/>
          <a:lstStyle/>
          <a:p>
            <a:pPr marL="0" indent="0" algn="l">
              <a:buNone/>
            </a:pPr>
            <a:r>
              <a:rPr lang="en-US" sz="1300" b="1" i="1" kern="0" spc="100">
                <a:solidFill>
                  <a:srgbClr val="FFFFFF"/>
                </a:solidFill>
                <a:latin typeface="Calibri" pitchFamily="34" charset="0"/>
                <a:ea typeface="Calibri" pitchFamily="34" charset="-122"/>
                <a:cs typeface="Calibri" pitchFamily="34" charset="-120"/>
              </a:rPr>
              <a:t>WHERE $210 FALLS</a:t>
            </a:r>
            <a:endParaRPr lang="en-US" sz="1300"/>
          </a:p>
        </p:txBody>
      </p:sp>
      <p:sp>
        <p:nvSpPr>
          <p:cNvPr id="61" name="Shape 59"/>
          <p:cNvSpPr/>
          <p:nvPr/>
        </p:nvSpPr>
        <p:spPr>
          <a:xfrm>
            <a:off x="8915400" y="1965960"/>
            <a:ext cx="1280160" cy="36576"/>
          </a:xfrm>
          <a:prstGeom prst="rect">
            <a:avLst/>
          </a:prstGeom>
          <a:solidFill>
            <a:srgbClr val="2E75B6"/>
          </a:solidFill>
          <a:ln/>
        </p:spPr>
        <p:txBody>
          <a:bodyPr/>
          <a:lstStyle/>
          <a:p>
            <a:endParaRPr lang="en-US"/>
          </a:p>
        </p:txBody>
      </p:sp>
      <p:sp>
        <p:nvSpPr>
          <p:cNvPr id="62" name="Text 60"/>
          <p:cNvSpPr/>
          <p:nvPr/>
        </p:nvSpPr>
        <p:spPr>
          <a:xfrm>
            <a:off x="8915400" y="2057400"/>
            <a:ext cx="2816352" cy="164592"/>
          </a:xfrm>
          <a:prstGeom prst="rect">
            <a:avLst/>
          </a:prstGeom>
          <a:noFill/>
          <a:ln/>
        </p:spPr>
        <p:txBody>
          <a:bodyPr wrap="square" lIns="0" tIns="0" rIns="0" bIns="0" rtlCol="0" anchor="ctr"/>
          <a:lstStyle/>
          <a:p>
            <a:pPr marL="0" indent="0" algn="l">
              <a:buNone/>
            </a:pPr>
            <a:r>
              <a:rPr lang="en-US" sz="900" b="1">
                <a:solidFill>
                  <a:srgbClr val="FFFFFF"/>
                </a:solidFill>
                <a:latin typeface="Calibri" pitchFamily="34" charset="0"/>
                <a:ea typeface="Calibri" pitchFamily="34" charset="-122"/>
                <a:cs typeface="Calibri" pitchFamily="34" charset="-120"/>
              </a:rPr>
              <a:t>52-Wk Trading Range</a:t>
            </a:r>
            <a:endParaRPr lang="en-US" sz="900"/>
          </a:p>
        </p:txBody>
      </p:sp>
      <p:sp>
        <p:nvSpPr>
          <p:cNvPr id="63" name="Text 61"/>
          <p:cNvSpPr/>
          <p:nvPr/>
        </p:nvSpPr>
        <p:spPr>
          <a:xfrm>
            <a:off x="8915400" y="2221992"/>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above high +17.3%</a:t>
            </a:r>
            <a:endParaRPr lang="en-US" sz="1100"/>
          </a:p>
        </p:txBody>
      </p:sp>
      <p:sp>
        <p:nvSpPr>
          <p:cNvPr id="64" name="Text 62"/>
          <p:cNvSpPr/>
          <p:nvPr/>
        </p:nvSpPr>
        <p:spPr>
          <a:xfrm>
            <a:off x="8915400" y="2450592"/>
            <a:ext cx="2816352" cy="164592"/>
          </a:xfrm>
          <a:prstGeom prst="rect">
            <a:avLst/>
          </a:prstGeom>
          <a:noFill/>
          <a:ln/>
        </p:spPr>
        <p:txBody>
          <a:bodyPr wrap="square" lIns="0" tIns="0" rIns="0" bIns="0" rtlCol="0" anchor="ctr"/>
          <a:lstStyle/>
          <a:p>
            <a:pPr marL="0" indent="0" algn="l">
              <a:buNone/>
            </a:pPr>
            <a:r>
              <a:rPr lang="en-US" sz="900" b="1">
                <a:solidFill>
                  <a:srgbClr val="FFFFFF"/>
                </a:solidFill>
                <a:latin typeface="Calibri" pitchFamily="34" charset="0"/>
                <a:ea typeface="Calibri" pitchFamily="34" charset="-122"/>
                <a:cs typeface="Calibri" pitchFamily="34" charset="-120"/>
              </a:rPr>
              <a:t>Premia 52-Wk High</a:t>
            </a:r>
            <a:endParaRPr lang="en-US" sz="900"/>
          </a:p>
        </p:txBody>
      </p:sp>
      <p:sp>
        <p:nvSpPr>
          <p:cNvPr id="65" name="Text 63"/>
          <p:cNvSpPr/>
          <p:nvPr/>
        </p:nvSpPr>
        <p:spPr>
          <a:xfrm>
            <a:off x="8915400" y="2615184"/>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85th pct</a:t>
            </a:r>
            <a:endParaRPr lang="en-US" sz="1100"/>
          </a:p>
        </p:txBody>
      </p:sp>
      <p:sp>
        <p:nvSpPr>
          <p:cNvPr id="66" name="Text 64"/>
          <p:cNvSpPr/>
          <p:nvPr/>
        </p:nvSpPr>
        <p:spPr>
          <a:xfrm>
            <a:off x="8915400" y="2843784"/>
            <a:ext cx="2816352" cy="164592"/>
          </a:xfrm>
          <a:prstGeom prst="rect">
            <a:avLst/>
          </a:prstGeom>
          <a:noFill/>
          <a:ln/>
        </p:spPr>
        <p:txBody>
          <a:bodyPr wrap="square" lIns="0" tIns="0" rIns="0" bIns="0" rtlCol="0" anchor="ctr"/>
          <a:lstStyle/>
          <a:p>
            <a:pPr marL="0" indent="0" algn="l">
              <a:buNone/>
            </a:pPr>
            <a:r>
              <a:rPr lang="en-US" sz="900" b="1">
                <a:solidFill>
                  <a:srgbClr val="FFFFFF"/>
                </a:solidFill>
                <a:latin typeface="Calibri" pitchFamily="34" charset="0"/>
                <a:ea typeface="Calibri" pitchFamily="34" charset="-122"/>
                <a:cs typeface="Calibri" pitchFamily="34" charset="-120"/>
              </a:rPr>
              <a:t>Premia Unaffected</a:t>
            </a:r>
            <a:endParaRPr lang="en-US" sz="900"/>
          </a:p>
        </p:txBody>
      </p:sp>
      <p:sp>
        <p:nvSpPr>
          <p:cNvPr id="67" name="Text 65"/>
          <p:cNvSpPr/>
          <p:nvPr/>
        </p:nvSpPr>
        <p:spPr>
          <a:xfrm>
            <a:off x="8915400" y="3008376"/>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13th pct (low end)</a:t>
            </a:r>
            <a:endParaRPr lang="en-US" sz="1100"/>
          </a:p>
        </p:txBody>
      </p:sp>
      <p:sp>
        <p:nvSpPr>
          <p:cNvPr id="68" name="Text 66"/>
          <p:cNvSpPr/>
          <p:nvPr/>
        </p:nvSpPr>
        <p:spPr>
          <a:xfrm>
            <a:off x="8915400" y="3236976"/>
            <a:ext cx="2816352" cy="164592"/>
          </a:xfrm>
          <a:prstGeom prst="rect">
            <a:avLst/>
          </a:prstGeom>
          <a:noFill/>
          <a:ln/>
        </p:spPr>
        <p:txBody>
          <a:bodyPr wrap="square" lIns="0" tIns="0" rIns="0" bIns="0" rtlCol="0" anchor="ctr">
            <a:noAutofit/>
          </a:bodyPr>
          <a:lstStyle/>
          <a:p>
            <a:pPr marL="0" indent="0" algn="l">
              <a:buNone/>
            </a:pPr>
            <a:r>
              <a:rPr lang="en-US" sz="900" b="1">
                <a:solidFill>
                  <a:srgbClr val="FFFFFF"/>
                </a:solidFill>
                <a:latin typeface="Calibri" pitchFamily="34" charset="0"/>
                <a:ea typeface="Calibri" pitchFamily="34" charset="-122"/>
                <a:cs typeface="Calibri" pitchFamily="34" charset="-120"/>
              </a:rPr>
              <a:t>Future Share Price</a:t>
            </a:r>
            <a:endParaRPr lang="en-US" sz="900"/>
          </a:p>
        </p:txBody>
      </p:sp>
      <p:sp>
        <p:nvSpPr>
          <p:cNvPr id="69" name="Text 67"/>
          <p:cNvSpPr/>
          <p:nvPr/>
        </p:nvSpPr>
        <p:spPr>
          <a:xfrm>
            <a:off x="8915400" y="3401568"/>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67th pct</a:t>
            </a:r>
            <a:endParaRPr lang="en-US" sz="1100"/>
          </a:p>
        </p:txBody>
      </p:sp>
      <p:sp>
        <p:nvSpPr>
          <p:cNvPr id="70" name="Text 68"/>
          <p:cNvSpPr/>
          <p:nvPr/>
        </p:nvSpPr>
        <p:spPr>
          <a:xfrm>
            <a:off x="8915400" y="3630168"/>
            <a:ext cx="2816352" cy="164592"/>
          </a:xfrm>
          <a:prstGeom prst="rect">
            <a:avLst/>
          </a:prstGeom>
          <a:noFill/>
          <a:ln/>
        </p:spPr>
        <p:txBody>
          <a:bodyPr wrap="square" lIns="0" tIns="0" rIns="0" bIns="0" rtlCol="0" anchor="ctr">
            <a:noAutofit/>
          </a:bodyPr>
          <a:lstStyle/>
          <a:p>
            <a:pPr marL="0" indent="0" algn="l">
              <a:buNone/>
            </a:pPr>
            <a:r>
              <a:rPr lang="en-US" sz="900" b="1">
                <a:solidFill>
                  <a:srgbClr val="FFFFFF"/>
                </a:solidFill>
                <a:latin typeface="Calibri" pitchFamily="34" charset="0"/>
                <a:ea typeface="Calibri" pitchFamily="34" charset="-122"/>
                <a:cs typeface="Calibri" pitchFamily="34" charset="-120"/>
              </a:rPr>
              <a:t>DCF (Goldman)</a:t>
            </a:r>
            <a:endParaRPr lang="en-US" sz="900"/>
          </a:p>
        </p:txBody>
      </p:sp>
      <p:sp>
        <p:nvSpPr>
          <p:cNvPr id="71" name="Text 69"/>
          <p:cNvSpPr/>
          <p:nvPr/>
        </p:nvSpPr>
        <p:spPr>
          <a:xfrm>
            <a:off x="8915400" y="3794760"/>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88th pct (upper)</a:t>
            </a:r>
            <a:endParaRPr lang="en-US" sz="1100"/>
          </a:p>
        </p:txBody>
      </p:sp>
      <p:sp>
        <p:nvSpPr>
          <p:cNvPr id="72" name="Text 70"/>
          <p:cNvSpPr/>
          <p:nvPr/>
        </p:nvSpPr>
        <p:spPr>
          <a:xfrm>
            <a:off x="8915400" y="4023360"/>
            <a:ext cx="2816352" cy="164592"/>
          </a:xfrm>
          <a:prstGeom prst="rect">
            <a:avLst/>
          </a:prstGeom>
          <a:noFill/>
          <a:ln/>
        </p:spPr>
        <p:txBody>
          <a:bodyPr wrap="square" lIns="0" tIns="0" rIns="0" bIns="0" rtlCol="0" anchor="ctr"/>
          <a:lstStyle/>
          <a:p>
            <a:pPr marL="0" indent="0" algn="l">
              <a:buNone/>
            </a:pPr>
            <a:r>
              <a:rPr lang="en-US" sz="900" b="1">
                <a:solidFill>
                  <a:srgbClr val="D6E4F0"/>
                </a:solidFill>
                <a:latin typeface="Calibri" pitchFamily="34" charset="0"/>
                <a:ea typeface="Calibri" pitchFamily="34" charset="-122"/>
                <a:cs typeface="Calibri" pitchFamily="34" charset="-120"/>
              </a:rPr>
              <a:t>CCA</a:t>
            </a:r>
            <a:endParaRPr lang="en-US" sz="900"/>
          </a:p>
        </p:txBody>
      </p:sp>
      <p:sp>
        <p:nvSpPr>
          <p:cNvPr id="73" name="Text 71"/>
          <p:cNvSpPr/>
          <p:nvPr/>
        </p:nvSpPr>
        <p:spPr>
          <a:xfrm>
            <a:off x="8915400" y="4187952"/>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66th pct</a:t>
            </a:r>
            <a:endParaRPr lang="en-US" sz="1100"/>
          </a:p>
        </p:txBody>
      </p:sp>
      <p:sp>
        <p:nvSpPr>
          <p:cNvPr id="74" name="Text 72"/>
          <p:cNvSpPr/>
          <p:nvPr/>
        </p:nvSpPr>
        <p:spPr>
          <a:xfrm>
            <a:off x="8915400" y="4416552"/>
            <a:ext cx="2816352" cy="164592"/>
          </a:xfrm>
          <a:prstGeom prst="rect">
            <a:avLst/>
          </a:prstGeom>
          <a:noFill/>
          <a:ln/>
        </p:spPr>
        <p:txBody>
          <a:bodyPr wrap="square" lIns="0" tIns="0" rIns="0" bIns="0" rtlCol="0" anchor="ctr"/>
          <a:lstStyle/>
          <a:p>
            <a:pPr marL="0" indent="0" algn="l">
              <a:buNone/>
            </a:pPr>
            <a:r>
              <a:rPr lang="en-US" sz="900" b="1">
                <a:solidFill>
                  <a:srgbClr val="D6E4F0"/>
                </a:solidFill>
                <a:latin typeface="Calibri" pitchFamily="34" charset="0"/>
                <a:ea typeface="Calibri" pitchFamily="34" charset="-122"/>
                <a:cs typeface="Calibri" pitchFamily="34" charset="-120"/>
              </a:rPr>
              <a:t>Precedent Transactions</a:t>
            </a:r>
            <a:endParaRPr lang="en-US" sz="900"/>
          </a:p>
        </p:txBody>
      </p:sp>
      <p:sp>
        <p:nvSpPr>
          <p:cNvPr id="75" name="Text 73"/>
          <p:cNvSpPr/>
          <p:nvPr/>
        </p:nvSpPr>
        <p:spPr>
          <a:xfrm>
            <a:off x="8915400" y="4581144"/>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49th pct</a:t>
            </a:r>
            <a:endParaRPr lang="en-US" sz="1100"/>
          </a:p>
        </p:txBody>
      </p:sp>
      <p:sp>
        <p:nvSpPr>
          <p:cNvPr id="76" name="Text 74"/>
          <p:cNvSpPr/>
          <p:nvPr/>
        </p:nvSpPr>
        <p:spPr>
          <a:xfrm>
            <a:off x="8915400" y="4809744"/>
            <a:ext cx="2816352" cy="164592"/>
          </a:xfrm>
          <a:prstGeom prst="rect">
            <a:avLst/>
          </a:prstGeom>
          <a:noFill/>
          <a:ln/>
        </p:spPr>
        <p:txBody>
          <a:bodyPr wrap="square" lIns="0" tIns="0" rIns="0" bIns="0" rtlCol="0" anchor="ctr"/>
          <a:lstStyle/>
          <a:p>
            <a:pPr marL="0" indent="0" algn="l">
              <a:buNone/>
            </a:pPr>
            <a:r>
              <a:rPr lang="en-US" sz="900" b="1">
                <a:solidFill>
                  <a:srgbClr val="D6E4F0"/>
                </a:solidFill>
                <a:latin typeface="Calibri" pitchFamily="34" charset="0"/>
                <a:ea typeface="Calibri" pitchFamily="34" charset="-122"/>
                <a:cs typeface="Calibri" pitchFamily="34" charset="-120"/>
              </a:rPr>
              <a:t>LBO Affordability</a:t>
            </a:r>
            <a:endParaRPr lang="en-US" sz="900"/>
          </a:p>
        </p:txBody>
      </p:sp>
      <p:sp>
        <p:nvSpPr>
          <p:cNvPr id="77" name="Text 75"/>
          <p:cNvSpPr/>
          <p:nvPr/>
        </p:nvSpPr>
        <p:spPr>
          <a:xfrm>
            <a:off x="8915400" y="4974336"/>
            <a:ext cx="2816352" cy="1828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above range</a:t>
            </a:r>
            <a:endParaRPr lang="en-US" sz="1100"/>
          </a:p>
        </p:txBody>
      </p:sp>
      <p:sp>
        <p:nvSpPr>
          <p:cNvPr id="78" name="Shape 76"/>
          <p:cNvSpPr/>
          <p:nvPr/>
        </p:nvSpPr>
        <p:spPr>
          <a:xfrm>
            <a:off x="8915400" y="5532120"/>
            <a:ext cx="2816352" cy="640080"/>
          </a:xfrm>
          <a:prstGeom prst="rect">
            <a:avLst/>
          </a:prstGeom>
          <a:solidFill>
            <a:srgbClr val="2E75B6"/>
          </a:solidFill>
          <a:ln/>
        </p:spPr>
        <p:txBody>
          <a:bodyPr/>
          <a:lstStyle/>
          <a:p>
            <a:endParaRPr lang="en-US"/>
          </a:p>
        </p:txBody>
      </p:sp>
      <p:sp>
        <p:nvSpPr>
          <p:cNvPr id="79" name="Text 77"/>
          <p:cNvSpPr/>
          <p:nvPr/>
        </p:nvSpPr>
        <p:spPr>
          <a:xfrm>
            <a:off x="8961120" y="5532120"/>
            <a:ext cx="2724912" cy="640080"/>
          </a:xfrm>
          <a:prstGeom prst="rect">
            <a:avLst/>
          </a:prstGeom>
          <a:noFill/>
          <a:ln/>
        </p:spPr>
        <p:txBody>
          <a:bodyPr wrap="square" lIns="0" tIns="0" rIns="0" bIns="0" rtlCol="0" anchor="ctr"/>
          <a:lstStyle/>
          <a:p>
            <a:pPr marL="0" indent="0" algn="ctr">
              <a:buNone/>
            </a:pPr>
            <a:r>
              <a:rPr lang="en-US" sz="1000" b="1" i="1">
                <a:solidFill>
                  <a:srgbClr val="FFFFFF"/>
                </a:solidFill>
                <a:latin typeface="Calibri" pitchFamily="34" charset="0"/>
                <a:ea typeface="Calibri" pitchFamily="34" charset="-122"/>
                <a:cs typeface="Calibri" pitchFamily="34" charset="-120"/>
              </a:rPr>
              <a:t>Goldman: "$210 is fair from a financial point of view."</a:t>
            </a:r>
            <a:endParaRPr lang="en-US" sz="1000"/>
          </a:p>
        </p:txBody>
      </p:sp>
      <p:sp>
        <p:nvSpPr>
          <p:cNvPr id="80" name="Text 78"/>
          <p:cNvSpPr/>
          <p:nvPr/>
        </p:nvSpPr>
        <p:spPr>
          <a:xfrm>
            <a:off x="1554480" y="6359652"/>
            <a:ext cx="11475720" cy="228600"/>
          </a:xfrm>
          <a:prstGeom prst="rect">
            <a:avLst/>
          </a:prstGeom>
          <a:noFill/>
          <a:ln/>
        </p:spPr>
        <p:txBody>
          <a:bodyPr wrap="square" lIns="0" tIns="0" rIns="0" bIns="0" rtlCol="0" anchor="ctr"/>
          <a:lstStyle/>
          <a:p>
            <a:pPr marL="0" indent="0" algn="l">
              <a:buNone/>
            </a:pPr>
            <a:r>
              <a:rPr lang="en-US" sz="750" i="1">
                <a:solidFill>
                  <a:srgbClr val="595959"/>
                </a:solidFill>
                <a:latin typeface="Calibri" pitchFamily="34" charset="0"/>
                <a:ea typeface="Calibri" pitchFamily="34" charset="-122"/>
                <a:cs typeface="Calibri" pitchFamily="34" charset="-120"/>
              </a:rPr>
              <a:t>Source: Football Field tab. Methodology per IM §9. Eight ranges per IM §9.1–§9.4 (CCA, PTA, DCF, LBO Affordability) and Goldman corner-reconciled to within $3–$6.</a:t>
            </a:r>
            <a:endParaRPr lang="en-US" sz="75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64592" y="6437376"/>
            <a:ext cx="292608" cy="292608"/>
          </a:xfrm>
          <a:prstGeom prst="rect">
            <a:avLst/>
          </a:prstGeom>
          <a:solidFill>
            <a:srgbClr val="1F4E79"/>
          </a:solidFill>
          <a:ln/>
        </p:spPr>
        <p:txBody>
          <a:bodyPr/>
          <a:lstStyle/>
          <a:p>
            <a:endParaRPr lang="en-US"/>
          </a:p>
        </p:txBody>
      </p:sp>
      <p:sp>
        <p:nvSpPr>
          <p:cNvPr id="3" name="Text 1"/>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14</a:t>
            </a:r>
            <a:endParaRPr lang="en-US" sz="1200"/>
          </a:p>
        </p:txBody>
      </p:sp>
      <p:sp>
        <p:nvSpPr>
          <p:cNvPr id="4" name="Text 2"/>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5" name="Text 3"/>
          <p:cNvSpPr/>
          <p:nvPr/>
        </p:nvSpPr>
        <p:spPr>
          <a:xfrm>
            <a:off x="0" y="22860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Recommendation</a:t>
            </a:r>
            <a:endParaRPr lang="en-US" sz="3200"/>
          </a:p>
        </p:txBody>
      </p:sp>
      <p:sp>
        <p:nvSpPr>
          <p:cNvPr id="6" name="Shape 4"/>
          <p:cNvSpPr/>
          <p:nvPr/>
        </p:nvSpPr>
        <p:spPr>
          <a:xfrm>
            <a:off x="5363870" y="914400"/>
            <a:ext cx="1463040" cy="54864"/>
          </a:xfrm>
          <a:prstGeom prst="rect">
            <a:avLst/>
          </a:prstGeom>
          <a:solidFill>
            <a:srgbClr val="2E75B6"/>
          </a:solidFill>
          <a:ln/>
        </p:spPr>
        <p:txBody>
          <a:bodyPr/>
          <a:lstStyle/>
          <a:p>
            <a:endParaRPr lang="en-US"/>
          </a:p>
        </p:txBody>
      </p:sp>
      <p:sp>
        <p:nvSpPr>
          <p:cNvPr id="7" name="Shape 5"/>
          <p:cNvSpPr/>
          <p:nvPr/>
        </p:nvSpPr>
        <p:spPr>
          <a:xfrm>
            <a:off x="595222" y="1508760"/>
            <a:ext cx="5029200" cy="3831336"/>
          </a:xfrm>
          <a:prstGeom prst="rect">
            <a:avLst/>
          </a:prstGeom>
          <a:solidFill>
            <a:srgbClr val="FFFFFF"/>
          </a:solidFill>
          <a:ln w="25400">
            <a:solidFill>
              <a:srgbClr val="1F4E79"/>
            </a:solidFill>
            <a:prstDash val="solid"/>
          </a:ln>
        </p:spPr>
        <p:txBody>
          <a:bodyPr/>
          <a:lstStyle/>
          <a:p>
            <a:endParaRPr lang="en-US"/>
          </a:p>
        </p:txBody>
      </p:sp>
      <p:sp>
        <p:nvSpPr>
          <p:cNvPr id="8" name="Shape 6"/>
          <p:cNvSpPr/>
          <p:nvPr/>
        </p:nvSpPr>
        <p:spPr>
          <a:xfrm>
            <a:off x="869542" y="1782131"/>
            <a:ext cx="4480560" cy="502920"/>
          </a:xfrm>
          <a:prstGeom prst="rect">
            <a:avLst/>
          </a:prstGeom>
          <a:solidFill>
            <a:srgbClr val="1F4E79"/>
          </a:solidFill>
          <a:ln/>
        </p:spPr>
        <p:txBody>
          <a:bodyPr/>
          <a:lstStyle/>
          <a:p>
            <a:endParaRPr lang="en-US"/>
          </a:p>
        </p:txBody>
      </p:sp>
      <p:sp>
        <p:nvSpPr>
          <p:cNvPr id="9" name="Text 7"/>
          <p:cNvSpPr/>
          <p:nvPr/>
        </p:nvSpPr>
        <p:spPr>
          <a:xfrm>
            <a:off x="869542" y="1865376"/>
            <a:ext cx="448056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APPROVE the Acquisition of</a:t>
            </a:r>
            <a:endParaRPr lang="en-US" sz="1600"/>
          </a:p>
        </p:txBody>
      </p:sp>
      <p:sp>
        <p:nvSpPr>
          <p:cNvPr id="10" name="Text 8"/>
          <p:cNvSpPr/>
          <p:nvPr/>
        </p:nvSpPr>
        <p:spPr>
          <a:xfrm>
            <a:off x="595222" y="2322576"/>
            <a:ext cx="5029200" cy="2194560"/>
          </a:xfrm>
          <a:prstGeom prst="rect">
            <a:avLst/>
          </a:prstGeom>
          <a:noFill/>
          <a:ln/>
        </p:spPr>
        <p:txBody>
          <a:bodyPr wrap="square" lIns="0" tIns="0" rIns="0" bIns="0" rtlCol="0" anchor="ctr"/>
          <a:lstStyle/>
          <a:p>
            <a:pPr marL="0" indent="0" algn="ctr">
              <a:buNone/>
            </a:pPr>
            <a:r>
              <a:rPr lang="en-US" sz="22000" b="1" i="1">
                <a:solidFill>
                  <a:srgbClr val="1F4E79"/>
                </a:solidFill>
                <a:latin typeface="Calibri" pitchFamily="34" charset="0"/>
                <a:ea typeface="Calibri" pitchFamily="34" charset="-122"/>
                <a:cs typeface="Calibri" pitchFamily="34" charset="-120"/>
              </a:rPr>
              <a:t>EA</a:t>
            </a:r>
            <a:endParaRPr lang="en-US" sz="22000"/>
          </a:p>
        </p:txBody>
      </p:sp>
      <p:sp>
        <p:nvSpPr>
          <p:cNvPr id="11" name="Shape 9"/>
          <p:cNvSpPr/>
          <p:nvPr/>
        </p:nvSpPr>
        <p:spPr>
          <a:xfrm>
            <a:off x="2058262" y="4654296"/>
            <a:ext cx="2103120" cy="73152"/>
          </a:xfrm>
          <a:prstGeom prst="rect">
            <a:avLst/>
          </a:prstGeom>
          <a:solidFill>
            <a:srgbClr val="2E75B6"/>
          </a:solidFill>
          <a:ln/>
        </p:spPr>
        <p:txBody>
          <a:bodyPr/>
          <a:lstStyle/>
          <a:p>
            <a:endParaRPr lang="en-US"/>
          </a:p>
        </p:txBody>
      </p:sp>
      <p:sp>
        <p:nvSpPr>
          <p:cNvPr id="12" name="Text 10"/>
          <p:cNvSpPr/>
          <p:nvPr/>
        </p:nvSpPr>
        <p:spPr>
          <a:xfrm>
            <a:off x="595222" y="4745736"/>
            <a:ext cx="5029200" cy="365760"/>
          </a:xfrm>
          <a:prstGeom prst="rect">
            <a:avLst/>
          </a:prstGeom>
          <a:noFill/>
          <a:ln/>
        </p:spPr>
        <p:txBody>
          <a:bodyPr wrap="square" lIns="0" tIns="0" rIns="0" bIns="0" rtlCol="0" anchor="ctr"/>
          <a:lstStyle/>
          <a:p>
            <a:pPr marL="0" indent="0" algn="ctr">
              <a:buNone/>
            </a:pPr>
            <a:r>
              <a:rPr lang="en-US" sz="1400" b="1" kern="0" spc="200">
                <a:solidFill>
                  <a:srgbClr val="1F4E79"/>
                </a:solidFill>
                <a:latin typeface="Calibri" pitchFamily="34" charset="0"/>
                <a:ea typeface="Calibri" pitchFamily="34" charset="-122"/>
                <a:cs typeface="Calibri" pitchFamily="34" charset="-120"/>
              </a:rPr>
              <a:t>ELECTRONIC ARTS INC.</a:t>
            </a:r>
            <a:endParaRPr lang="en-US" sz="1400"/>
          </a:p>
        </p:txBody>
      </p:sp>
      <p:sp>
        <p:nvSpPr>
          <p:cNvPr id="13" name="Shape 11"/>
          <p:cNvSpPr/>
          <p:nvPr/>
        </p:nvSpPr>
        <p:spPr>
          <a:xfrm>
            <a:off x="6035040" y="1417320"/>
            <a:ext cx="5760720" cy="1783080"/>
          </a:xfrm>
          <a:prstGeom prst="roundRect">
            <a:avLst>
              <a:gd name="adj" fmla="val 4103"/>
            </a:avLst>
          </a:prstGeom>
          <a:solidFill>
            <a:srgbClr val="EAF2F9"/>
          </a:solidFill>
          <a:ln w="12700">
            <a:solidFill>
              <a:srgbClr val="2E75B6"/>
            </a:solidFill>
            <a:prstDash val="solid"/>
          </a:ln>
        </p:spPr>
        <p:txBody>
          <a:bodyPr/>
          <a:lstStyle/>
          <a:p>
            <a:endParaRPr lang="en-US"/>
          </a:p>
        </p:txBody>
      </p:sp>
      <p:sp>
        <p:nvSpPr>
          <p:cNvPr id="14" name="Text 12"/>
          <p:cNvSpPr/>
          <p:nvPr/>
        </p:nvSpPr>
        <p:spPr>
          <a:xfrm>
            <a:off x="6309360" y="1508760"/>
            <a:ext cx="5212080" cy="1600200"/>
          </a:xfrm>
          <a:prstGeom prst="rect">
            <a:avLst/>
          </a:prstGeom>
          <a:noFill/>
          <a:ln/>
        </p:spPr>
        <p:txBody>
          <a:bodyPr wrap="square" lIns="0" tIns="0" rIns="0" bIns="0" rtlCol="0" anchor="ctr"/>
          <a:lstStyle/>
          <a:p>
            <a:pPr marL="0" indent="0" algn="l">
              <a:buNone/>
            </a:pPr>
            <a:r>
              <a:rPr lang="en-US" sz="1300">
                <a:solidFill>
                  <a:srgbClr val="1F4E79"/>
                </a:solidFill>
                <a:latin typeface="Calibri" pitchFamily="34" charset="0"/>
                <a:ea typeface="Calibri" pitchFamily="34" charset="-122"/>
                <a:cs typeface="Calibri" pitchFamily="34" charset="-120"/>
              </a:rPr>
              <a:t>We believe the live-services anchor, sports IP through 2030+, conservative leverage, and PIF strategic synergies enable us to achieve a base-case </a:t>
            </a:r>
            <a:r>
              <a:rPr lang="en-US" sz="1300" b="1">
                <a:solidFill>
                  <a:srgbClr val="1F4E79"/>
                </a:solidFill>
                <a:latin typeface="Calibri" pitchFamily="34" charset="0"/>
                <a:ea typeface="Calibri" pitchFamily="34" charset="-122"/>
                <a:cs typeface="Calibri" pitchFamily="34" charset="-120"/>
              </a:rPr>
              <a:t>1.76x MoM</a:t>
            </a:r>
            <a:r>
              <a:rPr lang="en-US" sz="1300">
                <a:solidFill>
                  <a:srgbClr val="1F4E79"/>
                </a:solidFill>
                <a:latin typeface="Calibri" pitchFamily="34" charset="0"/>
                <a:ea typeface="Calibri" pitchFamily="34" charset="-122"/>
                <a:cs typeface="Calibri" pitchFamily="34" charset="-120"/>
              </a:rPr>
              <a:t> and </a:t>
            </a:r>
            <a:r>
              <a:rPr lang="en-US" sz="1300" b="1">
                <a:solidFill>
                  <a:srgbClr val="1F4E79"/>
                </a:solidFill>
                <a:latin typeface="Calibri" pitchFamily="34" charset="0"/>
                <a:ea typeface="Calibri" pitchFamily="34" charset="-122"/>
                <a:cs typeface="Calibri" pitchFamily="34" charset="-120"/>
              </a:rPr>
              <a:t>12.0% gross IRR</a:t>
            </a:r>
            <a:r>
              <a:rPr lang="en-US" sz="1300">
                <a:solidFill>
                  <a:srgbClr val="1F4E79"/>
                </a:solidFill>
                <a:latin typeface="Calibri" pitchFamily="34" charset="0"/>
                <a:ea typeface="Calibri" pitchFamily="34" charset="-122"/>
                <a:cs typeface="Calibri" pitchFamily="34" charset="-120"/>
              </a:rPr>
              <a:t> over a 5-year hold. Even our stress case preserves capital at </a:t>
            </a:r>
            <a:r>
              <a:rPr lang="en-US" sz="1300" b="1">
                <a:solidFill>
                  <a:srgbClr val="1F4E79"/>
                </a:solidFill>
                <a:latin typeface="Calibri" pitchFamily="34" charset="0"/>
                <a:ea typeface="Calibri" pitchFamily="34" charset="-122"/>
                <a:cs typeface="Calibri" pitchFamily="34" charset="-120"/>
              </a:rPr>
              <a:t>1.27x and 4.8% IRR</a:t>
            </a:r>
            <a:r>
              <a:rPr lang="en-US" sz="1300">
                <a:solidFill>
                  <a:srgbClr val="1F4E79"/>
                </a:solidFill>
                <a:latin typeface="Calibri" pitchFamily="34" charset="0"/>
                <a:ea typeface="Calibri" pitchFamily="34" charset="-122"/>
                <a:cs typeface="Calibri" pitchFamily="34" charset="-120"/>
              </a:rPr>
              <a:t>.</a:t>
            </a:r>
            <a:endParaRPr lang="en-US" sz="1300"/>
          </a:p>
        </p:txBody>
      </p:sp>
      <p:sp>
        <p:nvSpPr>
          <p:cNvPr id="15" name="Shape 13"/>
          <p:cNvSpPr/>
          <p:nvPr/>
        </p:nvSpPr>
        <p:spPr>
          <a:xfrm>
            <a:off x="6035040" y="3337560"/>
            <a:ext cx="5760720" cy="1783080"/>
          </a:xfrm>
          <a:prstGeom prst="roundRect">
            <a:avLst>
              <a:gd name="adj" fmla="val 4103"/>
            </a:avLst>
          </a:prstGeom>
          <a:solidFill>
            <a:srgbClr val="EAF2F9"/>
          </a:solidFill>
          <a:ln w="12700">
            <a:solidFill>
              <a:srgbClr val="2E75B6"/>
            </a:solidFill>
            <a:prstDash val="solid"/>
          </a:ln>
        </p:spPr>
        <p:txBody>
          <a:bodyPr/>
          <a:lstStyle/>
          <a:p>
            <a:endParaRPr lang="en-US"/>
          </a:p>
        </p:txBody>
      </p:sp>
      <p:sp>
        <p:nvSpPr>
          <p:cNvPr id="16" name="Text 14"/>
          <p:cNvSpPr/>
          <p:nvPr/>
        </p:nvSpPr>
        <p:spPr>
          <a:xfrm>
            <a:off x="6309360" y="3429000"/>
            <a:ext cx="5212080" cy="1600200"/>
          </a:xfrm>
          <a:prstGeom prst="rect">
            <a:avLst/>
          </a:prstGeom>
          <a:noFill/>
          <a:ln/>
        </p:spPr>
        <p:txBody>
          <a:bodyPr wrap="square" lIns="0" tIns="0" rIns="0" bIns="0" rtlCol="0" anchor="ctr"/>
          <a:lstStyle/>
          <a:p>
            <a:pPr marL="0" indent="0" algn="l">
              <a:buNone/>
            </a:pPr>
            <a:r>
              <a:rPr lang="en-US" sz="1300">
                <a:solidFill>
                  <a:srgbClr val="1F4E79"/>
                </a:solidFill>
                <a:latin typeface="Calibri" pitchFamily="34" charset="0"/>
                <a:ea typeface="Calibri" pitchFamily="34" charset="-122"/>
                <a:cs typeface="Calibri" pitchFamily="34" charset="-120"/>
              </a:rPr>
              <a:t>Acquiring EA gains us a category-defining sports-IP and live-services compounder. EA's recurring cash flows, irreplaceable license bundle, and PIF-aligned distribution into MENA separate it from any comparable take-private opportunity at this scale. </a:t>
            </a:r>
            <a:r>
              <a:rPr lang="en-US" sz="1300" b="1">
                <a:solidFill>
                  <a:srgbClr val="1F4E79"/>
                </a:solidFill>
                <a:latin typeface="Calibri" pitchFamily="34" charset="0"/>
                <a:ea typeface="Calibri" pitchFamily="34" charset="-122"/>
                <a:cs typeface="Calibri" pitchFamily="34" charset="-120"/>
              </a:rPr>
              <a:t>$210 is fair</a:t>
            </a:r>
            <a:r>
              <a:rPr lang="en-US" sz="1300">
                <a:solidFill>
                  <a:srgbClr val="1F4E79"/>
                </a:solidFill>
                <a:latin typeface="Calibri" pitchFamily="34" charset="0"/>
                <a:ea typeface="Calibri" pitchFamily="34" charset="-122"/>
                <a:cs typeface="Calibri" pitchFamily="34" charset="-120"/>
              </a:rPr>
              <a:t> per Goldman's Fairness Opinion and three independent valuation methodologies.</a:t>
            </a:r>
            <a:endParaRPr lang="en-US" sz="1300"/>
          </a:p>
        </p:txBody>
      </p:sp>
      <p:sp>
        <p:nvSpPr>
          <p:cNvPr id="17" name="Text 15"/>
          <p:cNvSpPr/>
          <p:nvPr/>
        </p:nvSpPr>
        <p:spPr>
          <a:xfrm>
            <a:off x="6035040" y="5394960"/>
            <a:ext cx="5760720" cy="457200"/>
          </a:xfrm>
          <a:prstGeom prst="rect">
            <a:avLst/>
          </a:prstGeom>
          <a:noFill/>
          <a:ln/>
        </p:spPr>
        <p:txBody>
          <a:bodyPr wrap="square" lIns="0" tIns="0" rIns="0" bIns="0" rtlCol="0" anchor="ctr"/>
          <a:lstStyle/>
          <a:p>
            <a:pPr marL="0" indent="0" algn="ctr">
              <a:buNone/>
            </a:pPr>
            <a:r>
              <a:rPr lang="en-US" sz="1300" b="1" i="1">
                <a:solidFill>
                  <a:srgbClr val="1F4E79"/>
                </a:solidFill>
                <a:latin typeface="Calibri" pitchFamily="34" charset="0"/>
                <a:ea typeface="Calibri" pitchFamily="34" charset="-122"/>
                <a:cs typeface="Calibri" pitchFamily="34" charset="-120"/>
              </a:rPr>
              <a:t>Sponsor Equity Commitment: $36.4B  •  Funded Debt: $18.0B  •  EA Cash Contribution: $0.9B  •  Total Sources: $55.3B</a:t>
            </a:r>
            <a:endParaRPr lang="en-US" sz="1300"/>
          </a:p>
        </p:txBody>
      </p:sp>
      <p:sp>
        <p:nvSpPr>
          <p:cNvPr id="18" name="Shape 16"/>
          <p:cNvSpPr/>
          <p:nvPr/>
        </p:nvSpPr>
        <p:spPr>
          <a:xfrm>
            <a:off x="7406640" y="5852160"/>
            <a:ext cx="3017520" cy="54864"/>
          </a:xfrm>
          <a:prstGeom prst="rect">
            <a:avLst/>
          </a:prstGeom>
          <a:solidFill>
            <a:srgbClr val="2E75B6"/>
          </a:solidFill>
          <a:ln/>
        </p:spPr>
        <p:txBody>
          <a:bodyPr/>
          <a:lstStyle/>
          <a:p>
            <a:endParaRPr lang="en-US"/>
          </a:p>
        </p:txBody>
      </p:sp>
      <p:sp>
        <p:nvSpPr>
          <p:cNvPr id="19" name="Text 17"/>
          <p:cNvSpPr/>
          <p:nvPr/>
        </p:nvSpPr>
        <p:spPr>
          <a:xfrm>
            <a:off x="6035040" y="5943600"/>
            <a:ext cx="5760720" cy="320040"/>
          </a:xfrm>
          <a:prstGeom prst="rect">
            <a:avLst/>
          </a:prstGeom>
          <a:noFill/>
          <a:ln/>
        </p:spPr>
        <p:txBody>
          <a:bodyPr wrap="square" lIns="0" tIns="0" rIns="0" bIns="0" rtlCol="0" anchor="ctr"/>
          <a:lstStyle/>
          <a:p>
            <a:pPr marL="0" indent="0" algn="ctr">
              <a:buNone/>
            </a:pPr>
            <a:r>
              <a:rPr lang="en-US" sz="950" i="1">
                <a:solidFill>
                  <a:srgbClr val="595959"/>
                </a:solidFill>
                <a:latin typeface="Calibri" pitchFamily="34" charset="0"/>
                <a:ea typeface="Calibri" pitchFamily="34" charset="-122"/>
                <a:cs typeface="Calibri" pitchFamily="34" charset="-120"/>
              </a:rPr>
              <a:t>Subject to: CFIUS clearance • debt syndication within flex • Wilson retention through 2028</a:t>
            </a:r>
            <a:endParaRPr lang="en-US" sz="9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0" y="274320"/>
            <a:ext cx="12191695" cy="640080"/>
          </a:xfrm>
          <a:prstGeom prst="rect">
            <a:avLst/>
          </a:prstGeom>
          <a:noFill/>
          <a:ln/>
        </p:spPr>
        <p:txBody>
          <a:bodyPr wrap="square" lIns="0" tIns="0" rIns="0" bIns="0" rtlCol="0" anchor="ctr"/>
          <a:lstStyle/>
          <a:p>
            <a:pPr marL="0" indent="0" algn="ctr">
              <a:buNone/>
            </a:pPr>
            <a:r>
              <a:rPr lang="en-US" sz="3200" b="1" i="1">
                <a:solidFill>
                  <a:srgbClr val="1F4E79"/>
                </a:solidFill>
                <a:latin typeface="Calibri" pitchFamily="34" charset="0"/>
                <a:ea typeface="Calibri" pitchFamily="34" charset="-122"/>
                <a:cs typeface="Calibri" pitchFamily="34" charset="-120"/>
              </a:rPr>
              <a:t>Appendices</a:t>
            </a:r>
            <a:endParaRPr lang="en-US" sz="3200"/>
          </a:p>
        </p:txBody>
      </p:sp>
      <p:sp>
        <p:nvSpPr>
          <p:cNvPr id="3" name="Shape 1"/>
          <p:cNvSpPr/>
          <p:nvPr/>
        </p:nvSpPr>
        <p:spPr>
          <a:xfrm>
            <a:off x="5363870" y="960120"/>
            <a:ext cx="1463040" cy="54864"/>
          </a:xfrm>
          <a:prstGeom prst="rect">
            <a:avLst/>
          </a:prstGeom>
          <a:solidFill>
            <a:srgbClr val="2E75B6"/>
          </a:solidFill>
          <a:ln/>
        </p:spPr>
        <p:txBody>
          <a:bodyPr/>
          <a:lstStyle/>
          <a:p>
            <a:endParaRPr lang="en-US"/>
          </a:p>
        </p:txBody>
      </p:sp>
      <p:sp>
        <p:nvSpPr>
          <p:cNvPr id="4" name="Shape 2"/>
          <p:cNvSpPr/>
          <p:nvPr/>
        </p:nvSpPr>
        <p:spPr>
          <a:xfrm>
            <a:off x="164592" y="6437376"/>
            <a:ext cx="292608" cy="292608"/>
          </a:xfrm>
          <a:prstGeom prst="rect">
            <a:avLst/>
          </a:prstGeom>
          <a:solidFill>
            <a:srgbClr val="1F4E79"/>
          </a:solidFill>
          <a:ln/>
        </p:spPr>
        <p:txBody>
          <a:bodyPr/>
          <a:lstStyle/>
          <a:p>
            <a:endParaRPr lang="en-US"/>
          </a:p>
        </p:txBody>
      </p:sp>
      <p:sp>
        <p:nvSpPr>
          <p:cNvPr id="5" name="Text 3"/>
          <p:cNvSpPr/>
          <p:nvPr/>
        </p:nvSpPr>
        <p:spPr>
          <a:xfrm>
            <a:off x="164592" y="6437376"/>
            <a:ext cx="292608" cy="292608"/>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15</a:t>
            </a:r>
            <a:endParaRPr lang="en-US" sz="12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556661" y="1289304"/>
            <a:ext cx="5104598" cy="4882896"/>
          </a:xfrm>
          <a:prstGeom prst="rect">
            <a:avLst/>
          </a:prstGeom>
          <a:solidFill>
            <a:srgbClr val="1F4E79"/>
          </a:solidFill>
          <a:ln/>
        </p:spPr>
        <p:txBody>
          <a:bodyPr/>
          <a:lstStyle/>
          <a:p>
            <a:endParaRPr lang="en-US"/>
          </a:p>
        </p:txBody>
      </p:sp>
      <p:sp>
        <p:nvSpPr>
          <p:cNvPr id="8" name="Text 6"/>
          <p:cNvSpPr/>
          <p:nvPr/>
        </p:nvSpPr>
        <p:spPr>
          <a:xfrm>
            <a:off x="365760" y="1783080"/>
            <a:ext cx="5486400" cy="2468880"/>
          </a:xfrm>
          <a:prstGeom prst="rect">
            <a:avLst/>
          </a:prstGeom>
          <a:noFill/>
          <a:ln/>
        </p:spPr>
        <p:txBody>
          <a:bodyPr wrap="square" lIns="0" tIns="0" rIns="0" bIns="0" rtlCol="0" anchor="ctr"/>
          <a:lstStyle/>
          <a:p>
            <a:pPr marL="0" indent="0" algn="ctr">
              <a:buNone/>
            </a:pPr>
            <a:r>
              <a:rPr lang="en-US" sz="22000" b="1" i="1">
                <a:solidFill>
                  <a:srgbClr val="FFFFFF"/>
                </a:solidFill>
                <a:latin typeface="Calibri" pitchFamily="34" charset="0"/>
                <a:ea typeface="Calibri" pitchFamily="34" charset="-122"/>
                <a:cs typeface="Calibri" pitchFamily="34" charset="-120"/>
              </a:rPr>
              <a:t>EA</a:t>
            </a:r>
            <a:endParaRPr lang="en-US" sz="22000"/>
          </a:p>
        </p:txBody>
      </p:sp>
      <p:sp>
        <p:nvSpPr>
          <p:cNvPr id="9" name="Shape 7"/>
          <p:cNvSpPr/>
          <p:nvPr/>
        </p:nvSpPr>
        <p:spPr>
          <a:xfrm>
            <a:off x="2194560" y="4434840"/>
            <a:ext cx="1828800" cy="54864"/>
          </a:xfrm>
          <a:prstGeom prst="rect">
            <a:avLst/>
          </a:prstGeom>
          <a:solidFill>
            <a:srgbClr val="2E75B6"/>
          </a:solidFill>
          <a:ln/>
        </p:spPr>
        <p:txBody>
          <a:bodyPr/>
          <a:lstStyle/>
          <a:p>
            <a:endParaRPr lang="en-US"/>
          </a:p>
        </p:txBody>
      </p:sp>
      <p:sp>
        <p:nvSpPr>
          <p:cNvPr id="10" name="Text 8"/>
          <p:cNvSpPr/>
          <p:nvPr/>
        </p:nvSpPr>
        <p:spPr>
          <a:xfrm>
            <a:off x="365760" y="4572000"/>
            <a:ext cx="5486400" cy="365760"/>
          </a:xfrm>
          <a:prstGeom prst="rect">
            <a:avLst/>
          </a:prstGeom>
          <a:noFill/>
          <a:ln/>
        </p:spPr>
        <p:txBody>
          <a:bodyPr wrap="square" lIns="0" tIns="0" rIns="0" bIns="0" rtlCol="0" anchor="ctr"/>
          <a:lstStyle/>
          <a:p>
            <a:pPr marL="0" indent="0" algn="ctr">
              <a:buNone/>
            </a:pPr>
            <a:r>
              <a:rPr lang="en-US" sz="1400" i="1">
                <a:solidFill>
                  <a:srgbClr val="D6E4F0"/>
                </a:solidFill>
                <a:latin typeface="Calibri" pitchFamily="34" charset="0"/>
                <a:ea typeface="Calibri" pitchFamily="34" charset="-122"/>
                <a:cs typeface="Calibri" pitchFamily="34" charset="-120"/>
              </a:rPr>
              <a:t>Backup Detail and Reference</a:t>
            </a:r>
            <a:endParaRPr lang="en-US" sz="1400"/>
          </a:p>
        </p:txBody>
      </p:sp>
      <p:sp>
        <p:nvSpPr>
          <p:cNvPr id="11" name="Text 9"/>
          <p:cNvSpPr/>
          <p:nvPr/>
        </p:nvSpPr>
        <p:spPr>
          <a:xfrm>
            <a:off x="640080" y="4983480"/>
            <a:ext cx="4937760" cy="777240"/>
          </a:xfrm>
          <a:prstGeom prst="rect">
            <a:avLst/>
          </a:prstGeom>
          <a:noFill/>
          <a:ln/>
        </p:spPr>
        <p:txBody>
          <a:bodyPr wrap="square" lIns="0" tIns="0" rIns="0" bIns="0" rtlCol="0" anchor="t"/>
          <a:lstStyle/>
          <a:p>
            <a:pPr marL="0" indent="0" algn="ctr">
              <a:buNone/>
            </a:pPr>
            <a:r>
              <a:rPr lang="en-US" sz="1100" i="1">
                <a:solidFill>
                  <a:srgbClr val="D6E4F0"/>
                </a:solidFill>
                <a:latin typeface="Calibri" pitchFamily="34" charset="0"/>
                <a:ea typeface="Calibri" pitchFamily="34" charset="-122"/>
                <a:cs typeface="Calibri" pitchFamily="34" charset="-120"/>
              </a:rPr>
              <a:t>Detail on valuation methodology, capitalization, precedent transactions, comparable companies, DCF reconstruction, credit metrics, and process disclosures.</a:t>
            </a:r>
            <a:endParaRPr lang="en-US" sz="1100"/>
          </a:p>
        </p:txBody>
      </p:sp>
      <p:sp>
        <p:nvSpPr>
          <p:cNvPr id="12" name="Text 10"/>
          <p:cNvSpPr/>
          <p:nvPr/>
        </p:nvSpPr>
        <p:spPr>
          <a:xfrm>
            <a:off x="6126480" y="1417320"/>
            <a:ext cx="5760720" cy="457200"/>
          </a:xfrm>
          <a:prstGeom prst="rect">
            <a:avLst/>
          </a:prstGeom>
          <a:noFill/>
          <a:ln/>
        </p:spPr>
        <p:txBody>
          <a:bodyPr wrap="square" lIns="0" tIns="0" rIns="0" bIns="0" rtlCol="0" anchor="ctr"/>
          <a:lstStyle/>
          <a:p>
            <a:pPr marL="0" indent="0" algn="l">
              <a:buNone/>
            </a:pPr>
            <a:r>
              <a:rPr lang="en-US" sz="2200" b="1" i="1">
                <a:solidFill>
                  <a:srgbClr val="1F4E79"/>
                </a:solidFill>
                <a:latin typeface="Calibri" pitchFamily="34" charset="0"/>
                <a:ea typeface="Calibri" pitchFamily="34" charset="-122"/>
                <a:cs typeface="Calibri" pitchFamily="34" charset="-120"/>
              </a:rPr>
              <a:t>Appendices Index</a:t>
            </a:r>
            <a:endParaRPr lang="en-US" sz="2200"/>
          </a:p>
        </p:txBody>
      </p:sp>
      <p:sp>
        <p:nvSpPr>
          <p:cNvPr id="13" name="Shape 11"/>
          <p:cNvSpPr/>
          <p:nvPr/>
        </p:nvSpPr>
        <p:spPr>
          <a:xfrm>
            <a:off x="6126480" y="1874520"/>
            <a:ext cx="1463040" cy="45720"/>
          </a:xfrm>
          <a:prstGeom prst="rect">
            <a:avLst/>
          </a:prstGeom>
          <a:solidFill>
            <a:srgbClr val="2E75B6"/>
          </a:solidFill>
          <a:ln/>
        </p:spPr>
        <p:txBody>
          <a:bodyPr/>
          <a:lstStyle/>
          <a:p>
            <a:endParaRPr lang="en-US"/>
          </a:p>
        </p:txBody>
      </p:sp>
      <p:sp>
        <p:nvSpPr>
          <p:cNvPr id="14" name="Text 12"/>
          <p:cNvSpPr/>
          <p:nvPr/>
        </p:nvSpPr>
        <p:spPr>
          <a:xfrm>
            <a:off x="6126480" y="2194560"/>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A1</a:t>
            </a:r>
            <a:endParaRPr lang="en-US" sz="1300"/>
          </a:p>
        </p:txBody>
      </p:sp>
      <p:sp>
        <p:nvSpPr>
          <p:cNvPr id="15" name="Text 13"/>
          <p:cNvSpPr/>
          <p:nvPr/>
        </p:nvSpPr>
        <p:spPr>
          <a:xfrm>
            <a:off x="6903720" y="2194560"/>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One-Pager Summary</a:t>
            </a:r>
            <a:endParaRPr lang="en-US" sz="1300"/>
          </a:p>
        </p:txBody>
      </p:sp>
      <p:sp>
        <p:nvSpPr>
          <p:cNvPr id="16" name="Text 14"/>
          <p:cNvSpPr/>
          <p:nvPr/>
        </p:nvSpPr>
        <p:spPr>
          <a:xfrm>
            <a:off x="6126480" y="2578608"/>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A2</a:t>
            </a:r>
            <a:endParaRPr lang="en-US" sz="1300"/>
          </a:p>
        </p:txBody>
      </p:sp>
      <p:sp>
        <p:nvSpPr>
          <p:cNvPr id="17" name="Text 15"/>
          <p:cNvSpPr/>
          <p:nvPr/>
        </p:nvSpPr>
        <p:spPr>
          <a:xfrm>
            <a:off x="6903720" y="2578608"/>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Methodology Summary</a:t>
            </a:r>
            <a:endParaRPr lang="en-US" sz="1300"/>
          </a:p>
        </p:txBody>
      </p:sp>
      <p:sp>
        <p:nvSpPr>
          <p:cNvPr id="18" name="Text 16"/>
          <p:cNvSpPr/>
          <p:nvPr/>
        </p:nvSpPr>
        <p:spPr>
          <a:xfrm>
            <a:off x="6126480" y="2962656"/>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A3</a:t>
            </a:r>
            <a:endParaRPr lang="en-US" sz="1300"/>
          </a:p>
        </p:txBody>
      </p:sp>
      <p:sp>
        <p:nvSpPr>
          <p:cNvPr id="19" name="Text 17"/>
          <p:cNvSpPr/>
          <p:nvPr/>
        </p:nvSpPr>
        <p:spPr>
          <a:xfrm>
            <a:off x="6903720" y="2962656"/>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Returns Sensitivity (MoM)</a:t>
            </a:r>
            <a:endParaRPr lang="en-US" sz="1300"/>
          </a:p>
        </p:txBody>
      </p:sp>
      <p:sp>
        <p:nvSpPr>
          <p:cNvPr id="20" name="Text 18"/>
          <p:cNvSpPr/>
          <p:nvPr/>
        </p:nvSpPr>
        <p:spPr>
          <a:xfrm>
            <a:off x="6126480" y="3346704"/>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A4</a:t>
            </a:r>
            <a:endParaRPr lang="en-US" sz="1300"/>
          </a:p>
        </p:txBody>
      </p:sp>
      <p:sp>
        <p:nvSpPr>
          <p:cNvPr id="21" name="Text 19"/>
          <p:cNvSpPr/>
          <p:nvPr/>
        </p:nvSpPr>
        <p:spPr>
          <a:xfrm>
            <a:off x="6903720" y="3346704"/>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Detailed Pro Forma Capitalization</a:t>
            </a:r>
            <a:endParaRPr lang="en-US" sz="1300"/>
          </a:p>
        </p:txBody>
      </p:sp>
      <p:sp>
        <p:nvSpPr>
          <p:cNvPr id="22" name="Text 20"/>
          <p:cNvSpPr/>
          <p:nvPr/>
        </p:nvSpPr>
        <p:spPr>
          <a:xfrm>
            <a:off x="6126480" y="3730752"/>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A5</a:t>
            </a:r>
            <a:endParaRPr lang="en-US" sz="1300"/>
          </a:p>
        </p:txBody>
      </p:sp>
      <p:sp>
        <p:nvSpPr>
          <p:cNvPr id="23" name="Text 21"/>
          <p:cNvSpPr/>
          <p:nvPr/>
        </p:nvSpPr>
        <p:spPr>
          <a:xfrm>
            <a:off x="6903720" y="3730752"/>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Precedent Transactions Detail</a:t>
            </a:r>
            <a:endParaRPr lang="en-US" sz="1300"/>
          </a:p>
        </p:txBody>
      </p:sp>
      <p:sp>
        <p:nvSpPr>
          <p:cNvPr id="24" name="Text 22"/>
          <p:cNvSpPr/>
          <p:nvPr/>
        </p:nvSpPr>
        <p:spPr>
          <a:xfrm>
            <a:off x="6126480" y="4114800"/>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A6</a:t>
            </a:r>
            <a:endParaRPr lang="en-US" sz="1300"/>
          </a:p>
        </p:txBody>
      </p:sp>
      <p:sp>
        <p:nvSpPr>
          <p:cNvPr id="25" name="Text 23"/>
          <p:cNvSpPr/>
          <p:nvPr/>
        </p:nvSpPr>
        <p:spPr>
          <a:xfrm>
            <a:off x="6903720" y="4114800"/>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Comparable Companies Detail</a:t>
            </a:r>
            <a:endParaRPr lang="en-US" sz="1300"/>
          </a:p>
        </p:txBody>
      </p:sp>
      <p:sp>
        <p:nvSpPr>
          <p:cNvPr id="26" name="Text 24"/>
          <p:cNvSpPr/>
          <p:nvPr/>
        </p:nvSpPr>
        <p:spPr>
          <a:xfrm>
            <a:off x="6126480" y="4498848"/>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A7</a:t>
            </a:r>
            <a:endParaRPr lang="en-US" sz="1300"/>
          </a:p>
        </p:txBody>
      </p:sp>
      <p:sp>
        <p:nvSpPr>
          <p:cNvPr id="27" name="Text 25"/>
          <p:cNvSpPr/>
          <p:nvPr/>
        </p:nvSpPr>
        <p:spPr>
          <a:xfrm>
            <a:off x="6903720" y="4498848"/>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DCF Sensitivity Grid</a:t>
            </a:r>
            <a:endParaRPr lang="en-US" sz="1300"/>
          </a:p>
        </p:txBody>
      </p:sp>
      <p:sp>
        <p:nvSpPr>
          <p:cNvPr id="28" name="Text 26"/>
          <p:cNvSpPr/>
          <p:nvPr/>
        </p:nvSpPr>
        <p:spPr>
          <a:xfrm>
            <a:off x="6126480" y="4882896"/>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A8</a:t>
            </a:r>
            <a:endParaRPr lang="en-US" sz="1300"/>
          </a:p>
        </p:txBody>
      </p:sp>
      <p:sp>
        <p:nvSpPr>
          <p:cNvPr id="29" name="Text 27"/>
          <p:cNvSpPr/>
          <p:nvPr/>
        </p:nvSpPr>
        <p:spPr>
          <a:xfrm>
            <a:off x="6903720" y="4882896"/>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Credit Metrics by Year</a:t>
            </a:r>
            <a:endParaRPr lang="en-US" sz="1300"/>
          </a:p>
        </p:txBody>
      </p:sp>
      <p:sp>
        <p:nvSpPr>
          <p:cNvPr id="30" name="Text 28"/>
          <p:cNvSpPr/>
          <p:nvPr/>
        </p:nvSpPr>
        <p:spPr>
          <a:xfrm>
            <a:off x="6126480" y="5266944"/>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A9</a:t>
            </a:r>
            <a:endParaRPr lang="en-US" sz="1300"/>
          </a:p>
        </p:txBody>
      </p:sp>
      <p:sp>
        <p:nvSpPr>
          <p:cNvPr id="31" name="Text 29"/>
          <p:cNvSpPr/>
          <p:nvPr/>
        </p:nvSpPr>
        <p:spPr>
          <a:xfrm>
            <a:off x="6903720" y="5266944"/>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Process &amp; Related-Party Disclosures</a:t>
            </a:r>
            <a:endParaRPr lang="en-US" sz="1300"/>
          </a:p>
        </p:txBody>
      </p:sp>
      <p:sp>
        <p:nvSpPr>
          <p:cNvPr id="32" name="Text 30"/>
          <p:cNvSpPr/>
          <p:nvPr/>
        </p:nvSpPr>
        <p:spPr>
          <a:xfrm>
            <a:off x="6126480" y="5650992"/>
            <a:ext cx="731520" cy="320040"/>
          </a:xfrm>
          <a:prstGeom prst="rect">
            <a:avLst/>
          </a:prstGeom>
          <a:noFill/>
          <a:ln/>
        </p:spPr>
        <p:txBody>
          <a:bodyPr wrap="square" lIns="0" tIns="0" rIns="0" bIns="0" rtlCol="0" anchor="ctr"/>
          <a:lstStyle/>
          <a:p>
            <a:pPr marL="0" indent="0" algn="l">
              <a:buNone/>
            </a:pPr>
            <a:r>
              <a:rPr lang="en-US" sz="1300" b="1">
                <a:solidFill>
                  <a:srgbClr val="2E75B6"/>
                </a:solidFill>
                <a:latin typeface="Calibri" pitchFamily="34" charset="0"/>
                <a:ea typeface="Calibri" pitchFamily="34" charset="-122"/>
                <a:cs typeface="Calibri" pitchFamily="34" charset="-120"/>
              </a:rPr>
              <a:t>A10</a:t>
            </a:r>
            <a:endParaRPr lang="en-US" sz="1300"/>
          </a:p>
        </p:txBody>
      </p:sp>
      <p:sp>
        <p:nvSpPr>
          <p:cNvPr id="33" name="Text 31"/>
          <p:cNvSpPr/>
          <p:nvPr/>
        </p:nvSpPr>
        <p:spPr>
          <a:xfrm>
            <a:off x="6903720" y="5650992"/>
            <a:ext cx="4937760" cy="320040"/>
          </a:xfrm>
          <a:prstGeom prst="rect">
            <a:avLst/>
          </a:prstGeom>
          <a:noFill/>
          <a:ln/>
        </p:spPr>
        <p:txBody>
          <a:bodyPr wrap="square" lIns="0" tIns="0" rIns="0" bIns="0" rtlCol="0" anchor="ctr"/>
          <a:lstStyle/>
          <a:p>
            <a:pPr marL="0" indent="0" algn="l">
              <a:buNone/>
            </a:pPr>
            <a:r>
              <a:rPr lang="en-US" sz="1300" b="1">
                <a:solidFill>
                  <a:srgbClr val="1F4E79"/>
                </a:solidFill>
                <a:latin typeface="Calibri" pitchFamily="34" charset="0"/>
                <a:ea typeface="Calibri" pitchFamily="34" charset="-122"/>
                <a:cs typeface="Calibri" pitchFamily="34" charset="-120"/>
              </a:rPr>
              <a:t>Deal Structure &amp; Key Terms</a:t>
            </a:r>
            <a:endParaRPr lang="en-US" sz="13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A1 — One-Pager Summary</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A1</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457200" y="960120"/>
            <a:ext cx="11277295" cy="777240"/>
          </a:xfrm>
          <a:prstGeom prst="rect">
            <a:avLst/>
          </a:prstGeom>
          <a:solidFill>
            <a:srgbClr val="1F4E79"/>
          </a:solidFill>
          <a:ln/>
        </p:spPr>
        <p:txBody>
          <a:bodyPr/>
          <a:lstStyle/>
          <a:p>
            <a:endParaRPr lang="en-US"/>
          </a:p>
        </p:txBody>
      </p:sp>
      <p:sp>
        <p:nvSpPr>
          <p:cNvPr id="8" name="Text 6"/>
          <p:cNvSpPr/>
          <p:nvPr/>
        </p:nvSpPr>
        <p:spPr>
          <a:xfrm>
            <a:off x="640080" y="960120"/>
            <a:ext cx="9448495" cy="777240"/>
          </a:xfrm>
          <a:prstGeom prst="rect">
            <a:avLst/>
          </a:prstGeom>
          <a:noFill/>
          <a:ln/>
        </p:spPr>
        <p:txBody>
          <a:bodyPr wrap="square" lIns="0" tIns="0" rIns="0" bIns="0" rtlCol="0" anchor="ctr"/>
          <a:lstStyle/>
          <a:p>
            <a:pPr marL="0" indent="0" algn="l">
              <a:buNone/>
            </a:pPr>
            <a:r>
              <a:rPr lang="en-US" sz="1800" b="1" kern="0" spc="200">
                <a:solidFill>
                  <a:srgbClr val="FFFFFF"/>
                </a:solidFill>
                <a:latin typeface="Calibri" pitchFamily="34" charset="0"/>
                <a:ea typeface="Calibri" pitchFamily="34" charset="-122"/>
                <a:cs typeface="Calibri" pitchFamily="34" charset="-120"/>
              </a:rPr>
              <a:t>PROJECT MADDEN</a:t>
            </a:r>
            <a:endParaRPr lang="en-US" sz="1800"/>
          </a:p>
          <a:p>
            <a:pPr marL="0" indent="0" algn="l">
              <a:buNone/>
            </a:pPr>
            <a:r>
              <a:rPr lang="en-US" sz="1100" i="1">
                <a:solidFill>
                  <a:srgbClr val="D6E4F0"/>
                </a:solidFill>
                <a:latin typeface="Calibri" pitchFamily="34" charset="0"/>
                <a:ea typeface="Calibri" pitchFamily="34" charset="-122"/>
                <a:cs typeface="Calibri" pitchFamily="34" charset="-120"/>
              </a:rPr>
              <a:t>Take-Private of Electronic Arts Inc.  |  $55B EV  |  $210/share  |  PIF / Silver Lake / Affinity</a:t>
            </a:r>
            <a:endParaRPr lang="en-US" sz="1800"/>
          </a:p>
        </p:txBody>
      </p:sp>
      <p:sp>
        <p:nvSpPr>
          <p:cNvPr id="9" name="Shape 7"/>
          <p:cNvSpPr/>
          <p:nvPr/>
        </p:nvSpPr>
        <p:spPr>
          <a:xfrm>
            <a:off x="10225735" y="1097280"/>
            <a:ext cx="1325880" cy="502920"/>
          </a:xfrm>
          <a:prstGeom prst="rect">
            <a:avLst/>
          </a:prstGeom>
          <a:solidFill>
            <a:srgbClr val="2E7D32"/>
          </a:solidFill>
          <a:ln/>
        </p:spPr>
        <p:txBody>
          <a:bodyPr/>
          <a:lstStyle/>
          <a:p>
            <a:endParaRPr lang="en-US"/>
          </a:p>
        </p:txBody>
      </p:sp>
      <p:sp>
        <p:nvSpPr>
          <p:cNvPr id="10" name="Text 8"/>
          <p:cNvSpPr/>
          <p:nvPr/>
        </p:nvSpPr>
        <p:spPr>
          <a:xfrm>
            <a:off x="10225735" y="1097280"/>
            <a:ext cx="1325880" cy="502920"/>
          </a:xfrm>
          <a:prstGeom prst="rect">
            <a:avLst/>
          </a:prstGeom>
          <a:noFill/>
          <a:ln/>
        </p:spPr>
        <p:txBody>
          <a:bodyPr wrap="square" lIns="0" tIns="0" rIns="0" bIns="0" rtlCol="0" anchor="ctr"/>
          <a:lstStyle/>
          <a:p>
            <a:pPr marL="0" indent="0" algn="ctr">
              <a:buNone/>
            </a:pPr>
            <a:r>
              <a:rPr lang="en-US" sz="1600" b="1" i="1">
                <a:solidFill>
                  <a:srgbClr val="FFFFFF"/>
                </a:solidFill>
                <a:latin typeface="Calibri" pitchFamily="34" charset="0"/>
                <a:ea typeface="Calibri" pitchFamily="34" charset="-122"/>
                <a:cs typeface="Calibri" pitchFamily="34" charset="-120"/>
              </a:rPr>
              <a:t>APPROVE</a:t>
            </a:r>
            <a:endParaRPr lang="en-US" sz="1600"/>
          </a:p>
        </p:txBody>
      </p:sp>
      <p:sp>
        <p:nvSpPr>
          <p:cNvPr id="11" name="Shape 9"/>
          <p:cNvSpPr/>
          <p:nvPr/>
        </p:nvSpPr>
        <p:spPr>
          <a:xfrm>
            <a:off x="457200" y="1874520"/>
            <a:ext cx="5532120" cy="365760"/>
          </a:xfrm>
          <a:prstGeom prst="rect">
            <a:avLst/>
          </a:prstGeom>
          <a:solidFill>
            <a:srgbClr val="1F4E79"/>
          </a:solidFill>
          <a:ln/>
        </p:spPr>
        <p:txBody>
          <a:bodyPr/>
          <a:lstStyle/>
          <a:p>
            <a:endParaRPr lang="en-US"/>
          </a:p>
        </p:txBody>
      </p:sp>
      <p:sp>
        <p:nvSpPr>
          <p:cNvPr id="12" name="Text 10"/>
          <p:cNvSpPr/>
          <p:nvPr/>
        </p:nvSpPr>
        <p:spPr>
          <a:xfrm>
            <a:off x="594360" y="1874520"/>
            <a:ext cx="5257800" cy="365760"/>
          </a:xfrm>
          <a:prstGeom prst="rect">
            <a:avLst/>
          </a:prstGeom>
          <a:noFill/>
          <a:ln/>
        </p:spPr>
        <p:txBody>
          <a:bodyPr wrap="square" lIns="0" tIns="0" rIns="0" bIns="0" rtlCol="0" anchor="ctr"/>
          <a:lstStyle/>
          <a:p>
            <a:pPr marL="0" indent="0" algn="l">
              <a:buNone/>
            </a:pPr>
            <a:r>
              <a:rPr lang="en-US" sz="1100" b="1" kern="0" spc="200">
                <a:solidFill>
                  <a:srgbClr val="FFFFFF"/>
                </a:solidFill>
                <a:latin typeface="Calibri" pitchFamily="34" charset="0"/>
                <a:ea typeface="Calibri" pitchFamily="34" charset="-122"/>
                <a:cs typeface="Calibri" pitchFamily="34" charset="-120"/>
              </a:rPr>
              <a:t>RECOMMENDATION</a:t>
            </a:r>
            <a:endParaRPr lang="en-US" sz="1100"/>
          </a:p>
        </p:txBody>
      </p:sp>
      <p:sp>
        <p:nvSpPr>
          <p:cNvPr id="13" name="Shape 11"/>
          <p:cNvSpPr/>
          <p:nvPr/>
        </p:nvSpPr>
        <p:spPr>
          <a:xfrm>
            <a:off x="457200" y="2240280"/>
            <a:ext cx="5532120" cy="1508760"/>
          </a:xfrm>
          <a:prstGeom prst="rect">
            <a:avLst/>
          </a:prstGeom>
          <a:solidFill>
            <a:srgbClr val="FFFFFF"/>
          </a:solidFill>
          <a:ln w="12700">
            <a:solidFill>
              <a:srgbClr val="1F4E79"/>
            </a:solidFill>
            <a:prstDash val="solid"/>
          </a:ln>
        </p:spPr>
        <p:txBody>
          <a:bodyPr/>
          <a:lstStyle/>
          <a:p>
            <a:endParaRPr lang="en-US"/>
          </a:p>
        </p:txBody>
      </p:sp>
      <p:sp>
        <p:nvSpPr>
          <p:cNvPr id="14" name="Text 12"/>
          <p:cNvSpPr/>
          <p:nvPr/>
        </p:nvSpPr>
        <p:spPr>
          <a:xfrm>
            <a:off x="640080" y="2286000"/>
            <a:ext cx="5166360" cy="274320"/>
          </a:xfrm>
          <a:prstGeom prst="rect">
            <a:avLst/>
          </a:prstGeom>
          <a:noFill/>
          <a:ln/>
        </p:spPr>
        <p:txBody>
          <a:bodyPr wrap="square" lIns="0" tIns="0" rIns="0" bIns="0" rtlCol="0" anchor="ctr"/>
          <a:lstStyle/>
          <a:p>
            <a:pPr marL="0" indent="0" algn="l">
              <a:buNone/>
            </a:pPr>
            <a:r>
              <a:rPr lang="en-US" sz="1150" b="1">
                <a:solidFill>
                  <a:srgbClr val="1F4E79"/>
                </a:solidFill>
                <a:latin typeface="Calibri" pitchFamily="34" charset="0"/>
                <a:ea typeface="Calibri" pitchFamily="34" charset="-122"/>
                <a:cs typeface="Calibri" pitchFamily="34" charset="-120"/>
              </a:rPr>
              <a:t>Approve consortium equity commitment</a:t>
            </a:r>
            <a:endParaRPr lang="en-US" sz="1150"/>
          </a:p>
        </p:txBody>
      </p:sp>
      <p:sp>
        <p:nvSpPr>
          <p:cNvPr id="15" name="Text 13"/>
          <p:cNvSpPr/>
          <p:nvPr/>
        </p:nvSpPr>
        <p:spPr>
          <a:xfrm>
            <a:off x="685800" y="2587752"/>
            <a:ext cx="5074920" cy="1097280"/>
          </a:xfrm>
          <a:prstGeom prst="rect">
            <a:avLst/>
          </a:prstGeom>
          <a:noFill/>
          <a:ln/>
        </p:spPr>
        <p:txBody>
          <a:bodyPr wrap="square" lIns="0" tIns="0" rIns="0" bIns="0" rtlCol="0" anchor="t"/>
          <a:lstStyle/>
          <a:p>
            <a:pPr marL="342900" indent="-342900" algn="l">
              <a:spcAft>
                <a:spcPts val="200"/>
              </a:spcAft>
              <a:buSzPct val="100000"/>
              <a:buChar char="•"/>
            </a:pPr>
            <a:r>
              <a:rPr lang="en-US" sz="950">
                <a:solidFill>
                  <a:srgbClr val="595959"/>
                </a:solidFill>
                <a:latin typeface="Calibri" pitchFamily="34" charset="0"/>
                <a:ea typeface="Calibri" pitchFamily="34" charset="-122"/>
                <a:cs typeface="Calibri" pitchFamily="34" charset="-120"/>
              </a:rPr>
              <a:t>$36.4B aggregate equity / $18.0B funded debt</a:t>
            </a:r>
            <a:endParaRPr lang="en-US" sz="950"/>
          </a:p>
          <a:p>
            <a:pPr marL="342900" indent="-342900" algn="l">
              <a:spcAft>
                <a:spcPts val="200"/>
              </a:spcAft>
              <a:buSzPct val="100000"/>
              <a:buChar char="•"/>
            </a:pPr>
            <a:r>
              <a:rPr lang="en-US" sz="950">
                <a:solidFill>
                  <a:srgbClr val="595959"/>
                </a:solidFill>
                <a:latin typeface="Calibri" pitchFamily="34" charset="0"/>
                <a:ea typeface="Calibri" pitchFamily="34" charset="-122"/>
                <a:cs typeface="Calibri" pitchFamily="34" charset="-120"/>
              </a:rPr>
              <a:t>~7.0x LTM Adj. EBITDA / ~6.5x FY26E (below 8–10x norm)</a:t>
            </a:r>
            <a:endParaRPr lang="en-US" sz="950"/>
          </a:p>
          <a:p>
            <a:pPr marL="342900" indent="-342900" algn="l">
              <a:spcAft>
                <a:spcPts val="200"/>
              </a:spcAft>
              <a:buSzPct val="100000"/>
              <a:buChar char="•"/>
            </a:pPr>
            <a:r>
              <a:rPr lang="en-US" sz="950">
                <a:solidFill>
                  <a:srgbClr val="595959"/>
                </a:solidFill>
                <a:latin typeface="Calibri" pitchFamily="34" charset="0"/>
                <a:ea typeface="Calibri" pitchFamily="34" charset="-122"/>
                <a:cs typeface="Calibri" pitchFamily="34" charset="-120"/>
              </a:rPr>
              <a:t>PIF rolls 9.9% stake at $5.2B (24.76M sh × $210)</a:t>
            </a:r>
            <a:endParaRPr lang="en-US" sz="950"/>
          </a:p>
          <a:p>
            <a:pPr marL="342900" indent="-342900" algn="l">
              <a:spcAft>
                <a:spcPts val="200"/>
              </a:spcAft>
              <a:buSzPct val="100000"/>
              <a:buChar char="•"/>
            </a:pPr>
            <a:r>
              <a:rPr lang="en-US" sz="950">
                <a:solidFill>
                  <a:srgbClr val="595959"/>
                </a:solidFill>
                <a:latin typeface="Calibri" pitchFamily="34" charset="0"/>
                <a:ea typeface="Calibri" pitchFamily="34" charset="-122"/>
                <a:cs typeface="Calibri" pitchFamily="34" charset="-120"/>
              </a:rPr>
              <a:t>5-year hold | Y1 = FY27E | close ~Q1 FY27</a:t>
            </a:r>
            <a:endParaRPr lang="en-US" sz="950"/>
          </a:p>
          <a:p>
            <a:pPr marL="342900" indent="-342900" algn="l">
              <a:spcAft>
                <a:spcPts val="200"/>
              </a:spcAft>
              <a:buSzPct val="100000"/>
              <a:buChar char="•"/>
            </a:pPr>
            <a:r>
              <a:rPr lang="en-US" sz="950">
                <a:solidFill>
                  <a:srgbClr val="595959"/>
                </a:solidFill>
                <a:latin typeface="Calibri" pitchFamily="34" charset="0"/>
                <a:ea typeface="Calibri" pitchFamily="34" charset="-122"/>
                <a:cs typeface="Calibri" pitchFamily="34" charset="-120"/>
              </a:rPr>
              <a:t>Goldman fairness opinion: $210 fair (DCF $137–$220)</a:t>
            </a:r>
            <a:endParaRPr lang="en-US" sz="950"/>
          </a:p>
        </p:txBody>
      </p:sp>
      <p:sp>
        <p:nvSpPr>
          <p:cNvPr id="16" name="Shape 14"/>
          <p:cNvSpPr/>
          <p:nvPr/>
        </p:nvSpPr>
        <p:spPr>
          <a:xfrm>
            <a:off x="6199632" y="1874520"/>
            <a:ext cx="5532120" cy="365760"/>
          </a:xfrm>
          <a:prstGeom prst="rect">
            <a:avLst/>
          </a:prstGeom>
          <a:solidFill>
            <a:srgbClr val="1F4E79"/>
          </a:solidFill>
          <a:ln/>
        </p:spPr>
        <p:txBody>
          <a:bodyPr/>
          <a:lstStyle/>
          <a:p>
            <a:endParaRPr lang="en-US"/>
          </a:p>
        </p:txBody>
      </p:sp>
      <p:sp>
        <p:nvSpPr>
          <p:cNvPr id="17" name="Text 15"/>
          <p:cNvSpPr/>
          <p:nvPr/>
        </p:nvSpPr>
        <p:spPr>
          <a:xfrm>
            <a:off x="6336792" y="1874520"/>
            <a:ext cx="5257800" cy="365760"/>
          </a:xfrm>
          <a:prstGeom prst="rect">
            <a:avLst/>
          </a:prstGeom>
          <a:noFill/>
          <a:ln/>
        </p:spPr>
        <p:txBody>
          <a:bodyPr wrap="square" lIns="0" tIns="0" rIns="0" bIns="0" rtlCol="0" anchor="ctr"/>
          <a:lstStyle/>
          <a:p>
            <a:pPr marL="0" indent="0" algn="l">
              <a:buNone/>
            </a:pPr>
            <a:r>
              <a:rPr lang="en-US" sz="1100" b="1" kern="0" spc="200">
                <a:solidFill>
                  <a:srgbClr val="FFFFFF"/>
                </a:solidFill>
                <a:latin typeface="Calibri" pitchFamily="34" charset="0"/>
                <a:ea typeface="Calibri" pitchFamily="34" charset="-122"/>
                <a:cs typeface="Calibri" pitchFamily="34" charset="-120"/>
              </a:rPr>
              <a:t>RETURNS PROFILE (5-YEAR HOLD)</a:t>
            </a:r>
            <a:endParaRPr lang="en-US" sz="1100"/>
          </a:p>
        </p:txBody>
      </p:sp>
      <p:sp>
        <p:nvSpPr>
          <p:cNvPr id="18" name="Shape 16"/>
          <p:cNvSpPr/>
          <p:nvPr/>
        </p:nvSpPr>
        <p:spPr>
          <a:xfrm>
            <a:off x="6199632" y="2240280"/>
            <a:ext cx="5532120" cy="1508760"/>
          </a:xfrm>
          <a:prstGeom prst="rect">
            <a:avLst/>
          </a:prstGeom>
          <a:solidFill>
            <a:srgbClr val="FFFFFF"/>
          </a:solidFill>
          <a:ln w="12700">
            <a:solidFill>
              <a:srgbClr val="1F4E79"/>
            </a:solidFill>
            <a:prstDash val="solid"/>
          </a:ln>
        </p:spPr>
        <p:txBody>
          <a:bodyPr/>
          <a:lstStyle/>
          <a:p>
            <a:endParaRPr lang="en-US"/>
          </a:p>
        </p:txBody>
      </p:sp>
      <p:sp>
        <p:nvSpPr>
          <p:cNvPr id="19" name="Text 17"/>
          <p:cNvSpPr/>
          <p:nvPr/>
        </p:nvSpPr>
        <p:spPr>
          <a:xfrm>
            <a:off x="6336792" y="2377440"/>
            <a:ext cx="1463040" cy="292608"/>
          </a:xfrm>
          <a:prstGeom prst="rect">
            <a:avLst/>
          </a:prstGeom>
          <a:noFill/>
          <a:ln/>
        </p:spPr>
        <p:txBody>
          <a:bodyPr wrap="square" lIns="0" tIns="0" rIns="0" bIns="0" rtlCol="0" anchor="ctr"/>
          <a:lstStyle/>
          <a:p>
            <a:pPr marL="0" indent="0" algn="l">
              <a:buNone/>
            </a:pPr>
            <a:r>
              <a:rPr lang="en-US" sz="1050" b="1" i="1">
                <a:solidFill>
                  <a:srgbClr val="2E75B6"/>
                </a:solidFill>
                <a:latin typeface="Calibri" pitchFamily="34" charset="0"/>
                <a:ea typeface="Calibri" pitchFamily="34" charset="-122"/>
                <a:cs typeface="Calibri" pitchFamily="34" charset="-120"/>
              </a:rPr>
              <a:t>Case</a:t>
            </a:r>
            <a:endParaRPr lang="en-US" sz="1050"/>
          </a:p>
        </p:txBody>
      </p:sp>
      <p:sp>
        <p:nvSpPr>
          <p:cNvPr id="20" name="Text 18"/>
          <p:cNvSpPr/>
          <p:nvPr/>
        </p:nvSpPr>
        <p:spPr>
          <a:xfrm>
            <a:off x="7845552" y="2377440"/>
            <a:ext cx="1965960" cy="292608"/>
          </a:xfrm>
          <a:prstGeom prst="rect">
            <a:avLst/>
          </a:prstGeom>
          <a:noFill/>
          <a:ln/>
        </p:spPr>
        <p:txBody>
          <a:bodyPr wrap="square" lIns="0" tIns="0" rIns="0" bIns="0" rtlCol="0" anchor="ctr"/>
          <a:lstStyle/>
          <a:p>
            <a:pPr marL="0" indent="0" algn="l">
              <a:buNone/>
            </a:pPr>
            <a:r>
              <a:rPr lang="en-US" sz="1050" b="1" i="1">
                <a:solidFill>
                  <a:srgbClr val="2E75B6"/>
                </a:solidFill>
                <a:latin typeface="Calibri" pitchFamily="34" charset="0"/>
                <a:ea typeface="Calibri" pitchFamily="34" charset="-122"/>
                <a:cs typeface="Calibri" pitchFamily="34" charset="-120"/>
              </a:rPr>
              <a:t>Assumption</a:t>
            </a:r>
            <a:endParaRPr lang="en-US" sz="1050"/>
          </a:p>
        </p:txBody>
      </p:sp>
      <p:sp>
        <p:nvSpPr>
          <p:cNvPr id="21" name="Text 19"/>
          <p:cNvSpPr/>
          <p:nvPr/>
        </p:nvSpPr>
        <p:spPr>
          <a:xfrm>
            <a:off x="9857232" y="2377440"/>
            <a:ext cx="822960" cy="292608"/>
          </a:xfrm>
          <a:prstGeom prst="rect">
            <a:avLst/>
          </a:prstGeom>
          <a:noFill/>
          <a:ln/>
        </p:spPr>
        <p:txBody>
          <a:bodyPr wrap="square" lIns="0" tIns="0" rIns="0" bIns="0" rtlCol="0" anchor="ctr"/>
          <a:lstStyle/>
          <a:p>
            <a:pPr marL="0" indent="0" algn="r">
              <a:buNone/>
            </a:pPr>
            <a:r>
              <a:rPr lang="en-US" sz="1050" b="1" i="1">
                <a:solidFill>
                  <a:srgbClr val="2E75B6"/>
                </a:solidFill>
                <a:latin typeface="Calibri" pitchFamily="34" charset="0"/>
                <a:ea typeface="Calibri" pitchFamily="34" charset="-122"/>
                <a:cs typeface="Calibri" pitchFamily="34" charset="-120"/>
              </a:rPr>
              <a:t>MoM</a:t>
            </a:r>
            <a:endParaRPr lang="en-US" sz="1050"/>
          </a:p>
        </p:txBody>
      </p:sp>
      <p:sp>
        <p:nvSpPr>
          <p:cNvPr id="22" name="Text 20"/>
          <p:cNvSpPr/>
          <p:nvPr/>
        </p:nvSpPr>
        <p:spPr>
          <a:xfrm>
            <a:off x="10725912" y="2377440"/>
            <a:ext cx="822960" cy="292608"/>
          </a:xfrm>
          <a:prstGeom prst="rect">
            <a:avLst/>
          </a:prstGeom>
          <a:noFill/>
          <a:ln/>
        </p:spPr>
        <p:txBody>
          <a:bodyPr wrap="square" lIns="0" tIns="0" rIns="0" bIns="0" rtlCol="0" anchor="ctr"/>
          <a:lstStyle/>
          <a:p>
            <a:pPr marL="0" indent="0" algn="r">
              <a:buNone/>
            </a:pPr>
            <a:r>
              <a:rPr lang="en-US" sz="1050" b="1" i="1">
                <a:solidFill>
                  <a:srgbClr val="2E75B6"/>
                </a:solidFill>
                <a:latin typeface="Calibri" pitchFamily="34" charset="0"/>
                <a:ea typeface="Calibri" pitchFamily="34" charset="-122"/>
                <a:cs typeface="Calibri" pitchFamily="34" charset="-120"/>
              </a:rPr>
              <a:t>IRR</a:t>
            </a:r>
            <a:endParaRPr lang="en-US" sz="1050"/>
          </a:p>
        </p:txBody>
      </p:sp>
      <p:sp>
        <p:nvSpPr>
          <p:cNvPr id="23" name="Text 21"/>
          <p:cNvSpPr/>
          <p:nvPr/>
        </p:nvSpPr>
        <p:spPr>
          <a:xfrm>
            <a:off x="6336792" y="2670048"/>
            <a:ext cx="1463040" cy="292608"/>
          </a:xfrm>
          <a:prstGeom prst="rect">
            <a:avLst/>
          </a:prstGeom>
          <a:noFill/>
          <a:ln/>
        </p:spPr>
        <p:txBody>
          <a:bodyPr wrap="square" lIns="0" tIns="0" rIns="0" bIns="0" rtlCol="0" anchor="ctr"/>
          <a:lstStyle/>
          <a:p>
            <a:pPr marL="0" indent="0" algn="l">
              <a:buNone/>
            </a:pPr>
            <a:r>
              <a:rPr lang="en-US" sz="1050" b="1">
                <a:solidFill>
                  <a:srgbClr val="1F4E79"/>
                </a:solidFill>
                <a:latin typeface="Calibri" pitchFamily="34" charset="0"/>
                <a:ea typeface="Calibri" pitchFamily="34" charset="-122"/>
                <a:cs typeface="Calibri" pitchFamily="34" charset="-120"/>
              </a:rPr>
              <a:t>Sponsor Base</a:t>
            </a:r>
            <a:endParaRPr lang="en-US" sz="1050"/>
          </a:p>
        </p:txBody>
      </p:sp>
      <p:sp>
        <p:nvSpPr>
          <p:cNvPr id="24" name="Text 22"/>
          <p:cNvSpPr/>
          <p:nvPr/>
        </p:nvSpPr>
        <p:spPr>
          <a:xfrm>
            <a:off x="7845552" y="2670048"/>
            <a:ext cx="1965960" cy="292608"/>
          </a:xfrm>
          <a:prstGeom prst="rect">
            <a:avLst/>
          </a:prstGeom>
          <a:noFill/>
          <a:ln/>
        </p:spPr>
        <p:txBody>
          <a:bodyPr wrap="square" lIns="0" tIns="0" rIns="0" bIns="0" rtlCol="0" anchor="ctr"/>
          <a:lstStyle/>
          <a:p>
            <a:pPr marL="0" indent="0" algn="l">
              <a:buNone/>
            </a:pPr>
            <a:r>
              <a:rPr lang="en-US" sz="1050" b="1">
                <a:solidFill>
                  <a:srgbClr val="1F4E79"/>
                </a:solidFill>
                <a:latin typeface="Calibri" pitchFamily="34" charset="0"/>
                <a:ea typeface="Calibri" pitchFamily="34" charset="-122"/>
                <a:cs typeface="Calibri" pitchFamily="34" charset="-120"/>
              </a:rPr>
              <a:t>$4.2B Y5 / 18x exit</a:t>
            </a:r>
            <a:endParaRPr lang="en-US" sz="1050"/>
          </a:p>
        </p:txBody>
      </p:sp>
      <p:sp>
        <p:nvSpPr>
          <p:cNvPr id="25" name="Text 23"/>
          <p:cNvSpPr/>
          <p:nvPr/>
        </p:nvSpPr>
        <p:spPr>
          <a:xfrm>
            <a:off x="9857232" y="2670048"/>
            <a:ext cx="822960" cy="292608"/>
          </a:xfrm>
          <a:prstGeom prst="rect">
            <a:avLst/>
          </a:prstGeom>
          <a:noFill/>
          <a:ln/>
        </p:spPr>
        <p:txBody>
          <a:bodyPr wrap="square" lIns="0" tIns="0" rIns="0" bIns="0" rtlCol="0" anchor="ctr"/>
          <a:lstStyle/>
          <a:p>
            <a:pPr marL="0" indent="0" algn="r">
              <a:buNone/>
            </a:pPr>
            <a:r>
              <a:rPr lang="en-US" sz="1050" b="1">
                <a:solidFill>
                  <a:srgbClr val="1F4E79"/>
                </a:solidFill>
                <a:latin typeface="Calibri" pitchFamily="34" charset="0"/>
                <a:ea typeface="Calibri" pitchFamily="34" charset="-122"/>
                <a:cs typeface="Calibri" pitchFamily="34" charset="-120"/>
              </a:rPr>
              <a:t>1.76x</a:t>
            </a:r>
            <a:endParaRPr lang="en-US" sz="1050"/>
          </a:p>
        </p:txBody>
      </p:sp>
      <p:sp>
        <p:nvSpPr>
          <p:cNvPr id="26" name="Text 24"/>
          <p:cNvSpPr/>
          <p:nvPr/>
        </p:nvSpPr>
        <p:spPr>
          <a:xfrm>
            <a:off x="10725912" y="2670048"/>
            <a:ext cx="822960" cy="292608"/>
          </a:xfrm>
          <a:prstGeom prst="rect">
            <a:avLst/>
          </a:prstGeom>
          <a:noFill/>
          <a:ln/>
        </p:spPr>
        <p:txBody>
          <a:bodyPr wrap="square" lIns="0" tIns="0" rIns="0" bIns="0" rtlCol="0" anchor="ctr"/>
          <a:lstStyle/>
          <a:p>
            <a:pPr marL="0" indent="0" algn="r">
              <a:buNone/>
            </a:pPr>
            <a:r>
              <a:rPr lang="en-US" sz="1050" b="1">
                <a:solidFill>
                  <a:srgbClr val="1F4E79"/>
                </a:solidFill>
                <a:latin typeface="Calibri" pitchFamily="34" charset="0"/>
                <a:ea typeface="Calibri" pitchFamily="34" charset="-122"/>
                <a:cs typeface="Calibri" pitchFamily="34" charset="-120"/>
              </a:rPr>
              <a:t>12.0%</a:t>
            </a:r>
            <a:endParaRPr lang="en-US" sz="1050"/>
          </a:p>
        </p:txBody>
      </p:sp>
      <p:sp>
        <p:nvSpPr>
          <p:cNvPr id="27" name="Text 25"/>
          <p:cNvSpPr/>
          <p:nvPr/>
        </p:nvSpPr>
        <p:spPr>
          <a:xfrm>
            <a:off x="6336792" y="2962656"/>
            <a:ext cx="1463040" cy="292608"/>
          </a:xfrm>
          <a:prstGeom prst="rect">
            <a:avLst/>
          </a:prstGeom>
          <a:noFill/>
          <a:ln/>
        </p:spPr>
        <p:txBody>
          <a:bodyPr wrap="square" lIns="0" tIns="0" rIns="0" bIns="0" rtlCol="0" anchor="ctr"/>
          <a:lstStyle/>
          <a:p>
            <a:pPr marL="0" indent="0" algn="l">
              <a:buNone/>
            </a:pPr>
            <a:r>
              <a:rPr lang="en-US" sz="1050">
                <a:solidFill>
                  <a:srgbClr val="2E75B6"/>
                </a:solidFill>
                <a:latin typeface="Calibri" pitchFamily="34" charset="0"/>
                <a:ea typeface="Calibri" pitchFamily="34" charset="-122"/>
                <a:cs typeface="Calibri" pitchFamily="34" charset="-120"/>
              </a:rPr>
              <a:t>Management Base</a:t>
            </a:r>
            <a:endParaRPr lang="en-US" sz="1050"/>
          </a:p>
        </p:txBody>
      </p:sp>
      <p:sp>
        <p:nvSpPr>
          <p:cNvPr id="28" name="Text 26"/>
          <p:cNvSpPr/>
          <p:nvPr/>
        </p:nvSpPr>
        <p:spPr>
          <a:xfrm>
            <a:off x="7845552" y="2962656"/>
            <a:ext cx="1965960" cy="292608"/>
          </a:xfrm>
          <a:prstGeom prst="rect">
            <a:avLst/>
          </a:prstGeom>
          <a:noFill/>
          <a:ln/>
        </p:spPr>
        <p:txBody>
          <a:bodyPr wrap="square" lIns="0" tIns="0" rIns="0" bIns="0" rtlCol="0" anchor="ctr"/>
          <a:lstStyle/>
          <a:p>
            <a:pPr marL="0" indent="0" algn="l">
              <a:buNone/>
            </a:pPr>
            <a:r>
              <a:rPr lang="en-US" sz="1050">
                <a:solidFill>
                  <a:srgbClr val="2E75B6"/>
                </a:solidFill>
                <a:latin typeface="Calibri" pitchFamily="34" charset="0"/>
                <a:ea typeface="Calibri" pitchFamily="34" charset="-122"/>
                <a:cs typeface="Calibri" pitchFamily="34" charset="-120"/>
              </a:rPr>
              <a:t>$4.5B Y5 / 18x exit</a:t>
            </a:r>
            <a:endParaRPr lang="en-US" sz="1050"/>
          </a:p>
        </p:txBody>
      </p:sp>
      <p:sp>
        <p:nvSpPr>
          <p:cNvPr id="29" name="Text 27"/>
          <p:cNvSpPr/>
          <p:nvPr/>
        </p:nvSpPr>
        <p:spPr>
          <a:xfrm>
            <a:off x="9857232" y="2962656"/>
            <a:ext cx="822960" cy="292608"/>
          </a:xfrm>
          <a:prstGeom prst="rect">
            <a:avLst/>
          </a:prstGeom>
          <a:noFill/>
          <a:ln/>
        </p:spPr>
        <p:txBody>
          <a:bodyPr wrap="square" lIns="0" tIns="0" rIns="0" bIns="0" rtlCol="0" anchor="ctr"/>
          <a:lstStyle/>
          <a:p>
            <a:pPr marL="0" indent="0" algn="r">
              <a:buNone/>
            </a:pPr>
            <a:r>
              <a:rPr lang="en-US" sz="1050">
                <a:solidFill>
                  <a:srgbClr val="2E75B6"/>
                </a:solidFill>
                <a:latin typeface="Calibri" pitchFamily="34" charset="0"/>
                <a:ea typeface="Calibri" pitchFamily="34" charset="-122"/>
                <a:cs typeface="Calibri" pitchFamily="34" charset="-120"/>
              </a:rPr>
              <a:t>1.91x</a:t>
            </a:r>
            <a:endParaRPr lang="en-US" sz="1050"/>
          </a:p>
        </p:txBody>
      </p:sp>
      <p:sp>
        <p:nvSpPr>
          <p:cNvPr id="30" name="Text 28"/>
          <p:cNvSpPr/>
          <p:nvPr/>
        </p:nvSpPr>
        <p:spPr>
          <a:xfrm>
            <a:off x="10725912" y="2962656"/>
            <a:ext cx="822960" cy="292608"/>
          </a:xfrm>
          <a:prstGeom prst="rect">
            <a:avLst/>
          </a:prstGeom>
          <a:noFill/>
          <a:ln/>
        </p:spPr>
        <p:txBody>
          <a:bodyPr wrap="square" lIns="0" tIns="0" rIns="0" bIns="0" rtlCol="0" anchor="ctr"/>
          <a:lstStyle/>
          <a:p>
            <a:pPr marL="0" indent="0" algn="r">
              <a:buNone/>
            </a:pPr>
            <a:r>
              <a:rPr lang="en-US" sz="1050">
                <a:solidFill>
                  <a:srgbClr val="2E75B6"/>
                </a:solidFill>
                <a:latin typeface="Calibri" pitchFamily="34" charset="0"/>
                <a:ea typeface="Calibri" pitchFamily="34" charset="-122"/>
                <a:cs typeface="Calibri" pitchFamily="34" charset="-120"/>
              </a:rPr>
              <a:t>13.8%</a:t>
            </a:r>
            <a:endParaRPr lang="en-US" sz="1050"/>
          </a:p>
        </p:txBody>
      </p:sp>
      <p:sp>
        <p:nvSpPr>
          <p:cNvPr id="31" name="Text 29"/>
          <p:cNvSpPr/>
          <p:nvPr/>
        </p:nvSpPr>
        <p:spPr>
          <a:xfrm>
            <a:off x="6336792" y="3255264"/>
            <a:ext cx="1463040" cy="292608"/>
          </a:xfrm>
          <a:prstGeom prst="rect">
            <a:avLst/>
          </a:prstGeom>
          <a:noFill/>
          <a:ln/>
        </p:spPr>
        <p:txBody>
          <a:bodyPr wrap="square" lIns="0" tIns="0" rIns="0" bIns="0" rtlCol="0" anchor="ctr"/>
          <a:lstStyle/>
          <a:p>
            <a:pPr marL="0" indent="0" algn="l">
              <a:buNone/>
            </a:pPr>
            <a:r>
              <a:rPr lang="en-US" sz="1050">
                <a:solidFill>
                  <a:srgbClr val="595959"/>
                </a:solidFill>
                <a:latin typeface="Calibri" pitchFamily="34" charset="0"/>
                <a:ea typeface="Calibri" pitchFamily="34" charset="-122"/>
                <a:cs typeface="Calibri" pitchFamily="34" charset="-120"/>
              </a:rPr>
              <a:t>Sponsor Downside</a:t>
            </a:r>
            <a:endParaRPr lang="en-US" sz="1050"/>
          </a:p>
        </p:txBody>
      </p:sp>
      <p:sp>
        <p:nvSpPr>
          <p:cNvPr id="32" name="Text 30"/>
          <p:cNvSpPr/>
          <p:nvPr/>
        </p:nvSpPr>
        <p:spPr>
          <a:xfrm>
            <a:off x="7845552" y="3255264"/>
            <a:ext cx="1965960" cy="292608"/>
          </a:xfrm>
          <a:prstGeom prst="rect">
            <a:avLst/>
          </a:prstGeom>
          <a:noFill/>
          <a:ln/>
        </p:spPr>
        <p:txBody>
          <a:bodyPr wrap="square" lIns="0" tIns="0" rIns="0" bIns="0" rtlCol="0" anchor="ctr"/>
          <a:lstStyle/>
          <a:p>
            <a:pPr marL="0" indent="0" algn="l">
              <a:buNone/>
            </a:pPr>
            <a:r>
              <a:rPr lang="en-US" sz="1050">
                <a:solidFill>
                  <a:srgbClr val="595959"/>
                </a:solidFill>
                <a:latin typeface="Calibri" pitchFamily="34" charset="0"/>
                <a:ea typeface="Calibri" pitchFamily="34" charset="-122"/>
                <a:cs typeface="Calibri" pitchFamily="34" charset="-120"/>
              </a:rPr>
              <a:t>$3.6B Y5 / 16x exit</a:t>
            </a:r>
            <a:endParaRPr lang="en-US" sz="1050"/>
          </a:p>
        </p:txBody>
      </p:sp>
      <p:sp>
        <p:nvSpPr>
          <p:cNvPr id="33" name="Text 31"/>
          <p:cNvSpPr/>
          <p:nvPr/>
        </p:nvSpPr>
        <p:spPr>
          <a:xfrm>
            <a:off x="9857232" y="3255264"/>
            <a:ext cx="822960" cy="292608"/>
          </a:xfrm>
          <a:prstGeom prst="rect">
            <a:avLst/>
          </a:prstGeom>
          <a:noFill/>
          <a:ln/>
        </p:spPr>
        <p:txBody>
          <a:bodyPr wrap="square" lIns="0" tIns="0" rIns="0" bIns="0" rtlCol="0" anchor="ctr"/>
          <a:lstStyle/>
          <a:p>
            <a:pPr marL="0" indent="0" algn="r">
              <a:buNone/>
            </a:pPr>
            <a:r>
              <a:rPr lang="en-US" sz="1050">
                <a:solidFill>
                  <a:srgbClr val="595959"/>
                </a:solidFill>
                <a:latin typeface="Calibri" pitchFamily="34" charset="0"/>
                <a:ea typeface="Calibri" pitchFamily="34" charset="-122"/>
                <a:cs typeface="Calibri" pitchFamily="34" charset="-120"/>
              </a:rPr>
              <a:t>1.27x</a:t>
            </a:r>
            <a:endParaRPr lang="en-US" sz="1050"/>
          </a:p>
        </p:txBody>
      </p:sp>
      <p:sp>
        <p:nvSpPr>
          <p:cNvPr id="34" name="Text 32"/>
          <p:cNvSpPr/>
          <p:nvPr/>
        </p:nvSpPr>
        <p:spPr>
          <a:xfrm>
            <a:off x="10725912" y="3255264"/>
            <a:ext cx="822960" cy="292608"/>
          </a:xfrm>
          <a:prstGeom prst="rect">
            <a:avLst/>
          </a:prstGeom>
          <a:noFill/>
          <a:ln/>
        </p:spPr>
        <p:txBody>
          <a:bodyPr wrap="square" lIns="0" tIns="0" rIns="0" bIns="0" rtlCol="0" anchor="ctr"/>
          <a:lstStyle/>
          <a:p>
            <a:pPr marL="0" indent="0" algn="r">
              <a:buNone/>
            </a:pPr>
            <a:r>
              <a:rPr lang="en-US" sz="1050">
                <a:solidFill>
                  <a:srgbClr val="595959"/>
                </a:solidFill>
                <a:latin typeface="Calibri" pitchFamily="34" charset="0"/>
                <a:ea typeface="Calibri" pitchFamily="34" charset="-122"/>
                <a:cs typeface="Calibri" pitchFamily="34" charset="-120"/>
              </a:rPr>
              <a:t>4.8%</a:t>
            </a:r>
            <a:endParaRPr lang="en-US" sz="1050"/>
          </a:p>
        </p:txBody>
      </p:sp>
      <p:sp>
        <p:nvSpPr>
          <p:cNvPr id="35" name="Shape 33"/>
          <p:cNvSpPr/>
          <p:nvPr/>
        </p:nvSpPr>
        <p:spPr>
          <a:xfrm>
            <a:off x="457200" y="3840480"/>
            <a:ext cx="5532120" cy="365760"/>
          </a:xfrm>
          <a:prstGeom prst="rect">
            <a:avLst/>
          </a:prstGeom>
          <a:solidFill>
            <a:srgbClr val="1F4E79"/>
          </a:solidFill>
          <a:ln/>
        </p:spPr>
        <p:txBody>
          <a:bodyPr/>
          <a:lstStyle/>
          <a:p>
            <a:endParaRPr lang="en-US"/>
          </a:p>
        </p:txBody>
      </p:sp>
      <p:sp>
        <p:nvSpPr>
          <p:cNvPr id="36" name="Text 34"/>
          <p:cNvSpPr/>
          <p:nvPr/>
        </p:nvSpPr>
        <p:spPr>
          <a:xfrm>
            <a:off x="594360" y="3840480"/>
            <a:ext cx="5257800" cy="365760"/>
          </a:xfrm>
          <a:prstGeom prst="rect">
            <a:avLst/>
          </a:prstGeom>
          <a:noFill/>
          <a:ln/>
        </p:spPr>
        <p:txBody>
          <a:bodyPr wrap="square" lIns="0" tIns="0" rIns="0" bIns="0" rtlCol="0" anchor="ctr"/>
          <a:lstStyle/>
          <a:p>
            <a:pPr marL="0" indent="0" algn="l">
              <a:buNone/>
            </a:pPr>
            <a:r>
              <a:rPr lang="en-US" sz="1100" b="1" kern="0" spc="150">
                <a:solidFill>
                  <a:srgbClr val="FFFFFF"/>
                </a:solidFill>
                <a:latin typeface="Calibri" pitchFamily="34" charset="0"/>
                <a:ea typeface="Calibri" pitchFamily="34" charset="-122"/>
                <a:cs typeface="Calibri" pitchFamily="34" charset="-120"/>
              </a:rPr>
              <a:t>VALUATION FOOTBALL FIELD (per share)</a:t>
            </a:r>
            <a:endParaRPr lang="en-US" sz="1100"/>
          </a:p>
        </p:txBody>
      </p:sp>
      <p:sp>
        <p:nvSpPr>
          <p:cNvPr id="56" name="Shape 54"/>
          <p:cNvSpPr/>
          <p:nvPr/>
        </p:nvSpPr>
        <p:spPr>
          <a:xfrm>
            <a:off x="6199632" y="3840480"/>
            <a:ext cx="5532120" cy="365760"/>
          </a:xfrm>
          <a:prstGeom prst="rect">
            <a:avLst/>
          </a:prstGeom>
          <a:solidFill>
            <a:srgbClr val="1F4E79"/>
          </a:solidFill>
          <a:ln/>
        </p:spPr>
        <p:txBody>
          <a:bodyPr/>
          <a:lstStyle/>
          <a:p>
            <a:endParaRPr lang="en-US"/>
          </a:p>
        </p:txBody>
      </p:sp>
      <p:sp>
        <p:nvSpPr>
          <p:cNvPr id="57" name="Text 55"/>
          <p:cNvSpPr/>
          <p:nvPr/>
        </p:nvSpPr>
        <p:spPr>
          <a:xfrm>
            <a:off x="6336792" y="3840480"/>
            <a:ext cx="5257800" cy="365760"/>
          </a:xfrm>
          <a:prstGeom prst="rect">
            <a:avLst/>
          </a:prstGeom>
          <a:noFill/>
          <a:ln/>
        </p:spPr>
        <p:txBody>
          <a:bodyPr wrap="square" lIns="0" tIns="0" rIns="0" bIns="0" rtlCol="0" anchor="ctr"/>
          <a:lstStyle/>
          <a:p>
            <a:pPr marL="0" indent="0" algn="l">
              <a:buNone/>
            </a:pPr>
            <a:r>
              <a:rPr lang="en-US" sz="1100" b="1" kern="0" spc="200">
                <a:solidFill>
                  <a:srgbClr val="FFFFFF"/>
                </a:solidFill>
                <a:latin typeface="Calibri" pitchFamily="34" charset="0"/>
                <a:ea typeface="Calibri" pitchFamily="34" charset="-122"/>
                <a:cs typeface="Calibri" pitchFamily="34" charset="-120"/>
              </a:rPr>
              <a:t>KEY RISKS (RANKED)</a:t>
            </a:r>
            <a:endParaRPr lang="en-US" sz="1100"/>
          </a:p>
        </p:txBody>
      </p:sp>
      <p:sp>
        <p:nvSpPr>
          <p:cNvPr id="58" name="Shape 56"/>
          <p:cNvSpPr/>
          <p:nvPr/>
        </p:nvSpPr>
        <p:spPr>
          <a:xfrm>
            <a:off x="6199632" y="4206240"/>
            <a:ext cx="5532120" cy="1874520"/>
          </a:xfrm>
          <a:prstGeom prst="rect">
            <a:avLst/>
          </a:prstGeom>
          <a:solidFill>
            <a:srgbClr val="FFFFFF"/>
          </a:solidFill>
          <a:ln w="12700">
            <a:solidFill>
              <a:srgbClr val="1F4E79"/>
            </a:solidFill>
            <a:prstDash val="solid"/>
          </a:ln>
        </p:spPr>
        <p:txBody>
          <a:bodyPr/>
          <a:lstStyle/>
          <a:p>
            <a:endParaRPr lang="en-US"/>
          </a:p>
        </p:txBody>
      </p:sp>
      <p:sp>
        <p:nvSpPr>
          <p:cNvPr id="59" name="Text 57"/>
          <p:cNvSpPr/>
          <p:nvPr/>
        </p:nvSpPr>
        <p:spPr>
          <a:xfrm>
            <a:off x="6382512" y="4297680"/>
            <a:ext cx="4023360" cy="201168"/>
          </a:xfrm>
          <a:prstGeom prst="rect">
            <a:avLst/>
          </a:prstGeom>
          <a:noFill/>
          <a:ln/>
        </p:spPr>
        <p:txBody>
          <a:bodyPr wrap="square" lIns="0" tIns="0" rIns="0" bIns="0" rtlCol="0" anchor="ctr"/>
          <a:lstStyle/>
          <a:p>
            <a:pPr marL="0" indent="0" algn="l">
              <a:buNone/>
            </a:pPr>
            <a:r>
              <a:rPr lang="en-US" sz="900">
                <a:solidFill>
                  <a:srgbClr val="1F4E79"/>
                </a:solidFill>
                <a:latin typeface="Calibri" pitchFamily="34" charset="0"/>
                <a:ea typeface="Calibri" pitchFamily="34" charset="-122"/>
                <a:cs typeface="Calibri" pitchFamily="34" charset="-120"/>
              </a:rPr>
              <a:t>CFIUS clearance + PIF political exposure</a:t>
            </a:r>
            <a:endParaRPr lang="en-US" sz="900"/>
          </a:p>
        </p:txBody>
      </p:sp>
      <p:sp>
        <p:nvSpPr>
          <p:cNvPr id="60" name="Shape 58"/>
          <p:cNvSpPr/>
          <p:nvPr/>
        </p:nvSpPr>
        <p:spPr>
          <a:xfrm>
            <a:off x="10451592" y="4315968"/>
            <a:ext cx="1097280" cy="182880"/>
          </a:xfrm>
          <a:prstGeom prst="roundRect">
            <a:avLst>
              <a:gd name="adj" fmla="val 20000"/>
            </a:avLst>
          </a:prstGeom>
          <a:solidFill>
            <a:srgbClr val="C00000"/>
          </a:solidFill>
          <a:ln/>
        </p:spPr>
        <p:txBody>
          <a:bodyPr/>
          <a:lstStyle/>
          <a:p>
            <a:endParaRPr lang="en-US"/>
          </a:p>
        </p:txBody>
      </p:sp>
      <p:sp>
        <p:nvSpPr>
          <p:cNvPr id="61" name="Text 59"/>
          <p:cNvSpPr/>
          <p:nvPr/>
        </p:nvSpPr>
        <p:spPr>
          <a:xfrm>
            <a:off x="10451592" y="4315968"/>
            <a:ext cx="109728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HIGH</a:t>
            </a:r>
            <a:endParaRPr lang="en-US" sz="750"/>
          </a:p>
        </p:txBody>
      </p:sp>
      <p:sp>
        <p:nvSpPr>
          <p:cNvPr id="62" name="Text 60"/>
          <p:cNvSpPr/>
          <p:nvPr/>
        </p:nvSpPr>
        <p:spPr>
          <a:xfrm>
            <a:off x="6382512" y="4526280"/>
            <a:ext cx="4023360" cy="201168"/>
          </a:xfrm>
          <a:prstGeom prst="rect">
            <a:avLst/>
          </a:prstGeom>
          <a:noFill/>
          <a:ln/>
        </p:spPr>
        <p:txBody>
          <a:bodyPr wrap="square" lIns="0" tIns="0" rIns="0" bIns="0" rtlCol="0" anchor="ctr"/>
          <a:lstStyle/>
          <a:p>
            <a:pPr marL="0" indent="0" algn="l">
              <a:buNone/>
            </a:pPr>
            <a:r>
              <a:rPr lang="en-US" sz="900">
                <a:solidFill>
                  <a:srgbClr val="1F4E79"/>
                </a:solidFill>
                <a:latin typeface="Calibri" pitchFamily="34" charset="0"/>
                <a:ea typeface="Calibri" pitchFamily="34" charset="-122"/>
                <a:cs typeface="Calibri" pitchFamily="34" charset="-120"/>
              </a:rPr>
              <a:t>FY26-FY28 EBITDA execution (+52% growth)</a:t>
            </a:r>
            <a:endParaRPr lang="en-US" sz="900"/>
          </a:p>
        </p:txBody>
      </p:sp>
      <p:sp>
        <p:nvSpPr>
          <p:cNvPr id="63" name="Shape 61"/>
          <p:cNvSpPr/>
          <p:nvPr/>
        </p:nvSpPr>
        <p:spPr>
          <a:xfrm>
            <a:off x="10451592" y="4544568"/>
            <a:ext cx="1097280" cy="182880"/>
          </a:xfrm>
          <a:prstGeom prst="roundRect">
            <a:avLst>
              <a:gd name="adj" fmla="val 20000"/>
            </a:avLst>
          </a:prstGeom>
          <a:solidFill>
            <a:srgbClr val="C00000"/>
          </a:solidFill>
          <a:ln/>
        </p:spPr>
        <p:txBody>
          <a:bodyPr/>
          <a:lstStyle/>
          <a:p>
            <a:endParaRPr lang="en-US"/>
          </a:p>
        </p:txBody>
      </p:sp>
      <p:sp>
        <p:nvSpPr>
          <p:cNvPr id="64" name="Text 62"/>
          <p:cNvSpPr/>
          <p:nvPr/>
        </p:nvSpPr>
        <p:spPr>
          <a:xfrm>
            <a:off x="10451592" y="4544568"/>
            <a:ext cx="109728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HIGH</a:t>
            </a:r>
            <a:endParaRPr lang="en-US" sz="750"/>
          </a:p>
        </p:txBody>
      </p:sp>
      <p:sp>
        <p:nvSpPr>
          <p:cNvPr id="65" name="Text 63"/>
          <p:cNvSpPr/>
          <p:nvPr/>
        </p:nvSpPr>
        <p:spPr>
          <a:xfrm>
            <a:off x="6382512" y="4754880"/>
            <a:ext cx="4023360" cy="201168"/>
          </a:xfrm>
          <a:prstGeom prst="rect">
            <a:avLst/>
          </a:prstGeom>
          <a:noFill/>
          <a:ln/>
        </p:spPr>
        <p:txBody>
          <a:bodyPr wrap="square" lIns="0" tIns="0" rIns="0" bIns="0" rtlCol="0" anchor="ctr"/>
          <a:lstStyle/>
          <a:p>
            <a:pPr marL="0" indent="0" algn="l">
              <a:buNone/>
            </a:pPr>
            <a:r>
              <a:rPr lang="en-US" sz="900">
                <a:solidFill>
                  <a:srgbClr val="1F4E79"/>
                </a:solidFill>
                <a:latin typeface="Calibri" pitchFamily="34" charset="0"/>
                <a:ea typeface="Calibri" pitchFamily="34" charset="-122"/>
                <a:cs typeface="Calibri" pitchFamily="34" charset="-120"/>
              </a:rPr>
              <a:t>EU loot-box / microtransaction regulation</a:t>
            </a:r>
            <a:endParaRPr lang="en-US" sz="900"/>
          </a:p>
        </p:txBody>
      </p:sp>
      <p:sp>
        <p:nvSpPr>
          <p:cNvPr id="66" name="Shape 64"/>
          <p:cNvSpPr/>
          <p:nvPr/>
        </p:nvSpPr>
        <p:spPr>
          <a:xfrm>
            <a:off x="10451592" y="4773168"/>
            <a:ext cx="1097280" cy="182880"/>
          </a:xfrm>
          <a:prstGeom prst="roundRect">
            <a:avLst>
              <a:gd name="adj" fmla="val 20000"/>
            </a:avLst>
          </a:prstGeom>
          <a:solidFill>
            <a:srgbClr val="B8860B"/>
          </a:solidFill>
          <a:ln/>
        </p:spPr>
        <p:txBody>
          <a:bodyPr/>
          <a:lstStyle/>
          <a:p>
            <a:endParaRPr lang="en-US"/>
          </a:p>
        </p:txBody>
      </p:sp>
      <p:sp>
        <p:nvSpPr>
          <p:cNvPr id="67" name="Text 65"/>
          <p:cNvSpPr/>
          <p:nvPr/>
        </p:nvSpPr>
        <p:spPr>
          <a:xfrm>
            <a:off x="10451592" y="4773168"/>
            <a:ext cx="109728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MED</a:t>
            </a:r>
            <a:endParaRPr lang="en-US" sz="750"/>
          </a:p>
        </p:txBody>
      </p:sp>
      <p:sp>
        <p:nvSpPr>
          <p:cNvPr id="68" name="Text 66"/>
          <p:cNvSpPr/>
          <p:nvPr/>
        </p:nvSpPr>
        <p:spPr>
          <a:xfrm>
            <a:off x="6382512" y="4983480"/>
            <a:ext cx="4023360" cy="201168"/>
          </a:xfrm>
          <a:prstGeom prst="rect">
            <a:avLst/>
          </a:prstGeom>
          <a:noFill/>
          <a:ln/>
        </p:spPr>
        <p:txBody>
          <a:bodyPr wrap="square" lIns="0" tIns="0" rIns="0" bIns="0" rtlCol="0" anchor="ctr"/>
          <a:lstStyle/>
          <a:p>
            <a:pPr marL="0" indent="0" algn="l">
              <a:buNone/>
            </a:pPr>
            <a:r>
              <a:rPr lang="en-US" sz="900">
                <a:solidFill>
                  <a:srgbClr val="1F4E79"/>
                </a:solidFill>
                <a:latin typeface="Calibri" pitchFamily="34" charset="0"/>
                <a:ea typeface="Calibri" pitchFamily="34" charset="-122"/>
                <a:cs typeface="Calibri" pitchFamily="34" charset="-120"/>
              </a:rPr>
              <a:t>Sports licensing renewal</a:t>
            </a:r>
            <a:endParaRPr lang="en-US" sz="900"/>
          </a:p>
        </p:txBody>
      </p:sp>
      <p:sp>
        <p:nvSpPr>
          <p:cNvPr id="69" name="Shape 67"/>
          <p:cNvSpPr/>
          <p:nvPr/>
        </p:nvSpPr>
        <p:spPr>
          <a:xfrm>
            <a:off x="10451592" y="5001768"/>
            <a:ext cx="1097280" cy="182880"/>
          </a:xfrm>
          <a:prstGeom prst="roundRect">
            <a:avLst>
              <a:gd name="adj" fmla="val 20000"/>
            </a:avLst>
          </a:prstGeom>
          <a:solidFill>
            <a:srgbClr val="B8860B"/>
          </a:solidFill>
          <a:ln/>
        </p:spPr>
        <p:txBody>
          <a:bodyPr/>
          <a:lstStyle/>
          <a:p>
            <a:endParaRPr lang="en-US"/>
          </a:p>
        </p:txBody>
      </p:sp>
      <p:sp>
        <p:nvSpPr>
          <p:cNvPr id="70" name="Text 68"/>
          <p:cNvSpPr/>
          <p:nvPr/>
        </p:nvSpPr>
        <p:spPr>
          <a:xfrm>
            <a:off x="10451592" y="5001768"/>
            <a:ext cx="109728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MED</a:t>
            </a:r>
            <a:endParaRPr lang="en-US" sz="750"/>
          </a:p>
        </p:txBody>
      </p:sp>
      <p:sp>
        <p:nvSpPr>
          <p:cNvPr id="71" name="Text 69"/>
          <p:cNvSpPr/>
          <p:nvPr/>
        </p:nvSpPr>
        <p:spPr>
          <a:xfrm>
            <a:off x="6382512" y="5212080"/>
            <a:ext cx="4023360" cy="201168"/>
          </a:xfrm>
          <a:prstGeom prst="rect">
            <a:avLst/>
          </a:prstGeom>
          <a:noFill/>
          <a:ln/>
        </p:spPr>
        <p:txBody>
          <a:bodyPr wrap="square" lIns="0" tIns="0" rIns="0" bIns="0" rtlCol="0" anchor="ctr"/>
          <a:lstStyle/>
          <a:p>
            <a:pPr marL="0" indent="0" algn="l">
              <a:buNone/>
            </a:pPr>
            <a:r>
              <a:rPr lang="en-US" sz="900">
                <a:solidFill>
                  <a:srgbClr val="1F4E79"/>
                </a:solidFill>
                <a:latin typeface="Calibri" pitchFamily="34" charset="0"/>
                <a:ea typeface="Calibri" pitchFamily="34" charset="-122"/>
                <a:cs typeface="Calibri" pitchFamily="34" charset="-120"/>
              </a:rPr>
              <a:t>Constrained exit routes</a:t>
            </a:r>
            <a:endParaRPr lang="en-US" sz="900"/>
          </a:p>
        </p:txBody>
      </p:sp>
      <p:sp>
        <p:nvSpPr>
          <p:cNvPr id="72" name="Shape 70"/>
          <p:cNvSpPr/>
          <p:nvPr/>
        </p:nvSpPr>
        <p:spPr>
          <a:xfrm>
            <a:off x="10451592" y="5230368"/>
            <a:ext cx="1097280" cy="182880"/>
          </a:xfrm>
          <a:prstGeom prst="roundRect">
            <a:avLst>
              <a:gd name="adj" fmla="val 20000"/>
            </a:avLst>
          </a:prstGeom>
          <a:solidFill>
            <a:srgbClr val="B8860B"/>
          </a:solidFill>
          <a:ln/>
        </p:spPr>
        <p:txBody>
          <a:bodyPr/>
          <a:lstStyle/>
          <a:p>
            <a:endParaRPr lang="en-US"/>
          </a:p>
        </p:txBody>
      </p:sp>
      <p:sp>
        <p:nvSpPr>
          <p:cNvPr id="73" name="Text 71"/>
          <p:cNvSpPr/>
          <p:nvPr/>
        </p:nvSpPr>
        <p:spPr>
          <a:xfrm>
            <a:off x="10451592" y="5230368"/>
            <a:ext cx="109728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MED</a:t>
            </a:r>
            <a:endParaRPr lang="en-US" sz="750"/>
          </a:p>
        </p:txBody>
      </p:sp>
      <p:sp>
        <p:nvSpPr>
          <p:cNvPr id="74" name="Text 72"/>
          <p:cNvSpPr/>
          <p:nvPr/>
        </p:nvSpPr>
        <p:spPr>
          <a:xfrm>
            <a:off x="6382512" y="5440680"/>
            <a:ext cx="4023360" cy="201168"/>
          </a:xfrm>
          <a:prstGeom prst="rect">
            <a:avLst/>
          </a:prstGeom>
          <a:noFill/>
          <a:ln/>
        </p:spPr>
        <p:txBody>
          <a:bodyPr wrap="square" lIns="0" tIns="0" rIns="0" bIns="0" rtlCol="0" anchor="ctr"/>
          <a:lstStyle/>
          <a:p>
            <a:pPr marL="0" indent="0" algn="l">
              <a:buNone/>
            </a:pPr>
            <a:r>
              <a:rPr lang="en-US" sz="900">
                <a:solidFill>
                  <a:srgbClr val="1F4E79"/>
                </a:solidFill>
                <a:latin typeface="Calibri" pitchFamily="34" charset="0"/>
                <a:ea typeface="Calibri" pitchFamily="34" charset="-122"/>
                <a:cs typeface="Calibri" pitchFamily="34" charset="-120"/>
              </a:rPr>
              <a:t>Related-party governance (Wilson–SL)</a:t>
            </a:r>
            <a:endParaRPr lang="en-US" sz="900"/>
          </a:p>
        </p:txBody>
      </p:sp>
      <p:sp>
        <p:nvSpPr>
          <p:cNvPr id="75" name="Shape 73"/>
          <p:cNvSpPr/>
          <p:nvPr/>
        </p:nvSpPr>
        <p:spPr>
          <a:xfrm>
            <a:off x="10451592" y="5458968"/>
            <a:ext cx="1097280" cy="182880"/>
          </a:xfrm>
          <a:prstGeom prst="roundRect">
            <a:avLst>
              <a:gd name="adj" fmla="val 20000"/>
            </a:avLst>
          </a:prstGeom>
          <a:solidFill>
            <a:srgbClr val="B8860B"/>
          </a:solidFill>
          <a:ln/>
        </p:spPr>
        <p:txBody>
          <a:bodyPr/>
          <a:lstStyle/>
          <a:p>
            <a:endParaRPr lang="en-US"/>
          </a:p>
        </p:txBody>
      </p:sp>
      <p:sp>
        <p:nvSpPr>
          <p:cNvPr id="76" name="Text 74"/>
          <p:cNvSpPr/>
          <p:nvPr/>
        </p:nvSpPr>
        <p:spPr>
          <a:xfrm>
            <a:off x="10451592" y="5458968"/>
            <a:ext cx="109728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MED</a:t>
            </a:r>
            <a:endParaRPr lang="en-US" sz="750"/>
          </a:p>
        </p:txBody>
      </p:sp>
      <p:sp>
        <p:nvSpPr>
          <p:cNvPr id="77" name="Text 75"/>
          <p:cNvSpPr/>
          <p:nvPr/>
        </p:nvSpPr>
        <p:spPr>
          <a:xfrm>
            <a:off x="6382512" y="5669280"/>
            <a:ext cx="4023360" cy="201168"/>
          </a:xfrm>
          <a:prstGeom prst="rect">
            <a:avLst/>
          </a:prstGeom>
          <a:noFill/>
          <a:ln/>
        </p:spPr>
        <p:txBody>
          <a:bodyPr wrap="square" lIns="0" tIns="0" rIns="0" bIns="0" rtlCol="0" anchor="ctr"/>
          <a:lstStyle/>
          <a:p>
            <a:pPr marL="0" indent="0" algn="l">
              <a:buNone/>
            </a:pPr>
            <a:r>
              <a:rPr lang="en-US" sz="900">
                <a:solidFill>
                  <a:srgbClr val="1F4E79"/>
                </a:solidFill>
                <a:latin typeface="Calibri" pitchFamily="34" charset="0"/>
                <a:ea typeface="Calibri" pitchFamily="34" charset="-122"/>
                <a:cs typeface="Calibri" pitchFamily="34" charset="-120"/>
              </a:rPr>
              <a:t>Leverage / SOFR rate sensitivity</a:t>
            </a:r>
            <a:endParaRPr lang="en-US" sz="900"/>
          </a:p>
        </p:txBody>
      </p:sp>
      <p:sp>
        <p:nvSpPr>
          <p:cNvPr id="78" name="Shape 76"/>
          <p:cNvSpPr/>
          <p:nvPr/>
        </p:nvSpPr>
        <p:spPr>
          <a:xfrm>
            <a:off x="10451592" y="5687568"/>
            <a:ext cx="1097280" cy="182880"/>
          </a:xfrm>
          <a:prstGeom prst="roundRect">
            <a:avLst>
              <a:gd name="adj" fmla="val 20000"/>
            </a:avLst>
          </a:prstGeom>
          <a:solidFill>
            <a:srgbClr val="2E7D32"/>
          </a:solidFill>
          <a:ln/>
        </p:spPr>
        <p:txBody>
          <a:bodyPr/>
          <a:lstStyle/>
          <a:p>
            <a:endParaRPr lang="en-US"/>
          </a:p>
        </p:txBody>
      </p:sp>
      <p:sp>
        <p:nvSpPr>
          <p:cNvPr id="79" name="Text 77"/>
          <p:cNvSpPr/>
          <p:nvPr/>
        </p:nvSpPr>
        <p:spPr>
          <a:xfrm>
            <a:off x="10451592" y="5687568"/>
            <a:ext cx="1097280" cy="182880"/>
          </a:xfrm>
          <a:prstGeom prst="rect">
            <a:avLst/>
          </a:prstGeom>
          <a:noFill/>
          <a:ln/>
        </p:spPr>
        <p:txBody>
          <a:bodyPr wrap="square" lIns="0" tIns="0" rIns="0" bIns="0" rtlCol="0" anchor="ctr"/>
          <a:lstStyle/>
          <a:p>
            <a:pPr marL="0" indent="0" algn="ctr">
              <a:buNone/>
            </a:pPr>
            <a:r>
              <a:rPr lang="en-US" sz="750" b="1">
                <a:solidFill>
                  <a:srgbClr val="FFFFFF"/>
                </a:solidFill>
                <a:latin typeface="Calibri" pitchFamily="34" charset="0"/>
                <a:ea typeface="Calibri" pitchFamily="34" charset="-122"/>
                <a:cs typeface="Calibri" pitchFamily="34" charset="-120"/>
              </a:rPr>
              <a:t>LOW-MED</a:t>
            </a:r>
            <a:endParaRPr lang="en-US" sz="750"/>
          </a:p>
        </p:txBody>
      </p:sp>
      <p:sp>
        <p:nvSpPr>
          <p:cNvPr id="80" name="Text 78"/>
          <p:cNvSpPr/>
          <p:nvPr/>
        </p:nvSpPr>
        <p:spPr>
          <a:xfrm>
            <a:off x="457200" y="6172200"/>
            <a:ext cx="11277295" cy="365760"/>
          </a:xfrm>
          <a:prstGeom prst="rect">
            <a:avLst/>
          </a:prstGeom>
          <a:noFill/>
          <a:ln/>
        </p:spPr>
        <p:txBody>
          <a:bodyPr wrap="square" lIns="0" tIns="0" rIns="0" bIns="0" rtlCol="0" anchor="ctr"/>
          <a:lstStyle/>
          <a:p>
            <a:pPr marL="0" indent="0" algn="ctr">
              <a:buNone/>
            </a:pPr>
            <a:r>
              <a:rPr lang="en-US" sz="900" b="1">
                <a:solidFill>
                  <a:srgbClr val="1F4E79"/>
                </a:solidFill>
                <a:latin typeface="Calibri" pitchFamily="34" charset="0"/>
                <a:ea typeface="Calibri" pitchFamily="34" charset="-122"/>
                <a:cs typeface="Calibri" pitchFamily="34" charset="-120"/>
              </a:rPr>
              <a:t>TIMELINE: </a:t>
            </a:r>
            <a:r>
              <a:rPr lang="en-US" sz="900">
                <a:solidFill>
                  <a:srgbClr val="595959"/>
                </a:solidFill>
                <a:latin typeface="Calibri" pitchFamily="34" charset="0"/>
                <a:ea typeface="Calibri" pitchFamily="34" charset="-122"/>
                <a:cs typeface="Calibri" pitchFamily="34" charset="-120"/>
              </a:rPr>
              <a:t>9/29/25 announce  •  11/20/25 DEFM14A  •  12/22/25 vote 99.06%  •  2/9/26 HSR cleared  •  3/16/26 TLB priced (~$20B demand)  •  Q1 FY27 close (CFIUS pending)</a:t>
            </a:r>
            <a:endParaRPr lang="en-US" sz="900"/>
          </a:p>
        </p:txBody>
      </p:sp>
      <p:sp>
        <p:nvSpPr>
          <p:cNvPr id="81" name="Shape 35">
            <a:extLst>
              <a:ext uri="{FF2B5EF4-FFF2-40B4-BE49-F238E27FC236}">
                <a16:creationId xmlns:a16="http://schemas.microsoft.com/office/drawing/2014/main" id="{479D33EA-449B-45E1-4DE5-3BD4D5DDB277}"/>
              </a:ext>
            </a:extLst>
          </p:cNvPr>
          <p:cNvSpPr/>
          <p:nvPr/>
        </p:nvSpPr>
        <p:spPr>
          <a:xfrm>
            <a:off x="457200" y="4206240"/>
            <a:ext cx="5532120" cy="1874520"/>
          </a:xfrm>
          <a:prstGeom prst="rect">
            <a:avLst/>
          </a:prstGeom>
          <a:solidFill>
            <a:srgbClr val="FFFFFF"/>
          </a:solidFill>
          <a:ln w="12700">
            <a:solidFill>
              <a:srgbClr val="1F4E79"/>
            </a:solidFill>
            <a:prstDash val="solid"/>
          </a:ln>
        </p:spPr>
        <p:txBody>
          <a:bodyPr/>
          <a:lstStyle/>
          <a:p>
            <a:endParaRPr lang="en-US"/>
          </a:p>
        </p:txBody>
      </p:sp>
      <p:sp>
        <p:nvSpPr>
          <p:cNvPr id="82" name="Text 36">
            <a:extLst>
              <a:ext uri="{FF2B5EF4-FFF2-40B4-BE49-F238E27FC236}">
                <a16:creationId xmlns:a16="http://schemas.microsoft.com/office/drawing/2014/main" id="{8380A6C6-F927-4AFC-B2BD-F82ADB118871}"/>
              </a:ext>
            </a:extLst>
          </p:cNvPr>
          <p:cNvSpPr/>
          <p:nvPr/>
        </p:nvSpPr>
        <p:spPr>
          <a:xfrm>
            <a:off x="548640" y="4389120"/>
            <a:ext cx="1143000" cy="274320"/>
          </a:xfrm>
          <a:prstGeom prst="rect">
            <a:avLst/>
          </a:prstGeom>
          <a:noFill/>
          <a:ln/>
        </p:spPr>
        <p:txBody>
          <a:bodyPr wrap="square" lIns="0" tIns="0" rIns="0" bIns="0" rtlCol="0" anchor="ctr"/>
          <a:lstStyle/>
          <a:p>
            <a:pPr marL="0" indent="0" algn="l">
              <a:buNone/>
            </a:pPr>
            <a:r>
              <a:rPr lang="en-US" sz="850" b="1">
                <a:solidFill>
                  <a:srgbClr val="1F4E79"/>
                </a:solidFill>
                <a:latin typeface="Calibri" pitchFamily="34" charset="0"/>
                <a:ea typeface="Calibri" pitchFamily="34" charset="-122"/>
                <a:cs typeface="Calibri" pitchFamily="34" charset="-120"/>
              </a:rPr>
              <a:t>CCA</a:t>
            </a:r>
            <a:endParaRPr lang="en-US" sz="850"/>
          </a:p>
        </p:txBody>
      </p:sp>
      <p:sp>
        <p:nvSpPr>
          <p:cNvPr id="83" name="Shape 37">
            <a:extLst>
              <a:ext uri="{FF2B5EF4-FFF2-40B4-BE49-F238E27FC236}">
                <a16:creationId xmlns:a16="http://schemas.microsoft.com/office/drawing/2014/main" id="{4893FBE1-EE79-0BC1-C045-5854626E566E}"/>
              </a:ext>
            </a:extLst>
          </p:cNvPr>
          <p:cNvSpPr/>
          <p:nvPr/>
        </p:nvSpPr>
        <p:spPr>
          <a:xfrm>
            <a:off x="3362957" y="4434840"/>
            <a:ext cx="1771321" cy="182880"/>
          </a:xfrm>
          <a:prstGeom prst="rect">
            <a:avLst/>
          </a:prstGeom>
          <a:solidFill>
            <a:srgbClr val="2E75B6"/>
          </a:solidFill>
          <a:ln/>
        </p:spPr>
        <p:txBody>
          <a:bodyPr/>
          <a:lstStyle/>
          <a:p>
            <a:endParaRPr lang="en-US"/>
          </a:p>
        </p:txBody>
      </p:sp>
      <p:sp>
        <p:nvSpPr>
          <p:cNvPr id="84" name="Text 38">
            <a:extLst>
              <a:ext uri="{FF2B5EF4-FFF2-40B4-BE49-F238E27FC236}">
                <a16:creationId xmlns:a16="http://schemas.microsoft.com/office/drawing/2014/main" id="{4FBD4BAA-6496-C5DC-BEBC-20A756B690EA}"/>
              </a:ext>
            </a:extLst>
          </p:cNvPr>
          <p:cNvSpPr/>
          <p:nvPr/>
        </p:nvSpPr>
        <p:spPr>
          <a:xfrm>
            <a:off x="2978909" y="4389120"/>
            <a:ext cx="384048" cy="27432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$164</a:t>
            </a:r>
            <a:endParaRPr lang="en-US" sz="700"/>
          </a:p>
        </p:txBody>
      </p:sp>
      <p:sp>
        <p:nvSpPr>
          <p:cNvPr id="85" name="Text 39">
            <a:extLst>
              <a:ext uri="{FF2B5EF4-FFF2-40B4-BE49-F238E27FC236}">
                <a16:creationId xmlns:a16="http://schemas.microsoft.com/office/drawing/2014/main" id="{1067DB3E-4181-5F61-7833-A064F7073871}"/>
              </a:ext>
            </a:extLst>
          </p:cNvPr>
          <p:cNvSpPr/>
          <p:nvPr/>
        </p:nvSpPr>
        <p:spPr>
          <a:xfrm>
            <a:off x="5152567" y="4389120"/>
            <a:ext cx="384048" cy="274320"/>
          </a:xfrm>
          <a:prstGeom prst="rect">
            <a:avLst/>
          </a:prstGeom>
          <a:noFill/>
          <a:ln/>
        </p:spPr>
        <p:txBody>
          <a:bodyPr wrap="square" lIns="0" tIns="0" rIns="0" bIns="0" rtlCol="0" anchor="ctr"/>
          <a:lstStyle/>
          <a:p>
            <a:pPr marL="0" indent="0" algn="l">
              <a:buNone/>
            </a:pPr>
            <a:r>
              <a:rPr lang="en-US" sz="700">
                <a:solidFill>
                  <a:srgbClr val="595959"/>
                </a:solidFill>
                <a:latin typeface="Calibri" pitchFamily="34" charset="0"/>
                <a:ea typeface="Calibri" pitchFamily="34" charset="-122"/>
                <a:cs typeface="Calibri" pitchFamily="34" charset="-120"/>
              </a:rPr>
              <a:t>$234</a:t>
            </a:r>
            <a:endParaRPr lang="en-US" sz="700"/>
          </a:p>
        </p:txBody>
      </p:sp>
      <p:sp>
        <p:nvSpPr>
          <p:cNvPr id="86" name="Text 40">
            <a:extLst>
              <a:ext uri="{FF2B5EF4-FFF2-40B4-BE49-F238E27FC236}">
                <a16:creationId xmlns:a16="http://schemas.microsoft.com/office/drawing/2014/main" id="{60EFF6B2-0A79-B730-A191-736AED96AA6C}"/>
              </a:ext>
            </a:extLst>
          </p:cNvPr>
          <p:cNvSpPr/>
          <p:nvPr/>
        </p:nvSpPr>
        <p:spPr>
          <a:xfrm>
            <a:off x="548640" y="4709160"/>
            <a:ext cx="1143000" cy="274320"/>
          </a:xfrm>
          <a:prstGeom prst="rect">
            <a:avLst/>
          </a:prstGeom>
          <a:noFill/>
          <a:ln/>
        </p:spPr>
        <p:txBody>
          <a:bodyPr wrap="square" lIns="0" tIns="0" rIns="0" bIns="0" rtlCol="0" anchor="ctr"/>
          <a:lstStyle/>
          <a:p>
            <a:pPr marL="0" indent="0" algn="l">
              <a:buNone/>
            </a:pPr>
            <a:r>
              <a:rPr lang="en-US" sz="850" b="1">
                <a:solidFill>
                  <a:srgbClr val="1F4E79"/>
                </a:solidFill>
                <a:latin typeface="Calibri" pitchFamily="34" charset="0"/>
                <a:ea typeface="Calibri" pitchFamily="34" charset="-122"/>
                <a:cs typeface="Calibri" pitchFamily="34" charset="-120"/>
              </a:rPr>
              <a:t>PTA</a:t>
            </a:r>
            <a:endParaRPr lang="en-US" sz="850"/>
          </a:p>
        </p:txBody>
      </p:sp>
      <p:sp>
        <p:nvSpPr>
          <p:cNvPr id="87" name="Shape 41">
            <a:extLst>
              <a:ext uri="{FF2B5EF4-FFF2-40B4-BE49-F238E27FC236}">
                <a16:creationId xmlns:a16="http://schemas.microsoft.com/office/drawing/2014/main" id="{9B602152-C190-3850-2D3D-12DAAA059D32}"/>
              </a:ext>
            </a:extLst>
          </p:cNvPr>
          <p:cNvSpPr/>
          <p:nvPr/>
        </p:nvSpPr>
        <p:spPr>
          <a:xfrm>
            <a:off x="3953483" y="4754880"/>
            <a:ext cx="1180796" cy="182880"/>
          </a:xfrm>
          <a:prstGeom prst="rect">
            <a:avLst/>
          </a:prstGeom>
          <a:solidFill>
            <a:srgbClr val="2E75B6"/>
          </a:solidFill>
          <a:ln/>
        </p:spPr>
        <p:txBody>
          <a:bodyPr/>
          <a:lstStyle/>
          <a:p>
            <a:endParaRPr lang="en-US"/>
          </a:p>
        </p:txBody>
      </p:sp>
      <p:sp>
        <p:nvSpPr>
          <p:cNvPr id="88" name="Text 42">
            <a:extLst>
              <a:ext uri="{FF2B5EF4-FFF2-40B4-BE49-F238E27FC236}">
                <a16:creationId xmlns:a16="http://schemas.microsoft.com/office/drawing/2014/main" id="{A21740CF-45AD-4C04-B94C-EEE79735786A}"/>
              </a:ext>
            </a:extLst>
          </p:cNvPr>
          <p:cNvSpPr/>
          <p:nvPr/>
        </p:nvSpPr>
        <p:spPr>
          <a:xfrm>
            <a:off x="3569435" y="4709160"/>
            <a:ext cx="384048" cy="27432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$187</a:t>
            </a:r>
            <a:endParaRPr lang="en-US" sz="700"/>
          </a:p>
        </p:txBody>
      </p:sp>
      <p:sp>
        <p:nvSpPr>
          <p:cNvPr id="89" name="Text 43">
            <a:extLst>
              <a:ext uri="{FF2B5EF4-FFF2-40B4-BE49-F238E27FC236}">
                <a16:creationId xmlns:a16="http://schemas.microsoft.com/office/drawing/2014/main" id="{F94E2A14-F132-1883-4720-614920E9F436}"/>
              </a:ext>
            </a:extLst>
          </p:cNvPr>
          <p:cNvSpPr/>
          <p:nvPr/>
        </p:nvSpPr>
        <p:spPr>
          <a:xfrm>
            <a:off x="5152567" y="4709160"/>
            <a:ext cx="384048" cy="274320"/>
          </a:xfrm>
          <a:prstGeom prst="rect">
            <a:avLst/>
          </a:prstGeom>
          <a:noFill/>
          <a:ln/>
        </p:spPr>
        <p:txBody>
          <a:bodyPr wrap="square" lIns="0" tIns="0" rIns="0" bIns="0" rtlCol="0" anchor="ctr"/>
          <a:lstStyle/>
          <a:p>
            <a:pPr marL="0" indent="0" algn="l">
              <a:buNone/>
            </a:pPr>
            <a:r>
              <a:rPr lang="en-US" sz="700">
                <a:solidFill>
                  <a:srgbClr val="595959"/>
                </a:solidFill>
                <a:latin typeface="Calibri" pitchFamily="34" charset="0"/>
                <a:ea typeface="Calibri" pitchFamily="34" charset="-122"/>
                <a:cs typeface="Calibri" pitchFamily="34" charset="-120"/>
              </a:rPr>
              <a:t>$234</a:t>
            </a:r>
            <a:endParaRPr lang="en-US" sz="700"/>
          </a:p>
        </p:txBody>
      </p:sp>
      <p:sp>
        <p:nvSpPr>
          <p:cNvPr id="90" name="Text 44">
            <a:extLst>
              <a:ext uri="{FF2B5EF4-FFF2-40B4-BE49-F238E27FC236}">
                <a16:creationId xmlns:a16="http://schemas.microsoft.com/office/drawing/2014/main" id="{F8969BC8-806E-A513-3513-CF3ADFBE5B42}"/>
              </a:ext>
            </a:extLst>
          </p:cNvPr>
          <p:cNvSpPr/>
          <p:nvPr/>
        </p:nvSpPr>
        <p:spPr>
          <a:xfrm>
            <a:off x="548640" y="5029200"/>
            <a:ext cx="1143000" cy="274320"/>
          </a:xfrm>
          <a:prstGeom prst="rect">
            <a:avLst/>
          </a:prstGeom>
          <a:noFill/>
          <a:ln/>
        </p:spPr>
        <p:txBody>
          <a:bodyPr wrap="square" lIns="0" tIns="0" rIns="0" bIns="0" rtlCol="0" anchor="ctr"/>
          <a:lstStyle/>
          <a:p>
            <a:pPr marL="0" indent="0" algn="l">
              <a:buNone/>
            </a:pPr>
            <a:r>
              <a:rPr lang="en-US" sz="850" b="1">
                <a:solidFill>
                  <a:srgbClr val="1F4E79"/>
                </a:solidFill>
                <a:latin typeface="Calibri" pitchFamily="34" charset="0"/>
                <a:ea typeface="Calibri" pitchFamily="34" charset="-122"/>
                <a:cs typeface="Calibri" pitchFamily="34" charset="-120"/>
              </a:rPr>
              <a:t>DCF</a:t>
            </a:r>
            <a:endParaRPr lang="en-US" sz="850"/>
          </a:p>
        </p:txBody>
      </p:sp>
      <p:sp>
        <p:nvSpPr>
          <p:cNvPr id="91" name="Shape 45">
            <a:extLst>
              <a:ext uri="{FF2B5EF4-FFF2-40B4-BE49-F238E27FC236}">
                <a16:creationId xmlns:a16="http://schemas.microsoft.com/office/drawing/2014/main" id="{AAAA0FD7-425F-C6E6-C9DA-5F2AA6909E7F}"/>
              </a:ext>
            </a:extLst>
          </p:cNvPr>
          <p:cNvSpPr/>
          <p:nvPr/>
        </p:nvSpPr>
        <p:spPr>
          <a:xfrm>
            <a:off x="2678335" y="5074920"/>
            <a:ext cx="2110835" cy="182880"/>
          </a:xfrm>
          <a:prstGeom prst="rect">
            <a:avLst/>
          </a:prstGeom>
          <a:solidFill>
            <a:srgbClr val="2E75B6"/>
          </a:solidFill>
          <a:ln/>
        </p:spPr>
        <p:txBody>
          <a:bodyPr/>
          <a:lstStyle/>
          <a:p>
            <a:endParaRPr lang="en-US"/>
          </a:p>
        </p:txBody>
      </p:sp>
      <p:sp>
        <p:nvSpPr>
          <p:cNvPr id="92" name="Text 46">
            <a:extLst>
              <a:ext uri="{FF2B5EF4-FFF2-40B4-BE49-F238E27FC236}">
                <a16:creationId xmlns:a16="http://schemas.microsoft.com/office/drawing/2014/main" id="{C6175EAE-DC8F-4DF8-A33B-770D85D43673}"/>
              </a:ext>
            </a:extLst>
          </p:cNvPr>
          <p:cNvSpPr/>
          <p:nvPr/>
        </p:nvSpPr>
        <p:spPr>
          <a:xfrm>
            <a:off x="2294287" y="5029200"/>
            <a:ext cx="384048" cy="27432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$137</a:t>
            </a:r>
            <a:endParaRPr lang="en-US" sz="700"/>
          </a:p>
        </p:txBody>
      </p:sp>
      <p:sp>
        <p:nvSpPr>
          <p:cNvPr id="93" name="Text 47">
            <a:extLst>
              <a:ext uri="{FF2B5EF4-FFF2-40B4-BE49-F238E27FC236}">
                <a16:creationId xmlns:a16="http://schemas.microsoft.com/office/drawing/2014/main" id="{5DBE3639-4E65-4363-6B3B-750B14949008}"/>
              </a:ext>
            </a:extLst>
          </p:cNvPr>
          <p:cNvSpPr/>
          <p:nvPr/>
        </p:nvSpPr>
        <p:spPr>
          <a:xfrm>
            <a:off x="4807458" y="5029200"/>
            <a:ext cx="384048" cy="274320"/>
          </a:xfrm>
          <a:prstGeom prst="rect">
            <a:avLst/>
          </a:prstGeom>
          <a:noFill/>
          <a:ln/>
        </p:spPr>
        <p:txBody>
          <a:bodyPr wrap="square" lIns="0" tIns="0" rIns="0" bIns="0" rtlCol="0" anchor="ctr"/>
          <a:lstStyle/>
          <a:p>
            <a:pPr marL="0" indent="0" algn="l">
              <a:buNone/>
            </a:pPr>
            <a:r>
              <a:rPr lang="en-US" sz="700">
                <a:solidFill>
                  <a:srgbClr val="595959"/>
                </a:solidFill>
                <a:latin typeface="Calibri" pitchFamily="34" charset="0"/>
                <a:ea typeface="Calibri" pitchFamily="34" charset="-122"/>
                <a:cs typeface="Calibri" pitchFamily="34" charset="-120"/>
              </a:rPr>
              <a:t>$220</a:t>
            </a:r>
            <a:endParaRPr lang="en-US" sz="700"/>
          </a:p>
        </p:txBody>
      </p:sp>
      <p:sp>
        <p:nvSpPr>
          <p:cNvPr id="94" name="Text 48">
            <a:extLst>
              <a:ext uri="{FF2B5EF4-FFF2-40B4-BE49-F238E27FC236}">
                <a16:creationId xmlns:a16="http://schemas.microsoft.com/office/drawing/2014/main" id="{7CCBD5D8-3A44-2676-5A87-C3C681C3BEBD}"/>
              </a:ext>
            </a:extLst>
          </p:cNvPr>
          <p:cNvSpPr/>
          <p:nvPr/>
        </p:nvSpPr>
        <p:spPr>
          <a:xfrm>
            <a:off x="548640" y="5349240"/>
            <a:ext cx="1143000" cy="274320"/>
          </a:xfrm>
          <a:prstGeom prst="rect">
            <a:avLst/>
          </a:prstGeom>
          <a:noFill/>
          <a:ln/>
        </p:spPr>
        <p:txBody>
          <a:bodyPr wrap="square" lIns="0" tIns="0" rIns="0" bIns="0" rtlCol="0" anchor="ctr"/>
          <a:lstStyle/>
          <a:p>
            <a:pPr marL="0" indent="0" algn="l">
              <a:buNone/>
            </a:pPr>
            <a:r>
              <a:rPr lang="en-US" sz="850" b="1">
                <a:solidFill>
                  <a:srgbClr val="1F4E79"/>
                </a:solidFill>
                <a:latin typeface="Calibri" pitchFamily="34" charset="0"/>
                <a:ea typeface="Calibri" pitchFamily="34" charset="-122"/>
                <a:cs typeface="Calibri" pitchFamily="34" charset="-120"/>
              </a:rPr>
              <a:t>LBO Aff.</a:t>
            </a:r>
            <a:endParaRPr lang="en-US" sz="850"/>
          </a:p>
        </p:txBody>
      </p:sp>
      <p:sp>
        <p:nvSpPr>
          <p:cNvPr id="95" name="Shape 49">
            <a:extLst>
              <a:ext uri="{FF2B5EF4-FFF2-40B4-BE49-F238E27FC236}">
                <a16:creationId xmlns:a16="http://schemas.microsoft.com/office/drawing/2014/main" id="{3F0CDE01-DBB9-2F3D-DA84-4F84BEC2CBEF}"/>
              </a:ext>
            </a:extLst>
          </p:cNvPr>
          <p:cNvSpPr/>
          <p:nvPr/>
        </p:nvSpPr>
        <p:spPr>
          <a:xfrm>
            <a:off x="3353039" y="5394960"/>
            <a:ext cx="711326" cy="182880"/>
          </a:xfrm>
          <a:prstGeom prst="rect">
            <a:avLst/>
          </a:prstGeom>
          <a:solidFill>
            <a:srgbClr val="2E75B6"/>
          </a:solidFill>
          <a:ln/>
        </p:spPr>
        <p:txBody>
          <a:bodyPr/>
          <a:lstStyle/>
          <a:p>
            <a:endParaRPr lang="en-US"/>
          </a:p>
        </p:txBody>
      </p:sp>
      <p:sp>
        <p:nvSpPr>
          <p:cNvPr id="96" name="Text 50">
            <a:extLst>
              <a:ext uri="{FF2B5EF4-FFF2-40B4-BE49-F238E27FC236}">
                <a16:creationId xmlns:a16="http://schemas.microsoft.com/office/drawing/2014/main" id="{32D63DF2-D1C5-FA1C-1DA5-76392120A853}"/>
              </a:ext>
            </a:extLst>
          </p:cNvPr>
          <p:cNvSpPr/>
          <p:nvPr/>
        </p:nvSpPr>
        <p:spPr>
          <a:xfrm>
            <a:off x="2968991" y="5349240"/>
            <a:ext cx="384048" cy="274320"/>
          </a:xfrm>
          <a:prstGeom prst="rect">
            <a:avLst/>
          </a:prstGeom>
          <a:noFill/>
          <a:ln/>
        </p:spPr>
        <p:txBody>
          <a:bodyPr wrap="square" lIns="0" tIns="0" rIns="0" bIns="0" rtlCol="0" anchor="ctr"/>
          <a:lstStyle/>
          <a:p>
            <a:pPr marL="0" indent="0" algn="r">
              <a:buNone/>
            </a:pPr>
            <a:r>
              <a:rPr lang="en-US" sz="700">
                <a:solidFill>
                  <a:srgbClr val="595959"/>
                </a:solidFill>
                <a:latin typeface="Calibri" pitchFamily="34" charset="0"/>
                <a:ea typeface="Calibri" pitchFamily="34" charset="-122"/>
                <a:cs typeface="Calibri" pitchFamily="34" charset="-120"/>
              </a:rPr>
              <a:t>$164</a:t>
            </a:r>
            <a:endParaRPr lang="en-US" sz="700"/>
          </a:p>
        </p:txBody>
      </p:sp>
      <p:sp>
        <p:nvSpPr>
          <p:cNvPr id="97" name="Text 51">
            <a:extLst>
              <a:ext uri="{FF2B5EF4-FFF2-40B4-BE49-F238E27FC236}">
                <a16:creationId xmlns:a16="http://schemas.microsoft.com/office/drawing/2014/main" id="{A5418AAF-EEEC-2E80-C6CE-ED052510E6FA}"/>
              </a:ext>
            </a:extLst>
          </p:cNvPr>
          <p:cNvSpPr/>
          <p:nvPr/>
        </p:nvSpPr>
        <p:spPr>
          <a:xfrm>
            <a:off x="4082653" y="5349240"/>
            <a:ext cx="384048" cy="274320"/>
          </a:xfrm>
          <a:prstGeom prst="rect">
            <a:avLst/>
          </a:prstGeom>
          <a:noFill/>
          <a:ln/>
        </p:spPr>
        <p:txBody>
          <a:bodyPr wrap="square" lIns="0" tIns="0" rIns="0" bIns="0" rtlCol="0" anchor="ctr"/>
          <a:lstStyle/>
          <a:p>
            <a:pPr marL="0" indent="0" algn="l">
              <a:buNone/>
            </a:pPr>
            <a:r>
              <a:rPr lang="en-US" sz="700">
                <a:solidFill>
                  <a:srgbClr val="595959"/>
                </a:solidFill>
                <a:latin typeface="Calibri" pitchFamily="34" charset="0"/>
                <a:ea typeface="Calibri" pitchFamily="34" charset="-122"/>
                <a:cs typeface="Calibri" pitchFamily="34" charset="-120"/>
              </a:rPr>
              <a:t>$192</a:t>
            </a:r>
            <a:endParaRPr lang="en-US" sz="700"/>
          </a:p>
        </p:txBody>
      </p:sp>
      <p:sp>
        <p:nvSpPr>
          <p:cNvPr id="98" name="Shape 52">
            <a:extLst>
              <a:ext uri="{FF2B5EF4-FFF2-40B4-BE49-F238E27FC236}">
                <a16:creationId xmlns:a16="http://schemas.microsoft.com/office/drawing/2014/main" id="{607DD57B-3597-78AD-A704-9A3F1BE13715}"/>
              </a:ext>
            </a:extLst>
          </p:cNvPr>
          <p:cNvSpPr/>
          <p:nvPr/>
        </p:nvSpPr>
        <p:spPr>
          <a:xfrm>
            <a:off x="4523880" y="4389120"/>
            <a:ext cx="22860" cy="1234440"/>
          </a:xfrm>
          <a:prstGeom prst="rect">
            <a:avLst/>
          </a:prstGeom>
          <a:solidFill>
            <a:srgbClr val="C00000"/>
          </a:solidFill>
          <a:ln/>
        </p:spPr>
        <p:txBody>
          <a:bodyPr/>
          <a:lstStyle/>
          <a:p>
            <a:endParaRPr lang="en-US"/>
          </a:p>
        </p:txBody>
      </p:sp>
      <p:sp>
        <p:nvSpPr>
          <p:cNvPr id="99" name="Text 53">
            <a:extLst>
              <a:ext uri="{FF2B5EF4-FFF2-40B4-BE49-F238E27FC236}">
                <a16:creationId xmlns:a16="http://schemas.microsoft.com/office/drawing/2014/main" id="{6E19FB79-6EA7-E6F3-B3B9-90C98B0732FF}"/>
              </a:ext>
            </a:extLst>
          </p:cNvPr>
          <p:cNvSpPr/>
          <p:nvPr/>
        </p:nvSpPr>
        <p:spPr>
          <a:xfrm>
            <a:off x="4031933" y="5806440"/>
            <a:ext cx="1005840" cy="228600"/>
          </a:xfrm>
          <a:prstGeom prst="rect">
            <a:avLst/>
          </a:prstGeom>
          <a:noFill/>
          <a:ln/>
        </p:spPr>
        <p:txBody>
          <a:bodyPr wrap="square" lIns="0" tIns="0" rIns="0" bIns="0" rtlCol="0" anchor="ctr"/>
          <a:lstStyle/>
          <a:p>
            <a:pPr marL="0" indent="0" algn="ctr">
              <a:buNone/>
            </a:pPr>
            <a:r>
              <a:rPr lang="en-US" sz="850" b="1">
                <a:solidFill>
                  <a:srgbClr val="C00000"/>
                </a:solidFill>
                <a:latin typeface="Calibri" pitchFamily="34" charset="0"/>
                <a:ea typeface="Calibri" pitchFamily="34" charset="-122"/>
                <a:cs typeface="Calibri" pitchFamily="34" charset="-120"/>
              </a:rPr>
              <a:t>$210 Offer</a:t>
            </a:r>
            <a:endParaRPr lang="en-US" sz="8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A2 — WACC Reconstruction (CAPM Build)</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A2</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457200" y="1005840"/>
            <a:ext cx="11277295" cy="411480"/>
          </a:xfrm>
          <a:prstGeom prst="rect">
            <a:avLst/>
          </a:prstGeom>
          <a:noFill/>
          <a:ln/>
        </p:spPr>
        <p:txBody>
          <a:bodyPr wrap="square" lIns="0" tIns="0" rIns="0" bIns="0" rtlCol="0" anchor="ctr"/>
          <a:lstStyle/>
          <a:p>
            <a:pPr marL="0" indent="0" algn="l">
              <a:buNone/>
            </a:pPr>
            <a:r>
              <a:rPr lang="en-US" sz="1100" i="1">
                <a:solidFill>
                  <a:srgbClr val="595959"/>
                </a:solidFill>
                <a:latin typeface="Calibri" pitchFamily="34" charset="0"/>
                <a:ea typeface="Calibri" pitchFamily="34" charset="-122"/>
                <a:cs typeface="Calibri" pitchFamily="34" charset="-120"/>
              </a:rPr>
              <a:t>Bottom-up CAPM reconstruction of Goldman Sachs' disclosed 7.5%–9.5% WACC range (DEFM14A p.43); validates the disclosed band from publicly observable inputs.</a:t>
            </a:r>
            <a:endParaRPr lang="en-US" sz="1100"/>
          </a:p>
        </p:txBody>
      </p:sp>
      <p:sp>
        <p:nvSpPr>
          <p:cNvPr id="8" name="Shape 6"/>
          <p:cNvSpPr/>
          <p:nvPr/>
        </p:nvSpPr>
        <p:spPr>
          <a:xfrm>
            <a:off x="457200" y="1554480"/>
            <a:ext cx="6858000" cy="329184"/>
          </a:xfrm>
          <a:prstGeom prst="rect">
            <a:avLst/>
          </a:prstGeom>
          <a:solidFill>
            <a:srgbClr val="1F4E79"/>
          </a:solidFill>
          <a:ln/>
        </p:spPr>
        <p:txBody>
          <a:bodyPr/>
          <a:lstStyle/>
          <a:p>
            <a:endParaRPr lang="en-US"/>
          </a:p>
        </p:txBody>
      </p:sp>
      <p:sp>
        <p:nvSpPr>
          <p:cNvPr id="9" name="Text 7"/>
          <p:cNvSpPr/>
          <p:nvPr/>
        </p:nvSpPr>
        <p:spPr>
          <a:xfrm>
            <a:off x="594360" y="1554480"/>
            <a:ext cx="3063240" cy="329184"/>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Input</a:t>
            </a:r>
            <a:endParaRPr lang="en-US" sz="1100"/>
          </a:p>
        </p:txBody>
      </p:sp>
      <p:sp>
        <p:nvSpPr>
          <p:cNvPr id="10" name="Text 8"/>
          <p:cNvSpPr/>
          <p:nvPr/>
        </p:nvSpPr>
        <p:spPr>
          <a:xfrm>
            <a:off x="3657600" y="1554480"/>
            <a:ext cx="1828800" cy="329184"/>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Low</a:t>
            </a:r>
            <a:endParaRPr lang="en-US" sz="1100"/>
          </a:p>
        </p:txBody>
      </p:sp>
      <p:sp>
        <p:nvSpPr>
          <p:cNvPr id="11" name="Text 9"/>
          <p:cNvSpPr/>
          <p:nvPr/>
        </p:nvSpPr>
        <p:spPr>
          <a:xfrm>
            <a:off x="5486400" y="1554480"/>
            <a:ext cx="1828800" cy="329184"/>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High</a:t>
            </a:r>
            <a:endParaRPr lang="en-US" sz="1100"/>
          </a:p>
        </p:txBody>
      </p:sp>
      <p:sp>
        <p:nvSpPr>
          <p:cNvPr id="12" name="Shape 10"/>
          <p:cNvSpPr/>
          <p:nvPr/>
        </p:nvSpPr>
        <p:spPr>
          <a:xfrm>
            <a:off x="457200" y="1883664"/>
            <a:ext cx="6858000" cy="329184"/>
          </a:xfrm>
          <a:prstGeom prst="rect">
            <a:avLst/>
          </a:prstGeom>
          <a:solidFill>
            <a:srgbClr val="FFFFFF"/>
          </a:solidFill>
          <a:ln w="3175">
            <a:solidFill>
              <a:srgbClr val="D9D9D9"/>
            </a:solidFill>
            <a:prstDash val="solid"/>
          </a:ln>
        </p:spPr>
        <p:txBody>
          <a:bodyPr/>
          <a:lstStyle/>
          <a:p>
            <a:endParaRPr lang="en-US"/>
          </a:p>
        </p:txBody>
      </p:sp>
      <p:sp>
        <p:nvSpPr>
          <p:cNvPr id="13" name="Text 11"/>
          <p:cNvSpPr/>
          <p:nvPr/>
        </p:nvSpPr>
        <p:spPr>
          <a:xfrm>
            <a:off x="594360" y="1883664"/>
            <a:ext cx="3063240" cy="329184"/>
          </a:xfrm>
          <a:prstGeom prst="rect">
            <a:avLst/>
          </a:prstGeom>
          <a:noFill/>
          <a:ln/>
        </p:spPr>
        <p:txBody>
          <a:bodyPr wrap="square" lIns="0" tIns="0" rIns="0" bIns="0" rtlCol="0" anchor="ctr"/>
          <a:lstStyle/>
          <a:p>
            <a:pPr marL="0" indent="0" algn="l">
              <a:buNone/>
            </a:pPr>
            <a:r>
              <a:rPr lang="en-US" sz="1050">
                <a:solidFill>
                  <a:srgbClr val="1F4E79"/>
                </a:solidFill>
                <a:latin typeface="Calibri" pitchFamily="34" charset="0"/>
                <a:ea typeface="Calibri" pitchFamily="34" charset="-122"/>
                <a:cs typeface="Calibri" pitchFamily="34" charset="-120"/>
              </a:rPr>
              <a:t>Risk-free Rate</a:t>
            </a:r>
            <a:endParaRPr lang="en-US" sz="1050"/>
          </a:p>
        </p:txBody>
      </p:sp>
      <p:sp>
        <p:nvSpPr>
          <p:cNvPr id="14" name="Text 12"/>
          <p:cNvSpPr/>
          <p:nvPr/>
        </p:nvSpPr>
        <p:spPr>
          <a:xfrm>
            <a:off x="3657600" y="1883664"/>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4.2%</a:t>
            </a:r>
            <a:endParaRPr lang="en-US" sz="1050"/>
          </a:p>
        </p:txBody>
      </p:sp>
      <p:sp>
        <p:nvSpPr>
          <p:cNvPr id="15" name="Text 13"/>
          <p:cNvSpPr/>
          <p:nvPr/>
        </p:nvSpPr>
        <p:spPr>
          <a:xfrm>
            <a:off x="5486400" y="1883664"/>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4.2%</a:t>
            </a:r>
            <a:endParaRPr lang="en-US" sz="1050"/>
          </a:p>
        </p:txBody>
      </p:sp>
      <p:sp>
        <p:nvSpPr>
          <p:cNvPr id="16" name="Shape 14"/>
          <p:cNvSpPr/>
          <p:nvPr/>
        </p:nvSpPr>
        <p:spPr>
          <a:xfrm>
            <a:off x="457200" y="2212848"/>
            <a:ext cx="6858000" cy="329184"/>
          </a:xfrm>
          <a:prstGeom prst="rect">
            <a:avLst/>
          </a:prstGeom>
          <a:solidFill>
            <a:srgbClr val="F2F2F2"/>
          </a:solidFill>
          <a:ln w="3175">
            <a:solidFill>
              <a:srgbClr val="D9D9D9"/>
            </a:solidFill>
            <a:prstDash val="solid"/>
          </a:ln>
        </p:spPr>
        <p:txBody>
          <a:bodyPr/>
          <a:lstStyle/>
          <a:p>
            <a:endParaRPr lang="en-US"/>
          </a:p>
        </p:txBody>
      </p:sp>
      <p:sp>
        <p:nvSpPr>
          <p:cNvPr id="17" name="Text 15"/>
          <p:cNvSpPr/>
          <p:nvPr/>
        </p:nvSpPr>
        <p:spPr>
          <a:xfrm>
            <a:off x="594360" y="2212848"/>
            <a:ext cx="3063240" cy="329184"/>
          </a:xfrm>
          <a:prstGeom prst="rect">
            <a:avLst/>
          </a:prstGeom>
          <a:noFill/>
          <a:ln/>
        </p:spPr>
        <p:txBody>
          <a:bodyPr wrap="square" lIns="0" tIns="0" rIns="0" bIns="0" rtlCol="0" anchor="ctr"/>
          <a:lstStyle/>
          <a:p>
            <a:pPr marL="0" indent="0" algn="l">
              <a:buNone/>
            </a:pPr>
            <a:r>
              <a:rPr lang="en-US" sz="1050">
                <a:solidFill>
                  <a:srgbClr val="1F4E79"/>
                </a:solidFill>
                <a:latin typeface="Calibri" pitchFamily="34" charset="0"/>
                <a:ea typeface="Calibri" pitchFamily="34" charset="-122"/>
                <a:cs typeface="Calibri" pitchFamily="34" charset="-120"/>
              </a:rPr>
              <a:t>Equity Risk Premium</a:t>
            </a:r>
            <a:endParaRPr lang="en-US" sz="1050"/>
          </a:p>
        </p:txBody>
      </p:sp>
      <p:sp>
        <p:nvSpPr>
          <p:cNvPr id="18" name="Text 16"/>
          <p:cNvSpPr/>
          <p:nvPr/>
        </p:nvSpPr>
        <p:spPr>
          <a:xfrm>
            <a:off x="3657600" y="2212848"/>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5.0%</a:t>
            </a:r>
            <a:endParaRPr lang="en-US" sz="1050"/>
          </a:p>
        </p:txBody>
      </p:sp>
      <p:sp>
        <p:nvSpPr>
          <p:cNvPr id="19" name="Text 17"/>
          <p:cNvSpPr/>
          <p:nvPr/>
        </p:nvSpPr>
        <p:spPr>
          <a:xfrm>
            <a:off x="5486400" y="2212848"/>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6.0%</a:t>
            </a:r>
            <a:endParaRPr lang="en-US" sz="1050"/>
          </a:p>
        </p:txBody>
      </p:sp>
      <p:sp>
        <p:nvSpPr>
          <p:cNvPr id="20" name="Shape 18"/>
          <p:cNvSpPr/>
          <p:nvPr/>
        </p:nvSpPr>
        <p:spPr>
          <a:xfrm>
            <a:off x="457200" y="2542032"/>
            <a:ext cx="6858000" cy="329184"/>
          </a:xfrm>
          <a:prstGeom prst="rect">
            <a:avLst/>
          </a:prstGeom>
          <a:solidFill>
            <a:srgbClr val="FFFFFF"/>
          </a:solidFill>
          <a:ln w="3175">
            <a:solidFill>
              <a:srgbClr val="D9D9D9"/>
            </a:solidFill>
            <a:prstDash val="solid"/>
          </a:ln>
        </p:spPr>
        <p:txBody>
          <a:bodyPr/>
          <a:lstStyle/>
          <a:p>
            <a:endParaRPr lang="en-US"/>
          </a:p>
        </p:txBody>
      </p:sp>
      <p:sp>
        <p:nvSpPr>
          <p:cNvPr id="21" name="Text 19"/>
          <p:cNvSpPr/>
          <p:nvPr/>
        </p:nvSpPr>
        <p:spPr>
          <a:xfrm>
            <a:off x="594360" y="2542032"/>
            <a:ext cx="3063240" cy="329184"/>
          </a:xfrm>
          <a:prstGeom prst="rect">
            <a:avLst/>
          </a:prstGeom>
          <a:noFill/>
          <a:ln/>
        </p:spPr>
        <p:txBody>
          <a:bodyPr wrap="square" lIns="0" tIns="0" rIns="0" bIns="0" rtlCol="0" anchor="ctr"/>
          <a:lstStyle/>
          <a:p>
            <a:pPr marL="0" indent="0" algn="l">
              <a:buNone/>
            </a:pPr>
            <a:r>
              <a:rPr lang="en-US" sz="1050">
                <a:solidFill>
                  <a:srgbClr val="1F4E79"/>
                </a:solidFill>
                <a:latin typeface="Calibri" pitchFamily="34" charset="0"/>
                <a:ea typeface="Calibri" pitchFamily="34" charset="-122"/>
                <a:cs typeface="Calibri" pitchFamily="34" charset="-120"/>
              </a:rPr>
              <a:t>Levered Beta</a:t>
            </a:r>
            <a:endParaRPr lang="en-US" sz="1050"/>
          </a:p>
        </p:txBody>
      </p:sp>
      <p:sp>
        <p:nvSpPr>
          <p:cNvPr id="22" name="Text 20"/>
          <p:cNvSpPr/>
          <p:nvPr/>
        </p:nvSpPr>
        <p:spPr>
          <a:xfrm>
            <a:off x="3657600" y="2542032"/>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0.85</a:t>
            </a:r>
            <a:endParaRPr lang="en-US" sz="1050"/>
          </a:p>
        </p:txBody>
      </p:sp>
      <p:sp>
        <p:nvSpPr>
          <p:cNvPr id="23" name="Text 21"/>
          <p:cNvSpPr/>
          <p:nvPr/>
        </p:nvSpPr>
        <p:spPr>
          <a:xfrm>
            <a:off x="5486400" y="2542032"/>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1.05</a:t>
            </a:r>
            <a:endParaRPr lang="en-US" sz="1050"/>
          </a:p>
        </p:txBody>
      </p:sp>
      <p:sp>
        <p:nvSpPr>
          <p:cNvPr id="24" name="Shape 22"/>
          <p:cNvSpPr/>
          <p:nvPr/>
        </p:nvSpPr>
        <p:spPr>
          <a:xfrm>
            <a:off x="457200" y="2871216"/>
            <a:ext cx="6858000" cy="329184"/>
          </a:xfrm>
          <a:prstGeom prst="rect">
            <a:avLst/>
          </a:prstGeom>
          <a:solidFill>
            <a:srgbClr val="F2F2F2"/>
          </a:solidFill>
          <a:ln w="3175">
            <a:solidFill>
              <a:srgbClr val="D9D9D9"/>
            </a:solidFill>
            <a:prstDash val="solid"/>
          </a:ln>
        </p:spPr>
        <p:txBody>
          <a:bodyPr/>
          <a:lstStyle/>
          <a:p>
            <a:endParaRPr lang="en-US"/>
          </a:p>
        </p:txBody>
      </p:sp>
      <p:sp>
        <p:nvSpPr>
          <p:cNvPr id="25" name="Text 23"/>
          <p:cNvSpPr/>
          <p:nvPr/>
        </p:nvSpPr>
        <p:spPr>
          <a:xfrm>
            <a:off x="594360" y="2871216"/>
            <a:ext cx="3063240" cy="329184"/>
          </a:xfrm>
          <a:prstGeom prst="rect">
            <a:avLst/>
          </a:prstGeom>
          <a:noFill/>
          <a:ln/>
        </p:spPr>
        <p:txBody>
          <a:bodyPr wrap="square" lIns="0" tIns="0" rIns="0" bIns="0" rtlCol="0" anchor="ctr"/>
          <a:lstStyle/>
          <a:p>
            <a:pPr marL="0" indent="0" algn="l">
              <a:buNone/>
            </a:pPr>
            <a:r>
              <a:rPr lang="en-US" sz="1050" b="1">
                <a:solidFill>
                  <a:srgbClr val="1F4E79"/>
                </a:solidFill>
                <a:latin typeface="Calibri" pitchFamily="34" charset="0"/>
                <a:ea typeface="Calibri" pitchFamily="34" charset="-122"/>
                <a:cs typeface="Calibri" pitchFamily="34" charset="-120"/>
              </a:rPr>
              <a:t>Cost of Equity (CAPM)</a:t>
            </a:r>
            <a:endParaRPr lang="en-US" sz="1050"/>
          </a:p>
        </p:txBody>
      </p:sp>
      <p:sp>
        <p:nvSpPr>
          <p:cNvPr id="26" name="Text 24"/>
          <p:cNvSpPr/>
          <p:nvPr/>
        </p:nvSpPr>
        <p:spPr>
          <a:xfrm>
            <a:off x="3657600" y="2871216"/>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8.45%</a:t>
            </a:r>
            <a:endParaRPr lang="en-US" sz="1050"/>
          </a:p>
        </p:txBody>
      </p:sp>
      <p:sp>
        <p:nvSpPr>
          <p:cNvPr id="27" name="Text 25"/>
          <p:cNvSpPr/>
          <p:nvPr/>
        </p:nvSpPr>
        <p:spPr>
          <a:xfrm>
            <a:off x="5486400" y="2871216"/>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10.50%</a:t>
            </a:r>
            <a:endParaRPr lang="en-US" sz="1050"/>
          </a:p>
        </p:txBody>
      </p:sp>
      <p:sp>
        <p:nvSpPr>
          <p:cNvPr id="28" name="Shape 26"/>
          <p:cNvSpPr/>
          <p:nvPr/>
        </p:nvSpPr>
        <p:spPr>
          <a:xfrm>
            <a:off x="457200" y="3200400"/>
            <a:ext cx="6858000" cy="329184"/>
          </a:xfrm>
          <a:prstGeom prst="rect">
            <a:avLst/>
          </a:prstGeom>
          <a:solidFill>
            <a:srgbClr val="FFFFFF"/>
          </a:solidFill>
          <a:ln w="3175">
            <a:solidFill>
              <a:srgbClr val="D9D9D9"/>
            </a:solidFill>
            <a:prstDash val="solid"/>
          </a:ln>
        </p:spPr>
        <p:txBody>
          <a:bodyPr/>
          <a:lstStyle/>
          <a:p>
            <a:endParaRPr lang="en-US"/>
          </a:p>
        </p:txBody>
      </p:sp>
      <p:sp>
        <p:nvSpPr>
          <p:cNvPr id="29" name="Text 27"/>
          <p:cNvSpPr/>
          <p:nvPr/>
        </p:nvSpPr>
        <p:spPr>
          <a:xfrm>
            <a:off x="594360" y="3200400"/>
            <a:ext cx="3063240" cy="329184"/>
          </a:xfrm>
          <a:prstGeom prst="rect">
            <a:avLst/>
          </a:prstGeom>
          <a:noFill/>
          <a:ln/>
        </p:spPr>
        <p:txBody>
          <a:bodyPr wrap="square" lIns="0" tIns="0" rIns="0" bIns="0" rtlCol="0" anchor="ctr"/>
          <a:lstStyle/>
          <a:p>
            <a:pPr marL="0" indent="0" algn="l">
              <a:buNone/>
            </a:pPr>
            <a:r>
              <a:rPr lang="en-US" sz="1050">
                <a:solidFill>
                  <a:srgbClr val="1F4E79"/>
                </a:solidFill>
                <a:latin typeface="Calibri" pitchFamily="34" charset="0"/>
                <a:ea typeface="Calibri" pitchFamily="34" charset="-122"/>
                <a:cs typeface="Calibri" pitchFamily="34" charset="-120"/>
              </a:rPr>
              <a:t>Pre-tax Cost of Debt</a:t>
            </a:r>
            <a:endParaRPr lang="en-US" sz="1050"/>
          </a:p>
        </p:txBody>
      </p:sp>
      <p:sp>
        <p:nvSpPr>
          <p:cNvPr id="30" name="Text 28"/>
          <p:cNvSpPr/>
          <p:nvPr/>
        </p:nvSpPr>
        <p:spPr>
          <a:xfrm>
            <a:off x="3657600" y="3200400"/>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5.5%</a:t>
            </a:r>
            <a:endParaRPr lang="en-US" sz="1050"/>
          </a:p>
        </p:txBody>
      </p:sp>
      <p:sp>
        <p:nvSpPr>
          <p:cNvPr id="31" name="Text 29"/>
          <p:cNvSpPr/>
          <p:nvPr/>
        </p:nvSpPr>
        <p:spPr>
          <a:xfrm>
            <a:off x="5486400" y="3200400"/>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6.5%</a:t>
            </a:r>
            <a:endParaRPr lang="en-US" sz="1050"/>
          </a:p>
        </p:txBody>
      </p:sp>
      <p:sp>
        <p:nvSpPr>
          <p:cNvPr id="32" name="Shape 30"/>
          <p:cNvSpPr/>
          <p:nvPr/>
        </p:nvSpPr>
        <p:spPr>
          <a:xfrm>
            <a:off x="457200" y="3529584"/>
            <a:ext cx="6858000" cy="329184"/>
          </a:xfrm>
          <a:prstGeom prst="rect">
            <a:avLst/>
          </a:prstGeom>
          <a:solidFill>
            <a:srgbClr val="F2F2F2"/>
          </a:solidFill>
          <a:ln w="3175">
            <a:solidFill>
              <a:srgbClr val="D9D9D9"/>
            </a:solidFill>
            <a:prstDash val="solid"/>
          </a:ln>
        </p:spPr>
        <p:txBody>
          <a:bodyPr/>
          <a:lstStyle/>
          <a:p>
            <a:endParaRPr lang="en-US"/>
          </a:p>
        </p:txBody>
      </p:sp>
      <p:sp>
        <p:nvSpPr>
          <p:cNvPr id="33" name="Text 31"/>
          <p:cNvSpPr/>
          <p:nvPr/>
        </p:nvSpPr>
        <p:spPr>
          <a:xfrm>
            <a:off x="594360" y="3529584"/>
            <a:ext cx="3063240" cy="329184"/>
          </a:xfrm>
          <a:prstGeom prst="rect">
            <a:avLst/>
          </a:prstGeom>
          <a:noFill/>
          <a:ln/>
        </p:spPr>
        <p:txBody>
          <a:bodyPr wrap="square" lIns="0" tIns="0" rIns="0" bIns="0" rtlCol="0" anchor="ctr"/>
          <a:lstStyle/>
          <a:p>
            <a:pPr marL="0" indent="0" algn="l">
              <a:buNone/>
            </a:pPr>
            <a:r>
              <a:rPr lang="en-US" sz="1050" b="1">
                <a:solidFill>
                  <a:srgbClr val="1F4E79"/>
                </a:solidFill>
                <a:latin typeface="Calibri" pitchFamily="34" charset="0"/>
                <a:ea typeface="Calibri" pitchFamily="34" charset="-122"/>
                <a:cs typeface="Calibri" pitchFamily="34" charset="-120"/>
              </a:rPr>
              <a:t>After-tax Cost of Debt</a:t>
            </a:r>
            <a:endParaRPr lang="en-US" sz="1050"/>
          </a:p>
        </p:txBody>
      </p:sp>
      <p:sp>
        <p:nvSpPr>
          <p:cNvPr id="34" name="Text 32"/>
          <p:cNvSpPr/>
          <p:nvPr/>
        </p:nvSpPr>
        <p:spPr>
          <a:xfrm>
            <a:off x="3657600" y="3529584"/>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4.345%</a:t>
            </a:r>
            <a:endParaRPr lang="en-US" sz="1050"/>
          </a:p>
        </p:txBody>
      </p:sp>
      <p:sp>
        <p:nvSpPr>
          <p:cNvPr id="35" name="Text 33"/>
          <p:cNvSpPr/>
          <p:nvPr/>
        </p:nvSpPr>
        <p:spPr>
          <a:xfrm>
            <a:off x="5486400" y="3529584"/>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5.135%</a:t>
            </a:r>
            <a:endParaRPr lang="en-US" sz="1050"/>
          </a:p>
        </p:txBody>
      </p:sp>
      <p:sp>
        <p:nvSpPr>
          <p:cNvPr id="36" name="Shape 34"/>
          <p:cNvSpPr/>
          <p:nvPr/>
        </p:nvSpPr>
        <p:spPr>
          <a:xfrm>
            <a:off x="457200" y="3858768"/>
            <a:ext cx="6858000" cy="329184"/>
          </a:xfrm>
          <a:prstGeom prst="rect">
            <a:avLst/>
          </a:prstGeom>
          <a:solidFill>
            <a:srgbClr val="FFFFFF"/>
          </a:solidFill>
          <a:ln w="3175">
            <a:solidFill>
              <a:srgbClr val="D9D9D9"/>
            </a:solidFill>
            <a:prstDash val="solid"/>
          </a:ln>
        </p:spPr>
        <p:txBody>
          <a:bodyPr/>
          <a:lstStyle/>
          <a:p>
            <a:endParaRPr lang="en-US"/>
          </a:p>
        </p:txBody>
      </p:sp>
      <p:sp>
        <p:nvSpPr>
          <p:cNvPr id="37" name="Text 35"/>
          <p:cNvSpPr/>
          <p:nvPr/>
        </p:nvSpPr>
        <p:spPr>
          <a:xfrm>
            <a:off x="594360" y="3858768"/>
            <a:ext cx="3063240" cy="329184"/>
          </a:xfrm>
          <a:prstGeom prst="rect">
            <a:avLst/>
          </a:prstGeom>
          <a:noFill/>
          <a:ln/>
        </p:spPr>
        <p:txBody>
          <a:bodyPr wrap="square" lIns="0" tIns="0" rIns="0" bIns="0" rtlCol="0" anchor="ctr"/>
          <a:lstStyle/>
          <a:p>
            <a:pPr marL="0" indent="0" algn="l">
              <a:buNone/>
            </a:pPr>
            <a:r>
              <a:rPr lang="en-US" sz="1050">
                <a:solidFill>
                  <a:srgbClr val="1F4E79"/>
                </a:solidFill>
                <a:latin typeface="Calibri" pitchFamily="34" charset="0"/>
                <a:ea typeface="Calibri" pitchFamily="34" charset="-122"/>
                <a:cs typeface="Calibri" pitchFamily="34" charset="-120"/>
              </a:rPr>
              <a:t>Equity Weight</a:t>
            </a:r>
            <a:endParaRPr lang="en-US" sz="1050"/>
          </a:p>
        </p:txBody>
      </p:sp>
      <p:sp>
        <p:nvSpPr>
          <p:cNvPr id="38" name="Text 36"/>
          <p:cNvSpPr/>
          <p:nvPr/>
        </p:nvSpPr>
        <p:spPr>
          <a:xfrm>
            <a:off x="3657600" y="3858768"/>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95%</a:t>
            </a:r>
            <a:endParaRPr lang="en-US" sz="1050"/>
          </a:p>
        </p:txBody>
      </p:sp>
      <p:sp>
        <p:nvSpPr>
          <p:cNvPr id="39" name="Text 37"/>
          <p:cNvSpPr/>
          <p:nvPr/>
        </p:nvSpPr>
        <p:spPr>
          <a:xfrm>
            <a:off x="5486400" y="3858768"/>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90%</a:t>
            </a:r>
            <a:endParaRPr lang="en-US" sz="1050"/>
          </a:p>
        </p:txBody>
      </p:sp>
      <p:sp>
        <p:nvSpPr>
          <p:cNvPr id="40" name="Shape 38"/>
          <p:cNvSpPr/>
          <p:nvPr/>
        </p:nvSpPr>
        <p:spPr>
          <a:xfrm>
            <a:off x="457200" y="4187952"/>
            <a:ext cx="6858000" cy="329184"/>
          </a:xfrm>
          <a:prstGeom prst="rect">
            <a:avLst/>
          </a:prstGeom>
          <a:solidFill>
            <a:srgbClr val="F2F2F2"/>
          </a:solidFill>
          <a:ln w="3175">
            <a:solidFill>
              <a:srgbClr val="D9D9D9"/>
            </a:solidFill>
            <a:prstDash val="solid"/>
          </a:ln>
        </p:spPr>
        <p:txBody>
          <a:bodyPr/>
          <a:lstStyle/>
          <a:p>
            <a:endParaRPr lang="en-US"/>
          </a:p>
        </p:txBody>
      </p:sp>
      <p:sp>
        <p:nvSpPr>
          <p:cNvPr id="41" name="Text 39"/>
          <p:cNvSpPr/>
          <p:nvPr/>
        </p:nvSpPr>
        <p:spPr>
          <a:xfrm>
            <a:off x="594360" y="4187952"/>
            <a:ext cx="3063240" cy="329184"/>
          </a:xfrm>
          <a:prstGeom prst="rect">
            <a:avLst/>
          </a:prstGeom>
          <a:noFill/>
          <a:ln/>
        </p:spPr>
        <p:txBody>
          <a:bodyPr wrap="square" lIns="0" tIns="0" rIns="0" bIns="0" rtlCol="0" anchor="ctr"/>
          <a:lstStyle/>
          <a:p>
            <a:pPr marL="0" indent="0" algn="l">
              <a:buNone/>
            </a:pPr>
            <a:r>
              <a:rPr lang="en-US" sz="1050">
                <a:solidFill>
                  <a:srgbClr val="1F4E79"/>
                </a:solidFill>
                <a:latin typeface="Calibri" pitchFamily="34" charset="0"/>
                <a:ea typeface="Calibri" pitchFamily="34" charset="-122"/>
                <a:cs typeface="Calibri" pitchFamily="34" charset="-120"/>
              </a:rPr>
              <a:t>Debt Weight</a:t>
            </a:r>
            <a:endParaRPr lang="en-US" sz="1050"/>
          </a:p>
        </p:txBody>
      </p:sp>
      <p:sp>
        <p:nvSpPr>
          <p:cNvPr id="42" name="Text 40"/>
          <p:cNvSpPr/>
          <p:nvPr/>
        </p:nvSpPr>
        <p:spPr>
          <a:xfrm>
            <a:off x="3657600" y="4187952"/>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5%</a:t>
            </a:r>
            <a:endParaRPr lang="en-US" sz="1050"/>
          </a:p>
        </p:txBody>
      </p:sp>
      <p:sp>
        <p:nvSpPr>
          <p:cNvPr id="43" name="Text 41"/>
          <p:cNvSpPr/>
          <p:nvPr/>
        </p:nvSpPr>
        <p:spPr>
          <a:xfrm>
            <a:off x="5486400" y="4187952"/>
            <a:ext cx="1828800" cy="329184"/>
          </a:xfrm>
          <a:prstGeom prst="rect">
            <a:avLst/>
          </a:prstGeom>
          <a:noFill/>
          <a:ln/>
        </p:spPr>
        <p:txBody>
          <a:bodyPr wrap="square" lIns="0" tIns="0" rIns="0" bIns="0" rtlCol="0" anchor="ctr"/>
          <a:lstStyle/>
          <a:p>
            <a:pPr marL="0" indent="0" algn="ctr">
              <a:buNone/>
            </a:pPr>
            <a:r>
              <a:rPr lang="en-US" sz="1050">
                <a:solidFill>
                  <a:srgbClr val="1F4E79"/>
                </a:solidFill>
                <a:latin typeface="Calibri" pitchFamily="34" charset="0"/>
                <a:ea typeface="Calibri" pitchFamily="34" charset="-122"/>
                <a:cs typeface="Calibri" pitchFamily="34" charset="-120"/>
              </a:rPr>
              <a:t>10%</a:t>
            </a:r>
            <a:endParaRPr lang="en-US" sz="1050"/>
          </a:p>
        </p:txBody>
      </p:sp>
      <p:sp>
        <p:nvSpPr>
          <p:cNvPr id="44" name="Shape 42"/>
          <p:cNvSpPr/>
          <p:nvPr/>
        </p:nvSpPr>
        <p:spPr>
          <a:xfrm>
            <a:off x="457200" y="4517136"/>
            <a:ext cx="6858000" cy="329184"/>
          </a:xfrm>
          <a:prstGeom prst="rect">
            <a:avLst/>
          </a:prstGeom>
          <a:solidFill>
            <a:srgbClr val="D6E4F0"/>
          </a:solidFill>
          <a:ln w="3175">
            <a:solidFill>
              <a:srgbClr val="D9D9D9"/>
            </a:solidFill>
            <a:prstDash val="solid"/>
          </a:ln>
        </p:spPr>
        <p:txBody>
          <a:bodyPr/>
          <a:lstStyle/>
          <a:p>
            <a:endParaRPr lang="en-US"/>
          </a:p>
        </p:txBody>
      </p:sp>
      <p:sp>
        <p:nvSpPr>
          <p:cNvPr id="45" name="Text 43"/>
          <p:cNvSpPr/>
          <p:nvPr/>
        </p:nvSpPr>
        <p:spPr>
          <a:xfrm>
            <a:off x="594360" y="4517136"/>
            <a:ext cx="3063240" cy="329184"/>
          </a:xfrm>
          <a:prstGeom prst="rect">
            <a:avLst/>
          </a:prstGeom>
          <a:noFill/>
          <a:ln/>
        </p:spPr>
        <p:txBody>
          <a:bodyPr wrap="square" lIns="0" tIns="0" rIns="0" bIns="0" rtlCol="0" anchor="ctr"/>
          <a:lstStyle/>
          <a:p>
            <a:pPr marL="0" indent="0" algn="l">
              <a:buNone/>
            </a:pPr>
            <a:r>
              <a:rPr lang="en-US" sz="1050" b="1">
                <a:solidFill>
                  <a:srgbClr val="1F4E79"/>
                </a:solidFill>
                <a:latin typeface="Calibri" pitchFamily="34" charset="0"/>
                <a:ea typeface="Calibri" pitchFamily="34" charset="-122"/>
                <a:cs typeface="Calibri" pitchFamily="34" charset="-120"/>
              </a:rPr>
              <a:t>Reconstructed WACC</a:t>
            </a:r>
            <a:endParaRPr lang="en-US" sz="1050"/>
          </a:p>
        </p:txBody>
      </p:sp>
      <p:sp>
        <p:nvSpPr>
          <p:cNvPr id="46" name="Text 44"/>
          <p:cNvSpPr/>
          <p:nvPr/>
        </p:nvSpPr>
        <p:spPr>
          <a:xfrm>
            <a:off x="3657600" y="4517136"/>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8.245%</a:t>
            </a:r>
            <a:endParaRPr lang="en-US" sz="1050"/>
          </a:p>
        </p:txBody>
      </p:sp>
      <p:sp>
        <p:nvSpPr>
          <p:cNvPr id="47" name="Text 45"/>
          <p:cNvSpPr/>
          <p:nvPr/>
        </p:nvSpPr>
        <p:spPr>
          <a:xfrm>
            <a:off x="5486400" y="4517136"/>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9.964%</a:t>
            </a:r>
            <a:endParaRPr lang="en-US" sz="1050"/>
          </a:p>
        </p:txBody>
      </p:sp>
      <p:sp>
        <p:nvSpPr>
          <p:cNvPr id="48" name="Shape 46"/>
          <p:cNvSpPr/>
          <p:nvPr/>
        </p:nvSpPr>
        <p:spPr>
          <a:xfrm>
            <a:off x="457200" y="4846320"/>
            <a:ext cx="6858000" cy="329184"/>
          </a:xfrm>
          <a:prstGeom prst="rect">
            <a:avLst/>
          </a:prstGeom>
          <a:solidFill>
            <a:srgbClr val="EAF2F9"/>
          </a:solidFill>
          <a:ln w="3175">
            <a:solidFill>
              <a:srgbClr val="D9D9D9"/>
            </a:solidFill>
            <a:prstDash val="solid"/>
          </a:ln>
        </p:spPr>
        <p:txBody>
          <a:bodyPr/>
          <a:lstStyle/>
          <a:p>
            <a:endParaRPr lang="en-US"/>
          </a:p>
        </p:txBody>
      </p:sp>
      <p:sp>
        <p:nvSpPr>
          <p:cNvPr id="49" name="Text 47"/>
          <p:cNvSpPr/>
          <p:nvPr/>
        </p:nvSpPr>
        <p:spPr>
          <a:xfrm>
            <a:off x="594360" y="4846320"/>
            <a:ext cx="3063240" cy="329184"/>
          </a:xfrm>
          <a:prstGeom prst="rect">
            <a:avLst/>
          </a:prstGeom>
          <a:noFill/>
          <a:ln/>
        </p:spPr>
        <p:txBody>
          <a:bodyPr wrap="square" lIns="0" tIns="0" rIns="0" bIns="0" rtlCol="0" anchor="ctr"/>
          <a:lstStyle/>
          <a:p>
            <a:pPr marL="0" indent="0" algn="l">
              <a:buNone/>
            </a:pPr>
            <a:r>
              <a:rPr lang="en-US" sz="1050" b="1">
                <a:solidFill>
                  <a:srgbClr val="1F4E79"/>
                </a:solidFill>
                <a:latin typeface="Calibri" pitchFamily="34" charset="0"/>
                <a:ea typeface="Calibri" pitchFamily="34" charset="-122"/>
                <a:cs typeface="Calibri" pitchFamily="34" charset="-120"/>
              </a:rPr>
              <a:t>Goldman Disclosed</a:t>
            </a:r>
            <a:endParaRPr lang="en-US" sz="1050"/>
          </a:p>
        </p:txBody>
      </p:sp>
      <p:sp>
        <p:nvSpPr>
          <p:cNvPr id="50" name="Text 48"/>
          <p:cNvSpPr/>
          <p:nvPr/>
        </p:nvSpPr>
        <p:spPr>
          <a:xfrm>
            <a:off x="3657600" y="4846320"/>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7.5%</a:t>
            </a:r>
            <a:endParaRPr lang="en-US" sz="1050"/>
          </a:p>
        </p:txBody>
      </p:sp>
      <p:sp>
        <p:nvSpPr>
          <p:cNvPr id="51" name="Text 49"/>
          <p:cNvSpPr/>
          <p:nvPr/>
        </p:nvSpPr>
        <p:spPr>
          <a:xfrm>
            <a:off x="5486400" y="4846320"/>
            <a:ext cx="1828800" cy="329184"/>
          </a:xfrm>
          <a:prstGeom prst="rect">
            <a:avLst/>
          </a:prstGeom>
          <a:noFill/>
          <a:ln/>
        </p:spPr>
        <p:txBody>
          <a:bodyPr wrap="square" lIns="0" tIns="0" rIns="0" bIns="0" rtlCol="0" anchor="ctr"/>
          <a:lstStyle/>
          <a:p>
            <a:pPr marL="0" indent="0" algn="ctr">
              <a:buNone/>
            </a:pPr>
            <a:r>
              <a:rPr lang="en-US" sz="1050" b="1">
                <a:solidFill>
                  <a:srgbClr val="1F4E79"/>
                </a:solidFill>
                <a:latin typeface="Calibri" pitchFamily="34" charset="0"/>
                <a:ea typeface="Calibri" pitchFamily="34" charset="-122"/>
                <a:cs typeface="Calibri" pitchFamily="34" charset="-120"/>
              </a:rPr>
              <a:t>9.5%</a:t>
            </a:r>
            <a:endParaRPr lang="en-US" sz="1050"/>
          </a:p>
        </p:txBody>
      </p:sp>
      <p:sp>
        <p:nvSpPr>
          <p:cNvPr id="52" name="Text 50"/>
          <p:cNvSpPr/>
          <p:nvPr/>
        </p:nvSpPr>
        <p:spPr>
          <a:xfrm>
            <a:off x="457200" y="5458968"/>
            <a:ext cx="6858000" cy="457200"/>
          </a:xfrm>
          <a:prstGeom prst="rect">
            <a:avLst/>
          </a:prstGeom>
          <a:noFill/>
          <a:ln/>
        </p:spPr>
        <p:txBody>
          <a:bodyPr wrap="square" lIns="0" tIns="0" rIns="0" bIns="0" rtlCol="0" anchor="t"/>
          <a:lstStyle/>
          <a:p>
            <a:pPr marL="0" indent="0" algn="l">
              <a:buNone/>
            </a:pPr>
            <a:r>
              <a:rPr lang="en-US" sz="800" i="1">
                <a:solidFill>
                  <a:srgbClr val="595959"/>
                </a:solidFill>
                <a:latin typeface="Calibri" pitchFamily="34" charset="0"/>
                <a:ea typeface="Calibri" pitchFamily="34" charset="-122"/>
                <a:cs typeface="Calibri" pitchFamily="34" charset="-120"/>
              </a:rPr>
              <a:t>Sources: 10-Yr UST yield as of 6/30/2025 valuation date • Damodaran 2024 implied ERP • Bloomberg historical levered beta + gaming peer set • EA Senior Notes weighted YTM • U.S. federal corporate tax rate • EA pre-deal capital structure (~$1.9B funded debt vs. ~$42B unaffected equity).</a:t>
            </a:r>
            <a:endParaRPr lang="en-US" sz="800"/>
          </a:p>
        </p:txBody>
      </p:sp>
      <p:sp>
        <p:nvSpPr>
          <p:cNvPr id="53" name="Text 51"/>
          <p:cNvSpPr/>
          <p:nvPr/>
        </p:nvSpPr>
        <p:spPr>
          <a:xfrm>
            <a:off x="7589520" y="1554480"/>
            <a:ext cx="4251960" cy="365760"/>
          </a:xfrm>
          <a:prstGeom prst="rect">
            <a:avLst/>
          </a:prstGeom>
          <a:noFill/>
          <a:ln/>
        </p:spPr>
        <p:txBody>
          <a:bodyPr wrap="square" lIns="0" tIns="0" rIns="0" bIns="0" rtlCol="0" anchor="ctr"/>
          <a:lstStyle/>
          <a:p>
            <a:pPr marL="0" indent="0" algn="l">
              <a:buNone/>
            </a:pPr>
            <a:r>
              <a:rPr lang="en-US" sz="1600" b="1" i="1">
                <a:solidFill>
                  <a:srgbClr val="1F4E79"/>
                </a:solidFill>
                <a:latin typeface="Calibri" pitchFamily="34" charset="0"/>
                <a:ea typeface="Calibri" pitchFamily="34" charset="-122"/>
                <a:cs typeface="Calibri" pitchFamily="34" charset="-120"/>
              </a:rPr>
              <a:t>Conclusion</a:t>
            </a:r>
            <a:endParaRPr lang="en-US" sz="1600"/>
          </a:p>
        </p:txBody>
      </p:sp>
      <p:sp>
        <p:nvSpPr>
          <p:cNvPr id="54" name="Shape 52"/>
          <p:cNvSpPr/>
          <p:nvPr/>
        </p:nvSpPr>
        <p:spPr>
          <a:xfrm>
            <a:off x="7589520" y="1920240"/>
            <a:ext cx="1280160" cy="45720"/>
          </a:xfrm>
          <a:prstGeom prst="rect">
            <a:avLst/>
          </a:prstGeom>
          <a:solidFill>
            <a:srgbClr val="2E75B6"/>
          </a:solidFill>
          <a:ln/>
        </p:spPr>
        <p:txBody>
          <a:bodyPr/>
          <a:lstStyle/>
          <a:p>
            <a:endParaRPr lang="en-US"/>
          </a:p>
        </p:txBody>
      </p:sp>
      <p:sp>
        <p:nvSpPr>
          <p:cNvPr id="55" name="Shape 53"/>
          <p:cNvSpPr/>
          <p:nvPr/>
        </p:nvSpPr>
        <p:spPr>
          <a:xfrm>
            <a:off x="7589520" y="2103120"/>
            <a:ext cx="4251960" cy="1097280"/>
          </a:xfrm>
          <a:prstGeom prst="rect">
            <a:avLst/>
          </a:prstGeom>
          <a:solidFill>
            <a:srgbClr val="1F4E79"/>
          </a:solidFill>
          <a:ln/>
          <a:effectLst>
            <a:outerShdw blurRad="76200" dist="25400" dir="5400000" algn="bl" rotWithShape="0">
              <a:srgbClr val="000000">
                <a:alpha val="15000"/>
              </a:srgbClr>
            </a:outerShdw>
          </a:effectLst>
        </p:spPr>
        <p:txBody>
          <a:bodyPr/>
          <a:lstStyle/>
          <a:p>
            <a:endParaRPr lang="en-US"/>
          </a:p>
        </p:txBody>
      </p:sp>
      <p:sp>
        <p:nvSpPr>
          <p:cNvPr id="56" name="Text 54"/>
          <p:cNvSpPr/>
          <p:nvPr/>
        </p:nvSpPr>
        <p:spPr>
          <a:xfrm>
            <a:off x="7772400" y="2148840"/>
            <a:ext cx="3886200" cy="274320"/>
          </a:xfrm>
          <a:prstGeom prst="rect">
            <a:avLst/>
          </a:prstGeom>
          <a:noFill/>
          <a:ln/>
        </p:spPr>
        <p:txBody>
          <a:bodyPr wrap="square" lIns="0" tIns="0" rIns="0" bIns="0" rtlCol="0" anchor="ctr"/>
          <a:lstStyle/>
          <a:p>
            <a:pPr marL="0" indent="0" algn="l">
              <a:buNone/>
            </a:pPr>
            <a:r>
              <a:rPr lang="en-US" sz="1100" i="1">
                <a:solidFill>
                  <a:srgbClr val="D6E4F0"/>
                </a:solidFill>
                <a:latin typeface="Calibri" pitchFamily="34" charset="0"/>
                <a:ea typeface="Calibri" pitchFamily="34" charset="-122"/>
                <a:cs typeface="Calibri" pitchFamily="34" charset="-120"/>
              </a:rPr>
              <a:t>Reconstructed WACC</a:t>
            </a:r>
            <a:endParaRPr lang="en-US" sz="1100"/>
          </a:p>
        </p:txBody>
      </p:sp>
      <p:sp>
        <p:nvSpPr>
          <p:cNvPr id="57" name="Text 55"/>
          <p:cNvSpPr/>
          <p:nvPr/>
        </p:nvSpPr>
        <p:spPr>
          <a:xfrm>
            <a:off x="7772400" y="2423160"/>
            <a:ext cx="3886200" cy="685800"/>
          </a:xfrm>
          <a:prstGeom prst="rect">
            <a:avLst/>
          </a:prstGeom>
          <a:noFill/>
          <a:ln/>
        </p:spPr>
        <p:txBody>
          <a:bodyPr wrap="square" lIns="0" tIns="0" rIns="0" bIns="0" rtlCol="0" anchor="ctr"/>
          <a:lstStyle/>
          <a:p>
            <a:pPr marL="0" indent="0" algn="l">
              <a:buNone/>
            </a:pPr>
            <a:r>
              <a:rPr lang="en-US" sz="3200" b="1" i="1">
                <a:solidFill>
                  <a:srgbClr val="FFFFFF"/>
                </a:solidFill>
                <a:latin typeface="Calibri" pitchFamily="34" charset="0"/>
                <a:ea typeface="Calibri" pitchFamily="34" charset="-122"/>
                <a:cs typeface="Calibri" pitchFamily="34" charset="-120"/>
              </a:rPr>
              <a:t>8.24% — 9.96%</a:t>
            </a:r>
            <a:endParaRPr lang="en-US" sz="3200"/>
          </a:p>
        </p:txBody>
      </p:sp>
      <p:sp>
        <p:nvSpPr>
          <p:cNvPr id="58" name="Shape 56"/>
          <p:cNvSpPr/>
          <p:nvPr/>
        </p:nvSpPr>
        <p:spPr>
          <a:xfrm>
            <a:off x="7589520" y="3337560"/>
            <a:ext cx="4251960" cy="1005840"/>
          </a:xfrm>
          <a:prstGeom prst="rect">
            <a:avLst/>
          </a:prstGeom>
          <a:solidFill>
            <a:srgbClr val="EAF2F9"/>
          </a:solidFill>
          <a:ln w="12700">
            <a:solidFill>
              <a:srgbClr val="2E75B6"/>
            </a:solidFill>
            <a:prstDash val="solid"/>
          </a:ln>
        </p:spPr>
        <p:txBody>
          <a:bodyPr/>
          <a:lstStyle/>
          <a:p>
            <a:endParaRPr lang="en-US"/>
          </a:p>
        </p:txBody>
      </p:sp>
      <p:sp>
        <p:nvSpPr>
          <p:cNvPr id="59" name="Text 57"/>
          <p:cNvSpPr/>
          <p:nvPr/>
        </p:nvSpPr>
        <p:spPr>
          <a:xfrm>
            <a:off x="7772400" y="3383280"/>
            <a:ext cx="3886200" cy="274320"/>
          </a:xfrm>
          <a:prstGeom prst="rect">
            <a:avLst/>
          </a:prstGeom>
          <a:noFill/>
          <a:ln/>
        </p:spPr>
        <p:txBody>
          <a:bodyPr wrap="square" lIns="0" tIns="0" rIns="0" bIns="0" rtlCol="0" anchor="ctr"/>
          <a:lstStyle/>
          <a:p>
            <a:pPr marL="0" indent="0" algn="l">
              <a:buNone/>
            </a:pPr>
            <a:r>
              <a:rPr lang="en-US" sz="1100" i="1">
                <a:solidFill>
                  <a:srgbClr val="595959"/>
                </a:solidFill>
                <a:latin typeface="Calibri" pitchFamily="34" charset="0"/>
                <a:ea typeface="Calibri" pitchFamily="34" charset="-122"/>
                <a:cs typeface="Calibri" pitchFamily="34" charset="-120"/>
              </a:rPr>
              <a:t>Goldman Disclosed</a:t>
            </a:r>
            <a:endParaRPr lang="en-US" sz="1100"/>
          </a:p>
        </p:txBody>
      </p:sp>
      <p:sp>
        <p:nvSpPr>
          <p:cNvPr id="60" name="Text 58"/>
          <p:cNvSpPr/>
          <p:nvPr/>
        </p:nvSpPr>
        <p:spPr>
          <a:xfrm>
            <a:off x="7772400" y="3611880"/>
            <a:ext cx="3886200" cy="594360"/>
          </a:xfrm>
          <a:prstGeom prst="rect">
            <a:avLst/>
          </a:prstGeom>
          <a:noFill/>
          <a:ln/>
        </p:spPr>
        <p:txBody>
          <a:bodyPr wrap="square" lIns="0" tIns="0" rIns="0" bIns="0" rtlCol="0" anchor="ctr"/>
          <a:lstStyle/>
          <a:p>
            <a:pPr marL="0" indent="0" algn="l">
              <a:buNone/>
            </a:pPr>
            <a:r>
              <a:rPr lang="en-US" sz="2600" b="1" i="1">
                <a:solidFill>
                  <a:srgbClr val="1F4E79"/>
                </a:solidFill>
                <a:latin typeface="Calibri" pitchFamily="34" charset="0"/>
                <a:ea typeface="Calibri" pitchFamily="34" charset="-122"/>
                <a:cs typeface="Calibri" pitchFamily="34" charset="-120"/>
              </a:rPr>
              <a:t>7.5% — 9.5%</a:t>
            </a:r>
            <a:endParaRPr lang="en-US" sz="2600"/>
          </a:p>
        </p:txBody>
      </p:sp>
      <p:sp>
        <p:nvSpPr>
          <p:cNvPr id="61" name="Text 59"/>
          <p:cNvSpPr/>
          <p:nvPr/>
        </p:nvSpPr>
        <p:spPr>
          <a:xfrm>
            <a:off x="7589520" y="4526280"/>
            <a:ext cx="4251960" cy="274320"/>
          </a:xfrm>
          <a:prstGeom prst="rect">
            <a:avLst/>
          </a:prstGeom>
          <a:noFill/>
          <a:ln/>
        </p:spPr>
        <p:txBody>
          <a:bodyPr wrap="square" lIns="0" tIns="0" rIns="0" bIns="0" rtlCol="0" anchor="ctr"/>
          <a:lstStyle/>
          <a:p>
            <a:pPr marL="0" indent="0" algn="l">
              <a:buNone/>
            </a:pPr>
            <a:r>
              <a:rPr lang="en-US" sz="1100" b="1" kern="0" spc="100">
                <a:solidFill>
                  <a:srgbClr val="1F4E79"/>
                </a:solidFill>
                <a:latin typeface="Calibri" pitchFamily="34" charset="0"/>
                <a:ea typeface="Calibri" pitchFamily="34" charset="-122"/>
                <a:cs typeface="Calibri" pitchFamily="34" charset="-120"/>
              </a:rPr>
              <a:t>Residual Gap</a:t>
            </a:r>
            <a:endParaRPr lang="en-US" sz="1100"/>
          </a:p>
        </p:txBody>
      </p:sp>
      <p:sp>
        <p:nvSpPr>
          <p:cNvPr id="62" name="Text 60"/>
          <p:cNvSpPr/>
          <p:nvPr/>
        </p:nvSpPr>
        <p:spPr>
          <a:xfrm>
            <a:off x="7589520" y="4800600"/>
            <a:ext cx="4251960" cy="640080"/>
          </a:xfrm>
          <a:prstGeom prst="rect">
            <a:avLst/>
          </a:prstGeom>
          <a:noFill/>
          <a:ln/>
        </p:spPr>
        <p:txBody>
          <a:bodyPr wrap="square" lIns="0" tIns="0" rIns="0" bIns="0" rtlCol="0" anchor="t"/>
          <a:lstStyle/>
          <a:p>
            <a:pPr marL="0" indent="0" algn="l">
              <a:buNone/>
            </a:pPr>
            <a:r>
              <a:rPr lang="en-US" sz="1050" b="1">
                <a:solidFill>
                  <a:srgbClr val="1F4E79"/>
                </a:solidFill>
                <a:latin typeface="Calibri" pitchFamily="34" charset="0"/>
                <a:ea typeface="Calibri" pitchFamily="34" charset="-122"/>
                <a:cs typeface="Calibri" pitchFamily="34" charset="-120"/>
              </a:rPr>
              <a:t>Low end: </a:t>
            </a:r>
            <a:r>
              <a:rPr lang="en-US" sz="1050">
                <a:solidFill>
                  <a:srgbClr val="595959"/>
                </a:solidFill>
                <a:latin typeface="Calibri" pitchFamily="34" charset="0"/>
                <a:ea typeface="Calibri" pitchFamily="34" charset="-122"/>
                <a:cs typeface="Calibri" pitchFamily="34" charset="-120"/>
              </a:rPr>
              <a:t>+0.74pp above GS
</a:t>
            </a:r>
            <a:r>
              <a:rPr lang="en-US" sz="1050" b="1">
                <a:solidFill>
                  <a:srgbClr val="1F4E79"/>
                </a:solidFill>
                <a:latin typeface="Calibri" pitchFamily="34" charset="0"/>
                <a:ea typeface="Calibri" pitchFamily="34" charset="-122"/>
                <a:cs typeface="Calibri" pitchFamily="34" charset="-120"/>
              </a:rPr>
              <a:t>High end: </a:t>
            </a:r>
            <a:r>
              <a:rPr lang="en-US" sz="1050">
                <a:solidFill>
                  <a:srgbClr val="595959"/>
                </a:solidFill>
                <a:latin typeface="Calibri" pitchFamily="34" charset="0"/>
                <a:ea typeface="Calibri" pitchFamily="34" charset="-122"/>
                <a:cs typeface="Calibri" pitchFamily="34" charset="-120"/>
              </a:rPr>
              <a:t>+0.46pp above GS</a:t>
            </a:r>
            <a:endParaRPr lang="en-US" sz="1050"/>
          </a:p>
        </p:txBody>
      </p:sp>
      <p:sp>
        <p:nvSpPr>
          <p:cNvPr id="63" name="Text 61"/>
          <p:cNvSpPr/>
          <p:nvPr/>
        </p:nvSpPr>
        <p:spPr>
          <a:xfrm>
            <a:off x="7589520" y="5440680"/>
            <a:ext cx="4251960" cy="1097280"/>
          </a:xfrm>
          <a:prstGeom prst="rect">
            <a:avLst/>
          </a:prstGeom>
          <a:noFill/>
          <a:ln/>
        </p:spPr>
        <p:txBody>
          <a:bodyPr wrap="square" lIns="0" tIns="0" rIns="0" bIns="0" rtlCol="0" anchor="t"/>
          <a:lstStyle/>
          <a:p>
            <a:pPr marL="0" indent="0" algn="l">
              <a:buNone/>
            </a:pPr>
            <a:r>
              <a:rPr lang="en-US" sz="950" i="1">
                <a:solidFill>
                  <a:srgbClr val="595959"/>
                </a:solidFill>
                <a:latin typeface="Calibri" pitchFamily="34" charset="0"/>
                <a:ea typeface="Calibri" pitchFamily="34" charset="-122"/>
                <a:cs typeface="Calibri" pitchFamily="34" charset="-120"/>
              </a:rPr>
              <a:t>Reconstructed range overlaps Goldman's disclosed band on the high end and approaches it on the low end. The residual gap is consistent with Goldman's likely use of a lower bottom-up unlevered beta or a different peer-set construction not disclosed in the proxy.</a:t>
            </a:r>
            <a:endParaRPr lang="en-US" sz="9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A3 — Returns Sensitivity (MoM / IRR by Exit Multiple)</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A3</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457200" y="1005840"/>
            <a:ext cx="11277295" cy="457200"/>
          </a:xfrm>
          <a:prstGeom prst="rect">
            <a:avLst/>
          </a:prstGeom>
          <a:noFill/>
          <a:ln/>
        </p:spPr>
        <p:txBody>
          <a:bodyPr wrap="square" lIns="0" tIns="0" rIns="0" bIns="0" rtlCol="0" anchor="ctr"/>
          <a:lstStyle/>
          <a:p>
            <a:pPr marL="0" indent="0" algn="ctr">
              <a:buNone/>
            </a:pPr>
            <a:r>
              <a:rPr lang="en-US" sz="1050" i="1">
                <a:solidFill>
                  <a:srgbClr val="595959"/>
                </a:solidFill>
                <a:latin typeface="Calibri" pitchFamily="34" charset="0"/>
                <a:ea typeface="Calibri" pitchFamily="34" charset="-122"/>
                <a:cs typeface="Calibri" pitchFamily="34" charset="-120"/>
              </a:rPr>
              <a:t>MoM / IRR sensitivity to exit multiple — Sponsor Downside ($3.6B Y5), Sponsor Base ($4.2B Y5), and Management Base ($4.5B Y5). Other parameters held constant: $36.4B entry equity, $11.5B Y5 ending debt, 5-year hold.</a:t>
            </a:r>
            <a:endParaRPr lang="en-US" sz="1050"/>
          </a:p>
        </p:txBody>
      </p:sp>
      <p:sp>
        <p:nvSpPr>
          <p:cNvPr id="8" name="Shape 6"/>
          <p:cNvSpPr/>
          <p:nvPr/>
        </p:nvSpPr>
        <p:spPr>
          <a:xfrm>
            <a:off x="594360" y="1691640"/>
            <a:ext cx="11018520" cy="457200"/>
          </a:xfrm>
          <a:prstGeom prst="rect">
            <a:avLst/>
          </a:prstGeom>
          <a:solidFill>
            <a:srgbClr val="1F4E79"/>
          </a:solidFill>
          <a:ln/>
        </p:spPr>
        <p:txBody>
          <a:bodyPr/>
          <a:lstStyle/>
          <a:p>
            <a:endParaRPr lang="en-US"/>
          </a:p>
        </p:txBody>
      </p:sp>
      <p:sp>
        <p:nvSpPr>
          <p:cNvPr id="9" name="Text 7"/>
          <p:cNvSpPr/>
          <p:nvPr/>
        </p:nvSpPr>
        <p:spPr>
          <a:xfrm>
            <a:off x="731520" y="1691640"/>
            <a:ext cx="1280160" cy="45720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Exit Multiple</a:t>
            </a:r>
            <a:endParaRPr lang="en-US" sz="1100"/>
          </a:p>
        </p:txBody>
      </p:sp>
      <p:sp>
        <p:nvSpPr>
          <p:cNvPr id="10" name="Text 8"/>
          <p:cNvSpPr/>
          <p:nvPr/>
        </p:nvSpPr>
        <p:spPr>
          <a:xfrm>
            <a:off x="8366760" y="1691640"/>
            <a:ext cx="324612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Sponsor Downside</a:t>
            </a:r>
            <a:endParaRPr lang="en-US" sz="1100"/>
          </a:p>
          <a:p>
            <a:pPr marL="0" indent="0" algn="ctr">
              <a:buNone/>
            </a:pPr>
            <a:r>
              <a:rPr lang="en-US" sz="900" i="1">
                <a:solidFill>
                  <a:srgbClr val="D6E4F0"/>
                </a:solidFill>
                <a:latin typeface="Calibri" pitchFamily="34" charset="0"/>
                <a:ea typeface="Calibri" pitchFamily="34" charset="-122"/>
                <a:cs typeface="Calibri" pitchFamily="34" charset="-120"/>
              </a:rPr>
              <a:t>Y5 $3.6B EBITDA</a:t>
            </a:r>
            <a:endParaRPr lang="en-US" sz="1100"/>
          </a:p>
        </p:txBody>
      </p:sp>
      <p:sp>
        <p:nvSpPr>
          <p:cNvPr id="11" name="Text 9"/>
          <p:cNvSpPr/>
          <p:nvPr/>
        </p:nvSpPr>
        <p:spPr>
          <a:xfrm>
            <a:off x="1874519" y="1691640"/>
            <a:ext cx="324612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Sponsor Base</a:t>
            </a:r>
            <a:endParaRPr lang="en-US" sz="1100"/>
          </a:p>
          <a:p>
            <a:pPr marL="0" indent="0" algn="ctr">
              <a:buNone/>
            </a:pPr>
            <a:r>
              <a:rPr lang="en-US" sz="900" i="1">
                <a:solidFill>
                  <a:srgbClr val="D6E4F0"/>
                </a:solidFill>
                <a:latin typeface="Calibri" pitchFamily="34" charset="0"/>
                <a:ea typeface="Calibri" pitchFamily="34" charset="-122"/>
                <a:cs typeface="Calibri" pitchFamily="34" charset="-120"/>
              </a:rPr>
              <a:t>Y5 $4.2B EBITDA</a:t>
            </a:r>
            <a:endParaRPr lang="en-US" sz="1100"/>
          </a:p>
        </p:txBody>
      </p:sp>
      <p:sp>
        <p:nvSpPr>
          <p:cNvPr id="12" name="Text 10"/>
          <p:cNvSpPr/>
          <p:nvPr/>
        </p:nvSpPr>
        <p:spPr>
          <a:xfrm>
            <a:off x="5120640" y="1691640"/>
            <a:ext cx="3246120"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Management Base</a:t>
            </a:r>
            <a:endParaRPr lang="en-US" sz="1100"/>
          </a:p>
          <a:p>
            <a:pPr marL="0" indent="0" algn="ctr">
              <a:buNone/>
            </a:pPr>
            <a:r>
              <a:rPr lang="en-US" sz="900" i="1">
                <a:solidFill>
                  <a:srgbClr val="D6E4F0"/>
                </a:solidFill>
                <a:latin typeface="Calibri" pitchFamily="34" charset="0"/>
                <a:ea typeface="Calibri" pitchFamily="34" charset="-122"/>
                <a:cs typeface="Calibri" pitchFamily="34" charset="-120"/>
              </a:rPr>
              <a:t>Y5 $4.5B EBITDA</a:t>
            </a:r>
            <a:endParaRPr lang="en-US" sz="1100"/>
          </a:p>
        </p:txBody>
      </p:sp>
      <p:sp>
        <p:nvSpPr>
          <p:cNvPr id="13" name="Shape 11"/>
          <p:cNvSpPr/>
          <p:nvPr/>
        </p:nvSpPr>
        <p:spPr>
          <a:xfrm>
            <a:off x="594360" y="2148840"/>
            <a:ext cx="11018520" cy="256032"/>
          </a:xfrm>
          <a:prstGeom prst="rect">
            <a:avLst/>
          </a:prstGeom>
          <a:solidFill>
            <a:srgbClr val="2E75B6"/>
          </a:solidFill>
          <a:ln/>
        </p:spPr>
        <p:txBody>
          <a:bodyPr/>
          <a:lstStyle/>
          <a:p>
            <a:endParaRPr lang="en-US"/>
          </a:p>
        </p:txBody>
      </p:sp>
      <p:sp>
        <p:nvSpPr>
          <p:cNvPr id="14" name="Text 12"/>
          <p:cNvSpPr/>
          <p:nvPr/>
        </p:nvSpPr>
        <p:spPr>
          <a:xfrm>
            <a:off x="8366760" y="2148840"/>
            <a:ext cx="3246120" cy="256032"/>
          </a:xfrm>
          <a:prstGeom prst="rect">
            <a:avLst/>
          </a:prstGeom>
          <a:noFill/>
          <a:ln/>
        </p:spPr>
        <p:txBody>
          <a:bodyPr wrap="square" lIns="0" tIns="0" rIns="0" bIns="0" rtlCol="0" anchor="ctr"/>
          <a:lstStyle/>
          <a:p>
            <a:pPr marL="0" indent="0" algn="ctr">
              <a:buNone/>
            </a:pPr>
            <a:r>
              <a:rPr lang="en-US" sz="950" b="1" i="1">
                <a:solidFill>
                  <a:srgbClr val="FFFFFF"/>
                </a:solidFill>
                <a:latin typeface="Calibri" pitchFamily="34" charset="0"/>
                <a:ea typeface="Calibri" pitchFamily="34" charset="-122"/>
                <a:cs typeface="Calibri" pitchFamily="34" charset="-120"/>
              </a:rPr>
              <a:t>MoM        |        IRR</a:t>
            </a:r>
            <a:endParaRPr lang="en-US" sz="950"/>
          </a:p>
        </p:txBody>
      </p:sp>
      <p:sp>
        <p:nvSpPr>
          <p:cNvPr id="15" name="Text 13"/>
          <p:cNvSpPr/>
          <p:nvPr/>
        </p:nvSpPr>
        <p:spPr>
          <a:xfrm>
            <a:off x="1874519" y="2148840"/>
            <a:ext cx="3246120" cy="256032"/>
          </a:xfrm>
          <a:prstGeom prst="rect">
            <a:avLst/>
          </a:prstGeom>
          <a:noFill/>
          <a:ln/>
        </p:spPr>
        <p:txBody>
          <a:bodyPr wrap="square" lIns="0" tIns="0" rIns="0" bIns="0" rtlCol="0" anchor="ctr"/>
          <a:lstStyle/>
          <a:p>
            <a:pPr marL="0" indent="0" algn="ctr">
              <a:buNone/>
            </a:pPr>
            <a:r>
              <a:rPr lang="en-US" sz="950" b="1" i="1">
                <a:solidFill>
                  <a:srgbClr val="FFFFFF"/>
                </a:solidFill>
                <a:latin typeface="Calibri" pitchFamily="34" charset="0"/>
                <a:ea typeface="Calibri" pitchFamily="34" charset="-122"/>
                <a:cs typeface="Calibri" pitchFamily="34" charset="-120"/>
              </a:rPr>
              <a:t>MoM        |        IRR</a:t>
            </a:r>
            <a:endParaRPr lang="en-US" sz="950"/>
          </a:p>
        </p:txBody>
      </p:sp>
      <p:sp>
        <p:nvSpPr>
          <p:cNvPr id="16" name="Text 14"/>
          <p:cNvSpPr/>
          <p:nvPr/>
        </p:nvSpPr>
        <p:spPr>
          <a:xfrm>
            <a:off x="5120640" y="2148840"/>
            <a:ext cx="3246120" cy="256032"/>
          </a:xfrm>
          <a:prstGeom prst="rect">
            <a:avLst/>
          </a:prstGeom>
          <a:noFill/>
          <a:ln/>
        </p:spPr>
        <p:txBody>
          <a:bodyPr wrap="square" lIns="0" tIns="0" rIns="0" bIns="0" rtlCol="0" anchor="ctr"/>
          <a:lstStyle/>
          <a:p>
            <a:pPr marL="0" indent="0" algn="ctr">
              <a:buNone/>
            </a:pPr>
            <a:r>
              <a:rPr lang="en-US" sz="950" b="1" i="1">
                <a:solidFill>
                  <a:srgbClr val="FFFFFF"/>
                </a:solidFill>
                <a:latin typeface="Calibri" pitchFamily="34" charset="0"/>
                <a:ea typeface="Calibri" pitchFamily="34" charset="-122"/>
                <a:cs typeface="Calibri" pitchFamily="34" charset="-120"/>
              </a:rPr>
              <a:t>MoM        |        IRR</a:t>
            </a:r>
            <a:endParaRPr lang="en-US" sz="950"/>
          </a:p>
        </p:txBody>
      </p:sp>
      <p:sp>
        <p:nvSpPr>
          <p:cNvPr id="17" name="Shape 15"/>
          <p:cNvSpPr/>
          <p:nvPr/>
        </p:nvSpPr>
        <p:spPr>
          <a:xfrm>
            <a:off x="594360" y="2404872"/>
            <a:ext cx="11018520" cy="457200"/>
          </a:xfrm>
          <a:prstGeom prst="rect">
            <a:avLst/>
          </a:prstGeom>
          <a:solidFill>
            <a:srgbClr val="FFFFFF"/>
          </a:solidFill>
          <a:ln w="3175">
            <a:solidFill>
              <a:srgbClr val="D9D9D9"/>
            </a:solidFill>
            <a:prstDash val="solid"/>
          </a:ln>
        </p:spPr>
        <p:txBody>
          <a:bodyPr/>
          <a:lstStyle/>
          <a:p>
            <a:endParaRPr lang="en-US"/>
          </a:p>
        </p:txBody>
      </p:sp>
      <p:sp>
        <p:nvSpPr>
          <p:cNvPr id="18" name="Text 16"/>
          <p:cNvSpPr/>
          <p:nvPr/>
        </p:nvSpPr>
        <p:spPr>
          <a:xfrm>
            <a:off x="731520" y="2404872"/>
            <a:ext cx="1280160" cy="45720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14.0x</a:t>
            </a:r>
            <a:endParaRPr lang="en-US" sz="1200"/>
          </a:p>
        </p:txBody>
      </p:sp>
      <p:sp>
        <p:nvSpPr>
          <p:cNvPr id="19" name="Text 17"/>
          <p:cNvSpPr/>
          <p:nvPr/>
        </p:nvSpPr>
        <p:spPr>
          <a:xfrm>
            <a:off x="8366760" y="24048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1.07x  |  1.3%</a:t>
            </a:r>
            <a:endParaRPr lang="en-US" sz="1150"/>
          </a:p>
        </p:txBody>
      </p:sp>
      <p:sp>
        <p:nvSpPr>
          <p:cNvPr id="20" name="Text 18"/>
          <p:cNvSpPr/>
          <p:nvPr/>
        </p:nvSpPr>
        <p:spPr>
          <a:xfrm>
            <a:off x="1874519" y="24048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1.30x  |  5.4%</a:t>
            </a:r>
            <a:endParaRPr lang="en-US" sz="1150"/>
          </a:p>
        </p:txBody>
      </p:sp>
      <p:sp>
        <p:nvSpPr>
          <p:cNvPr id="21" name="Text 19"/>
          <p:cNvSpPr/>
          <p:nvPr/>
        </p:nvSpPr>
        <p:spPr>
          <a:xfrm>
            <a:off x="5120640" y="24048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1.41x  |  7.2%</a:t>
            </a:r>
            <a:endParaRPr lang="en-US" sz="1150"/>
          </a:p>
        </p:txBody>
      </p:sp>
      <p:sp>
        <p:nvSpPr>
          <p:cNvPr id="22" name="Shape 20"/>
          <p:cNvSpPr/>
          <p:nvPr/>
        </p:nvSpPr>
        <p:spPr>
          <a:xfrm>
            <a:off x="594360" y="2862072"/>
            <a:ext cx="11018520" cy="457200"/>
          </a:xfrm>
          <a:prstGeom prst="rect">
            <a:avLst/>
          </a:prstGeom>
          <a:solidFill>
            <a:srgbClr val="F2F2F2"/>
          </a:solidFill>
          <a:ln w="3175">
            <a:solidFill>
              <a:srgbClr val="D9D9D9"/>
            </a:solidFill>
            <a:prstDash val="solid"/>
          </a:ln>
        </p:spPr>
        <p:txBody>
          <a:bodyPr/>
          <a:lstStyle/>
          <a:p>
            <a:endParaRPr lang="en-US"/>
          </a:p>
        </p:txBody>
      </p:sp>
      <p:sp>
        <p:nvSpPr>
          <p:cNvPr id="23" name="Text 21"/>
          <p:cNvSpPr/>
          <p:nvPr/>
        </p:nvSpPr>
        <p:spPr>
          <a:xfrm>
            <a:off x="731520" y="2862072"/>
            <a:ext cx="1280160" cy="45720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16.0x</a:t>
            </a:r>
            <a:endParaRPr lang="en-US" sz="1200"/>
          </a:p>
        </p:txBody>
      </p:sp>
      <p:sp>
        <p:nvSpPr>
          <p:cNvPr id="24" name="Shape 22"/>
          <p:cNvSpPr/>
          <p:nvPr/>
        </p:nvSpPr>
        <p:spPr>
          <a:xfrm>
            <a:off x="8412480" y="2907792"/>
            <a:ext cx="3154680" cy="365760"/>
          </a:xfrm>
          <a:prstGeom prst="rect">
            <a:avLst/>
          </a:prstGeom>
          <a:solidFill>
            <a:srgbClr val="C00000"/>
          </a:solidFill>
          <a:ln/>
        </p:spPr>
        <p:txBody>
          <a:bodyPr/>
          <a:lstStyle/>
          <a:p>
            <a:endParaRPr lang="en-US"/>
          </a:p>
        </p:txBody>
      </p:sp>
      <p:sp>
        <p:nvSpPr>
          <p:cNvPr id="25" name="Text 23"/>
          <p:cNvSpPr/>
          <p:nvPr/>
        </p:nvSpPr>
        <p:spPr>
          <a:xfrm>
            <a:off x="8366760" y="2862072"/>
            <a:ext cx="324612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1.27x  |  4.8%</a:t>
            </a:r>
            <a:endParaRPr lang="en-US" sz="1150"/>
          </a:p>
        </p:txBody>
      </p:sp>
      <p:sp>
        <p:nvSpPr>
          <p:cNvPr id="26" name="Text 24"/>
          <p:cNvSpPr/>
          <p:nvPr/>
        </p:nvSpPr>
        <p:spPr>
          <a:xfrm>
            <a:off x="1874519" y="28620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1.53x  |  8.9%</a:t>
            </a:r>
            <a:endParaRPr lang="en-US" sz="1150"/>
          </a:p>
        </p:txBody>
      </p:sp>
      <p:sp>
        <p:nvSpPr>
          <p:cNvPr id="27" name="Text 25"/>
          <p:cNvSpPr/>
          <p:nvPr/>
        </p:nvSpPr>
        <p:spPr>
          <a:xfrm>
            <a:off x="5120640" y="28620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1.66x  |  10.7%</a:t>
            </a:r>
            <a:endParaRPr lang="en-US" sz="1150"/>
          </a:p>
        </p:txBody>
      </p:sp>
      <p:sp>
        <p:nvSpPr>
          <p:cNvPr id="28" name="Shape 26"/>
          <p:cNvSpPr/>
          <p:nvPr/>
        </p:nvSpPr>
        <p:spPr>
          <a:xfrm>
            <a:off x="594360" y="3319272"/>
            <a:ext cx="11018520" cy="457200"/>
          </a:xfrm>
          <a:prstGeom prst="rect">
            <a:avLst/>
          </a:prstGeom>
          <a:solidFill>
            <a:srgbClr val="FFFFFF"/>
          </a:solidFill>
          <a:ln w="3175">
            <a:solidFill>
              <a:srgbClr val="D9D9D9"/>
            </a:solidFill>
            <a:prstDash val="solid"/>
          </a:ln>
        </p:spPr>
        <p:txBody>
          <a:bodyPr/>
          <a:lstStyle/>
          <a:p>
            <a:endParaRPr lang="en-US"/>
          </a:p>
        </p:txBody>
      </p:sp>
      <p:sp>
        <p:nvSpPr>
          <p:cNvPr id="29" name="Text 27"/>
          <p:cNvSpPr/>
          <p:nvPr/>
        </p:nvSpPr>
        <p:spPr>
          <a:xfrm>
            <a:off x="731520" y="3319272"/>
            <a:ext cx="1280160" cy="45720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18.0x</a:t>
            </a:r>
            <a:endParaRPr lang="en-US" sz="1200"/>
          </a:p>
        </p:txBody>
      </p:sp>
      <p:sp>
        <p:nvSpPr>
          <p:cNvPr id="30" name="Text 28"/>
          <p:cNvSpPr/>
          <p:nvPr/>
        </p:nvSpPr>
        <p:spPr>
          <a:xfrm>
            <a:off x="8366760" y="33192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1.46x  |  7.9%</a:t>
            </a:r>
            <a:endParaRPr lang="en-US" sz="1150"/>
          </a:p>
        </p:txBody>
      </p:sp>
      <p:sp>
        <p:nvSpPr>
          <p:cNvPr id="31" name="Shape 29"/>
          <p:cNvSpPr/>
          <p:nvPr/>
        </p:nvSpPr>
        <p:spPr>
          <a:xfrm>
            <a:off x="1920240" y="3364992"/>
            <a:ext cx="3154680" cy="365760"/>
          </a:xfrm>
          <a:prstGeom prst="rect">
            <a:avLst/>
          </a:prstGeom>
          <a:solidFill>
            <a:srgbClr val="1F4E79"/>
          </a:solidFill>
          <a:ln/>
        </p:spPr>
        <p:txBody>
          <a:bodyPr/>
          <a:lstStyle/>
          <a:p>
            <a:endParaRPr lang="en-US"/>
          </a:p>
        </p:txBody>
      </p:sp>
      <p:sp>
        <p:nvSpPr>
          <p:cNvPr id="32" name="Text 30"/>
          <p:cNvSpPr/>
          <p:nvPr/>
        </p:nvSpPr>
        <p:spPr>
          <a:xfrm>
            <a:off x="1874519" y="3319272"/>
            <a:ext cx="324612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1.76x  |  12.0%</a:t>
            </a:r>
            <a:endParaRPr lang="en-US" sz="1150"/>
          </a:p>
        </p:txBody>
      </p:sp>
      <p:sp>
        <p:nvSpPr>
          <p:cNvPr id="33" name="Shape 31"/>
          <p:cNvSpPr/>
          <p:nvPr/>
        </p:nvSpPr>
        <p:spPr>
          <a:xfrm>
            <a:off x="5166360" y="3364992"/>
            <a:ext cx="3154680" cy="365760"/>
          </a:xfrm>
          <a:prstGeom prst="rect">
            <a:avLst/>
          </a:prstGeom>
          <a:solidFill>
            <a:srgbClr val="2E75B6"/>
          </a:solidFill>
          <a:ln/>
        </p:spPr>
        <p:txBody>
          <a:bodyPr/>
          <a:lstStyle/>
          <a:p>
            <a:endParaRPr lang="en-US"/>
          </a:p>
        </p:txBody>
      </p:sp>
      <p:sp>
        <p:nvSpPr>
          <p:cNvPr id="34" name="Text 32"/>
          <p:cNvSpPr/>
          <p:nvPr/>
        </p:nvSpPr>
        <p:spPr>
          <a:xfrm>
            <a:off x="5120640" y="3319272"/>
            <a:ext cx="3246120" cy="457200"/>
          </a:xfrm>
          <a:prstGeom prst="rect">
            <a:avLst/>
          </a:prstGeom>
          <a:noFill/>
          <a:ln/>
        </p:spPr>
        <p:txBody>
          <a:bodyPr wrap="square" lIns="0" tIns="0" rIns="0" bIns="0" rtlCol="0" anchor="ctr"/>
          <a:lstStyle/>
          <a:p>
            <a:pPr marL="0" indent="0" algn="ctr">
              <a:buNone/>
            </a:pPr>
            <a:r>
              <a:rPr lang="en-US" sz="1150" b="1">
                <a:solidFill>
                  <a:srgbClr val="FFFFFF"/>
                </a:solidFill>
                <a:latin typeface="Calibri" pitchFamily="34" charset="0"/>
                <a:ea typeface="Calibri" pitchFamily="34" charset="-122"/>
                <a:cs typeface="Calibri" pitchFamily="34" charset="-120"/>
              </a:rPr>
              <a:t>1.91x  |  13.8%</a:t>
            </a:r>
            <a:endParaRPr lang="en-US" sz="1150"/>
          </a:p>
        </p:txBody>
      </p:sp>
      <p:sp>
        <p:nvSpPr>
          <p:cNvPr id="35" name="Shape 33"/>
          <p:cNvSpPr/>
          <p:nvPr/>
        </p:nvSpPr>
        <p:spPr>
          <a:xfrm>
            <a:off x="594360" y="3776472"/>
            <a:ext cx="11018520" cy="457200"/>
          </a:xfrm>
          <a:prstGeom prst="rect">
            <a:avLst/>
          </a:prstGeom>
          <a:solidFill>
            <a:srgbClr val="F2F2F2"/>
          </a:solidFill>
          <a:ln w="3175">
            <a:solidFill>
              <a:srgbClr val="D9D9D9"/>
            </a:solidFill>
            <a:prstDash val="solid"/>
          </a:ln>
        </p:spPr>
        <p:txBody>
          <a:bodyPr/>
          <a:lstStyle/>
          <a:p>
            <a:endParaRPr lang="en-US"/>
          </a:p>
        </p:txBody>
      </p:sp>
      <p:sp>
        <p:nvSpPr>
          <p:cNvPr id="36" name="Text 34"/>
          <p:cNvSpPr/>
          <p:nvPr/>
        </p:nvSpPr>
        <p:spPr>
          <a:xfrm>
            <a:off x="731520" y="3776472"/>
            <a:ext cx="1280160" cy="45720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20.0x</a:t>
            </a:r>
            <a:endParaRPr lang="en-US" sz="1200"/>
          </a:p>
        </p:txBody>
      </p:sp>
      <p:sp>
        <p:nvSpPr>
          <p:cNvPr id="37" name="Text 35"/>
          <p:cNvSpPr/>
          <p:nvPr/>
        </p:nvSpPr>
        <p:spPr>
          <a:xfrm>
            <a:off x="8366760" y="37764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1.66x  |  10.7%</a:t>
            </a:r>
            <a:endParaRPr lang="en-US" sz="1150"/>
          </a:p>
        </p:txBody>
      </p:sp>
      <p:sp>
        <p:nvSpPr>
          <p:cNvPr id="38" name="Text 36"/>
          <p:cNvSpPr/>
          <p:nvPr/>
        </p:nvSpPr>
        <p:spPr>
          <a:xfrm>
            <a:off x="1874519" y="37764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1.99x  |  14.8%</a:t>
            </a:r>
            <a:endParaRPr lang="en-US" sz="1150"/>
          </a:p>
        </p:txBody>
      </p:sp>
      <p:sp>
        <p:nvSpPr>
          <p:cNvPr id="39" name="Text 37"/>
          <p:cNvSpPr/>
          <p:nvPr/>
        </p:nvSpPr>
        <p:spPr>
          <a:xfrm>
            <a:off x="5120640" y="37764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2.16x  |  16.6%</a:t>
            </a:r>
            <a:endParaRPr lang="en-US" sz="1150"/>
          </a:p>
        </p:txBody>
      </p:sp>
      <p:sp>
        <p:nvSpPr>
          <p:cNvPr id="40" name="Shape 38"/>
          <p:cNvSpPr/>
          <p:nvPr/>
        </p:nvSpPr>
        <p:spPr>
          <a:xfrm>
            <a:off x="594360" y="4233672"/>
            <a:ext cx="11018520" cy="457200"/>
          </a:xfrm>
          <a:prstGeom prst="rect">
            <a:avLst/>
          </a:prstGeom>
          <a:solidFill>
            <a:srgbClr val="FFFFFF"/>
          </a:solidFill>
          <a:ln w="3175">
            <a:solidFill>
              <a:srgbClr val="D9D9D9"/>
            </a:solidFill>
            <a:prstDash val="solid"/>
          </a:ln>
        </p:spPr>
        <p:txBody>
          <a:bodyPr/>
          <a:lstStyle/>
          <a:p>
            <a:endParaRPr lang="en-US"/>
          </a:p>
        </p:txBody>
      </p:sp>
      <p:sp>
        <p:nvSpPr>
          <p:cNvPr id="41" name="Text 39"/>
          <p:cNvSpPr/>
          <p:nvPr/>
        </p:nvSpPr>
        <p:spPr>
          <a:xfrm>
            <a:off x="731520" y="4233672"/>
            <a:ext cx="1280160" cy="457200"/>
          </a:xfrm>
          <a:prstGeom prst="rect">
            <a:avLst/>
          </a:prstGeom>
          <a:noFill/>
          <a:ln/>
        </p:spPr>
        <p:txBody>
          <a:bodyPr wrap="square" lIns="0" tIns="0" rIns="0" bIns="0" rtlCol="0" anchor="ctr"/>
          <a:lstStyle/>
          <a:p>
            <a:pPr marL="0" indent="0" algn="l">
              <a:buNone/>
            </a:pPr>
            <a:r>
              <a:rPr lang="en-US" sz="1200" b="1">
                <a:solidFill>
                  <a:srgbClr val="1F4E79"/>
                </a:solidFill>
                <a:latin typeface="Calibri" pitchFamily="34" charset="0"/>
                <a:ea typeface="Calibri" pitchFamily="34" charset="-122"/>
                <a:cs typeface="Calibri" pitchFamily="34" charset="-120"/>
              </a:rPr>
              <a:t>22.0x</a:t>
            </a:r>
            <a:endParaRPr lang="en-US" sz="1200"/>
          </a:p>
        </p:txBody>
      </p:sp>
      <p:sp>
        <p:nvSpPr>
          <p:cNvPr id="42" name="Text 40"/>
          <p:cNvSpPr/>
          <p:nvPr/>
        </p:nvSpPr>
        <p:spPr>
          <a:xfrm>
            <a:off x="8366760" y="42336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1.86x  |  13.2%</a:t>
            </a:r>
            <a:endParaRPr lang="en-US" sz="1150"/>
          </a:p>
        </p:txBody>
      </p:sp>
      <p:sp>
        <p:nvSpPr>
          <p:cNvPr id="43" name="Text 41"/>
          <p:cNvSpPr/>
          <p:nvPr/>
        </p:nvSpPr>
        <p:spPr>
          <a:xfrm>
            <a:off x="1874519" y="42336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2.22x  |  17.3%</a:t>
            </a:r>
            <a:endParaRPr lang="en-US" sz="1150"/>
          </a:p>
        </p:txBody>
      </p:sp>
      <p:sp>
        <p:nvSpPr>
          <p:cNvPr id="44" name="Text 42"/>
          <p:cNvSpPr/>
          <p:nvPr/>
        </p:nvSpPr>
        <p:spPr>
          <a:xfrm>
            <a:off x="5120640" y="4233672"/>
            <a:ext cx="3246120" cy="457200"/>
          </a:xfrm>
          <a:prstGeom prst="rect">
            <a:avLst/>
          </a:prstGeom>
          <a:noFill/>
          <a:ln/>
        </p:spPr>
        <p:txBody>
          <a:bodyPr wrap="square" lIns="0" tIns="0" rIns="0" bIns="0" rtlCol="0" anchor="ctr"/>
          <a:lstStyle/>
          <a:p>
            <a:pPr marL="0" indent="0" algn="ctr">
              <a:buNone/>
            </a:pPr>
            <a:r>
              <a:rPr lang="en-US" sz="1150">
                <a:solidFill>
                  <a:srgbClr val="595959"/>
                </a:solidFill>
                <a:latin typeface="Calibri" pitchFamily="34" charset="0"/>
                <a:ea typeface="Calibri" pitchFamily="34" charset="-122"/>
                <a:cs typeface="Calibri" pitchFamily="34" charset="-120"/>
              </a:rPr>
              <a:t>2.40x  |  19.2%</a:t>
            </a:r>
            <a:endParaRPr lang="en-US" sz="1150"/>
          </a:p>
        </p:txBody>
      </p:sp>
      <p:sp>
        <p:nvSpPr>
          <p:cNvPr id="45" name="Shape 43"/>
          <p:cNvSpPr/>
          <p:nvPr/>
        </p:nvSpPr>
        <p:spPr>
          <a:xfrm>
            <a:off x="7726679" y="4919472"/>
            <a:ext cx="164592" cy="164592"/>
          </a:xfrm>
          <a:prstGeom prst="rect">
            <a:avLst/>
          </a:prstGeom>
          <a:solidFill>
            <a:srgbClr val="C00000"/>
          </a:solidFill>
          <a:ln/>
        </p:spPr>
        <p:txBody>
          <a:bodyPr/>
          <a:lstStyle/>
          <a:p>
            <a:endParaRPr lang="en-US"/>
          </a:p>
        </p:txBody>
      </p:sp>
      <p:sp>
        <p:nvSpPr>
          <p:cNvPr id="46" name="Text 44"/>
          <p:cNvSpPr/>
          <p:nvPr/>
        </p:nvSpPr>
        <p:spPr>
          <a:xfrm>
            <a:off x="7955279" y="4873752"/>
            <a:ext cx="3200400" cy="274320"/>
          </a:xfrm>
          <a:prstGeom prst="rect">
            <a:avLst/>
          </a:prstGeom>
          <a:noFill/>
          <a:ln/>
        </p:spPr>
        <p:txBody>
          <a:bodyPr wrap="square" lIns="0" tIns="0" rIns="0" bIns="0" rtlCol="0" anchor="ctr"/>
          <a:lstStyle/>
          <a:p>
            <a:pPr marL="0" indent="0" algn="l">
              <a:buNone/>
            </a:pPr>
            <a:r>
              <a:rPr lang="en-US" sz="950">
                <a:solidFill>
                  <a:srgbClr val="595959"/>
                </a:solidFill>
                <a:latin typeface="Calibri" pitchFamily="34" charset="0"/>
                <a:ea typeface="Calibri" pitchFamily="34" charset="-122"/>
                <a:cs typeface="Calibri" pitchFamily="34" charset="-120"/>
              </a:rPr>
              <a:t>Sponsor Downside (16.0x × $3.6B)</a:t>
            </a:r>
            <a:endParaRPr lang="en-US" sz="950"/>
          </a:p>
        </p:txBody>
      </p:sp>
      <p:sp>
        <p:nvSpPr>
          <p:cNvPr id="47" name="Shape 45"/>
          <p:cNvSpPr/>
          <p:nvPr/>
        </p:nvSpPr>
        <p:spPr>
          <a:xfrm>
            <a:off x="594360" y="4919472"/>
            <a:ext cx="164592" cy="164592"/>
          </a:xfrm>
          <a:prstGeom prst="rect">
            <a:avLst/>
          </a:prstGeom>
          <a:solidFill>
            <a:srgbClr val="1F4E79"/>
          </a:solidFill>
          <a:ln/>
        </p:spPr>
        <p:txBody>
          <a:bodyPr/>
          <a:lstStyle/>
          <a:p>
            <a:endParaRPr lang="en-US"/>
          </a:p>
        </p:txBody>
      </p:sp>
      <p:sp>
        <p:nvSpPr>
          <p:cNvPr id="48" name="Text 46"/>
          <p:cNvSpPr/>
          <p:nvPr/>
        </p:nvSpPr>
        <p:spPr>
          <a:xfrm>
            <a:off x="822960" y="4873752"/>
            <a:ext cx="3108960" cy="274320"/>
          </a:xfrm>
          <a:prstGeom prst="rect">
            <a:avLst/>
          </a:prstGeom>
          <a:noFill/>
          <a:ln/>
        </p:spPr>
        <p:txBody>
          <a:bodyPr wrap="square" lIns="0" tIns="0" rIns="0" bIns="0" rtlCol="0" anchor="ctr"/>
          <a:lstStyle/>
          <a:p>
            <a:pPr marL="0" indent="0" algn="l">
              <a:buNone/>
            </a:pPr>
            <a:r>
              <a:rPr lang="en-US" sz="950">
                <a:solidFill>
                  <a:srgbClr val="595959"/>
                </a:solidFill>
                <a:latin typeface="Calibri" pitchFamily="34" charset="0"/>
                <a:ea typeface="Calibri" pitchFamily="34" charset="-122"/>
                <a:cs typeface="Calibri" pitchFamily="34" charset="-120"/>
              </a:rPr>
              <a:t>Sponsor Base (18.0x × $4.2B)</a:t>
            </a:r>
            <a:endParaRPr lang="en-US" sz="950"/>
          </a:p>
        </p:txBody>
      </p:sp>
      <p:sp>
        <p:nvSpPr>
          <p:cNvPr id="49" name="Shape 47"/>
          <p:cNvSpPr/>
          <p:nvPr/>
        </p:nvSpPr>
        <p:spPr>
          <a:xfrm>
            <a:off x="4206240" y="4919472"/>
            <a:ext cx="164592" cy="164592"/>
          </a:xfrm>
          <a:prstGeom prst="rect">
            <a:avLst/>
          </a:prstGeom>
          <a:solidFill>
            <a:srgbClr val="2E75B6"/>
          </a:solidFill>
          <a:ln/>
        </p:spPr>
        <p:txBody>
          <a:bodyPr/>
          <a:lstStyle/>
          <a:p>
            <a:endParaRPr lang="en-US"/>
          </a:p>
        </p:txBody>
      </p:sp>
      <p:sp>
        <p:nvSpPr>
          <p:cNvPr id="50" name="Text 48"/>
          <p:cNvSpPr/>
          <p:nvPr/>
        </p:nvSpPr>
        <p:spPr>
          <a:xfrm>
            <a:off x="4434840" y="4873752"/>
            <a:ext cx="3657600" cy="274320"/>
          </a:xfrm>
          <a:prstGeom prst="rect">
            <a:avLst/>
          </a:prstGeom>
          <a:noFill/>
          <a:ln/>
        </p:spPr>
        <p:txBody>
          <a:bodyPr wrap="square" lIns="0" tIns="0" rIns="0" bIns="0" rtlCol="0" anchor="ctr"/>
          <a:lstStyle/>
          <a:p>
            <a:pPr marL="0" indent="0" algn="l">
              <a:buNone/>
            </a:pPr>
            <a:r>
              <a:rPr lang="en-US" sz="950">
                <a:solidFill>
                  <a:srgbClr val="595959"/>
                </a:solidFill>
                <a:latin typeface="Calibri" pitchFamily="34" charset="0"/>
                <a:ea typeface="Calibri" pitchFamily="34" charset="-122"/>
                <a:cs typeface="Calibri" pitchFamily="34" charset="-120"/>
              </a:rPr>
              <a:t>Management Base (18.0x × $4.5B)</a:t>
            </a:r>
            <a:endParaRPr lang="en-US" sz="950"/>
          </a:p>
        </p:txBody>
      </p:sp>
      <p:sp>
        <p:nvSpPr>
          <p:cNvPr id="51" name="Shape 49"/>
          <p:cNvSpPr/>
          <p:nvPr/>
        </p:nvSpPr>
        <p:spPr>
          <a:xfrm>
            <a:off x="457200" y="5376672"/>
            <a:ext cx="11277295" cy="777240"/>
          </a:xfrm>
          <a:prstGeom prst="rect">
            <a:avLst/>
          </a:prstGeom>
          <a:solidFill>
            <a:srgbClr val="EAF2F9"/>
          </a:solidFill>
          <a:ln w="12700">
            <a:solidFill>
              <a:srgbClr val="2E75B6"/>
            </a:solidFill>
            <a:prstDash val="solid"/>
          </a:ln>
        </p:spPr>
        <p:txBody>
          <a:bodyPr/>
          <a:lstStyle/>
          <a:p>
            <a:endParaRPr lang="en-US"/>
          </a:p>
        </p:txBody>
      </p:sp>
      <p:sp>
        <p:nvSpPr>
          <p:cNvPr id="52" name="Text 50"/>
          <p:cNvSpPr/>
          <p:nvPr/>
        </p:nvSpPr>
        <p:spPr>
          <a:xfrm>
            <a:off x="640080" y="5422392"/>
            <a:ext cx="10908792" cy="685800"/>
          </a:xfrm>
          <a:prstGeom prst="rect">
            <a:avLst/>
          </a:prstGeom>
          <a:noFill/>
          <a:ln/>
        </p:spPr>
        <p:txBody>
          <a:bodyPr wrap="square" lIns="0" tIns="0" rIns="0" bIns="0" rtlCol="0" anchor="ctr"/>
          <a:lstStyle/>
          <a:p>
            <a:pPr marL="0" indent="0" algn="l">
              <a:buNone/>
            </a:pPr>
            <a:r>
              <a:rPr lang="en-US" sz="1100">
                <a:solidFill>
                  <a:srgbClr val="1F4E79"/>
                </a:solidFill>
                <a:latin typeface="Calibri" pitchFamily="34" charset="0"/>
                <a:ea typeface="Calibri" pitchFamily="34" charset="-122"/>
                <a:cs typeface="Calibri" pitchFamily="34" charset="-120"/>
              </a:rPr>
              <a:t>All three cases generate positive returns at every exit multiple in the 14x – 22x range. Sponsor Base clears 12% IRR at our central 18x exit. Management Base clears 13.8% IRR. Downside preserves capital with positive IRR even at 14x.</a:t>
            </a:r>
            <a:endParaRPr lang="en-US" sz="1100"/>
          </a:p>
        </p:txBody>
      </p:sp>
      <p:sp>
        <p:nvSpPr>
          <p:cNvPr id="53" name="Text 51"/>
          <p:cNvSpPr/>
          <p:nvPr/>
        </p:nvSpPr>
        <p:spPr>
          <a:xfrm>
            <a:off x="457200" y="6263640"/>
            <a:ext cx="11277295" cy="274320"/>
          </a:xfrm>
          <a:prstGeom prst="rect">
            <a:avLst/>
          </a:prstGeom>
          <a:noFill/>
          <a:ln/>
        </p:spPr>
        <p:txBody>
          <a:bodyPr wrap="square" lIns="0" tIns="0" rIns="0" bIns="0" rtlCol="0" anchor="ctr"/>
          <a:lstStyle/>
          <a:p>
            <a:pPr marL="0" indent="0" algn="ctr">
              <a:buNone/>
            </a:pPr>
            <a:r>
              <a:rPr lang="en-US" sz="850" i="1">
                <a:solidFill>
                  <a:srgbClr val="595959"/>
                </a:solidFill>
                <a:latin typeface="Calibri" pitchFamily="34" charset="0"/>
                <a:ea typeface="Calibri" pitchFamily="34" charset="-122"/>
                <a:cs typeface="Calibri" pitchFamily="34" charset="-120"/>
              </a:rPr>
              <a:t>Source: LBO Model Returns Analysis. All cells: Exit Equity = (Mult × Y5 EBITDA) − $11.5B Y5 Debt; MoM = Exit Equity / $36.4B; IRR = MoM^(1/5) − 1.</a:t>
            </a:r>
            <a:endParaRPr lang="en-US" sz="8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A4 — Pro Forma Capitalization at Close</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A4</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457200" y="1188720"/>
            <a:ext cx="11277295" cy="411480"/>
          </a:xfrm>
          <a:prstGeom prst="rect">
            <a:avLst/>
          </a:prstGeom>
          <a:solidFill>
            <a:srgbClr val="1F4E79"/>
          </a:solidFill>
          <a:ln w="3175">
            <a:solidFill>
              <a:srgbClr val="D9D9D9"/>
            </a:solidFill>
            <a:prstDash val="solid"/>
          </a:ln>
        </p:spPr>
        <p:txBody>
          <a:bodyPr/>
          <a:lstStyle/>
          <a:p>
            <a:endParaRPr lang="en-US"/>
          </a:p>
        </p:txBody>
      </p:sp>
      <p:sp>
        <p:nvSpPr>
          <p:cNvPr id="8" name="Text 6"/>
          <p:cNvSpPr/>
          <p:nvPr/>
        </p:nvSpPr>
        <p:spPr>
          <a:xfrm>
            <a:off x="594360" y="1188720"/>
            <a:ext cx="3931920" cy="411480"/>
          </a:xfrm>
          <a:prstGeom prst="rect">
            <a:avLst/>
          </a:prstGeom>
          <a:noFill/>
          <a:ln/>
        </p:spPr>
        <p:txBody>
          <a:bodyPr wrap="square" lIns="0" tIns="0" rIns="0" bIns="0" rtlCol="0" anchor="ctr"/>
          <a:lstStyle/>
          <a:p>
            <a:pPr marL="0" indent="0" algn="l">
              <a:buNone/>
            </a:pPr>
            <a:r>
              <a:rPr lang="en-US" sz="1100" b="1">
                <a:solidFill>
                  <a:srgbClr val="FFFFFF"/>
                </a:solidFill>
                <a:latin typeface="Calibri" pitchFamily="34" charset="0"/>
                <a:ea typeface="Calibri" pitchFamily="34" charset="-122"/>
                <a:cs typeface="Calibri" pitchFamily="34" charset="-120"/>
              </a:rPr>
              <a:t>Tranche</a:t>
            </a:r>
            <a:endParaRPr lang="en-US" sz="1100"/>
          </a:p>
        </p:txBody>
      </p:sp>
      <p:sp>
        <p:nvSpPr>
          <p:cNvPr id="9" name="Text 7"/>
          <p:cNvSpPr/>
          <p:nvPr/>
        </p:nvSpPr>
        <p:spPr>
          <a:xfrm>
            <a:off x="4617720" y="1188720"/>
            <a:ext cx="164592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Amount ($mm)</a:t>
            </a:r>
            <a:endParaRPr lang="en-US" sz="1100"/>
          </a:p>
        </p:txBody>
      </p:sp>
      <p:sp>
        <p:nvSpPr>
          <p:cNvPr id="10" name="Text 8"/>
          <p:cNvSpPr/>
          <p:nvPr/>
        </p:nvSpPr>
        <p:spPr>
          <a:xfrm>
            <a:off x="6355080" y="1188720"/>
            <a:ext cx="82296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Term</a:t>
            </a:r>
            <a:endParaRPr lang="en-US" sz="1100"/>
          </a:p>
        </p:txBody>
      </p:sp>
      <p:sp>
        <p:nvSpPr>
          <p:cNvPr id="11" name="Text 9"/>
          <p:cNvSpPr/>
          <p:nvPr/>
        </p:nvSpPr>
        <p:spPr>
          <a:xfrm>
            <a:off x="7269480" y="1188720"/>
            <a:ext cx="219456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Spread/Coupon</a:t>
            </a:r>
            <a:endParaRPr lang="en-US" sz="1100"/>
          </a:p>
        </p:txBody>
      </p:sp>
      <p:sp>
        <p:nvSpPr>
          <p:cNvPr id="12" name="Text 10"/>
          <p:cNvSpPr/>
          <p:nvPr/>
        </p:nvSpPr>
        <p:spPr>
          <a:xfrm>
            <a:off x="9555480" y="1188720"/>
            <a:ext cx="2103120" cy="41148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Yield</a:t>
            </a:r>
            <a:endParaRPr lang="en-US" sz="1100"/>
          </a:p>
        </p:txBody>
      </p:sp>
      <p:sp>
        <p:nvSpPr>
          <p:cNvPr id="13" name="Shape 11"/>
          <p:cNvSpPr/>
          <p:nvPr/>
        </p:nvSpPr>
        <p:spPr>
          <a:xfrm>
            <a:off x="457200" y="1600200"/>
            <a:ext cx="11277295" cy="411480"/>
          </a:xfrm>
          <a:prstGeom prst="rect">
            <a:avLst/>
          </a:prstGeom>
          <a:solidFill>
            <a:srgbClr val="FFFFFF"/>
          </a:solidFill>
          <a:ln w="3175">
            <a:solidFill>
              <a:srgbClr val="D9D9D9"/>
            </a:solidFill>
            <a:prstDash val="solid"/>
          </a:ln>
        </p:spPr>
        <p:txBody>
          <a:bodyPr/>
          <a:lstStyle/>
          <a:p>
            <a:endParaRPr lang="en-US"/>
          </a:p>
        </p:txBody>
      </p:sp>
      <p:sp>
        <p:nvSpPr>
          <p:cNvPr id="14" name="Text 12"/>
          <p:cNvSpPr/>
          <p:nvPr/>
        </p:nvSpPr>
        <p:spPr>
          <a:xfrm>
            <a:off x="594360" y="160020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Revolving Credit Facility (undrawn)</a:t>
            </a:r>
            <a:endParaRPr lang="en-US" sz="1100"/>
          </a:p>
        </p:txBody>
      </p:sp>
      <p:sp>
        <p:nvSpPr>
          <p:cNvPr id="15" name="Text 13"/>
          <p:cNvSpPr/>
          <p:nvPr/>
        </p:nvSpPr>
        <p:spPr>
          <a:xfrm>
            <a:off x="4617720" y="1600200"/>
            <a:ext cx="16459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$500</a:t>
            </a:r>
            <a:endParaRPr lang="en-US" sz="1100"/>
          </a:p>
        </p:txBody>
      </p:sp>
      <p:sp>
        <p:nvSpPr>
          <p:cNvPr id="16" name="Text 14"/>
          <p:cNvSpPr/>
          <p:nvPr/>
        </p:nvSpPr>
        <p:spPr>
          <a:xfrm>
            <a:off x="6355080" y="1600200"/>
            <a:ext cx="8229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5y</a:t>
            </a:r>
            <a:endParaRPr lang="en-US" sz="1100"/>
          </a:p>
        </p:txBody>
      </p:sp>
      <p:sp>
        <p:nvSpPr>
          <p:cNvPr id="17" name="Text 15"/>
          <p:cNvSpPr/>
          <p:nvPr/>
        </p:nvSpPr>
        <p:spPr>
          <a:xfrm>
            <a:off x="7269480" y="1600200"/>
            <a:ext cx="21945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SOFR + 275</a:t>
            </a:r>
            <a:endParaRPr lang="en-US" sz="1100"/>
          </a:p>
        </p:txBody>
      </p:sp>
      <p:sp>
        <p:nvSpPr>
          <p:cNvPr id="18" name="Text 16"/>
          <p:cNvSpPr/>
          <p:nvPr/>
        </p:nvSpPr>
        <p:spPr>
          <a:xfrm>
            <a:off x="9555480" y="1600200"/>
            <a:ext cx="21031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n/a</a:t>
            </a:r>
            <a:endParaRPr lang="en-US" sz="1100"/>
          </a:p>
        </p:txBody>
      </p:sp>
      <p:sp>
        <p:nvSpPr>
          <p:cNvPr id="19" name="Shape 17"/>
          <p:cNvSpPr/>
          <p:nvPr/>
        </p:nvSpPr>
        <p:spPr>
          <a:xfrm>
            <a:off x="457200" y="2011680"/>
            <a:ext cx="11277295" cy="411480"/>
          </a:xfrm>
          <a:prstGeom prst="rect">
            <a:avLst/>
          </a:prstGeom>
          <a:solidFill>
            <a:srgbClr val="F2F2F2"/>
          </a:solidFill>
          <a:ln w="3175">
            <a:solidFill>
              <a:srgbClr val="D9D9D9"/>
            </a:solidFill>
            <a:prstDash val="solid"/>
          </a:ln>
        </p:spPr>
        <p:txBody>
          <a:bodyPr/>
          <a:lstStyle/>
          <a:p>
            <a:endParaRPr lang="en-US"/>
          </a:p>
        </p:txBody>
      </p:sp>
      <p:sp>
        <p:nvSpPr>
          <p:cNvPr id="20" name="Text 18"/>
          <p:cNvSpPr/>
          <p:nvPr/>
        </p:nvSpPr>
        <p:spPr>
          <a:xfrm>
            <a:off x="594360" y="201168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Term Loan A</a:t>
            </a:r>
            <a:endParaRPr lang="en-US" sz="1100"/>
          </a:p>
        </p:txBody>
      </p:sp>
      <p:sp>
        <p:nvSpPr>
          <p:cNvPr id="21" name="Text 19"/>
          <p:cNvSpPr/>
          <p:nvPr/>
        </p:nvSpPr>
        <p:spPr>
          <a:xfrm>
            <a:off x="4617720" y="2011680"/>
            <a:ext cx="16459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$3,250</a:t>
            </a:r>
            <a:endParaRPr lang="en-US" sz="1100"/>
          </a:p>
        </p:txBody>
      </p:sp>
      <p:sp>
        <p:nvSpPr>
          <p:cNvPr id="22" name="Text 20"/>
          <p:cNvSpPr/>
          <p:nvPr/>
        </p:nvSpPr>
        <p:spPr>
          <a:xfrm>
            <a:off x="6355080" y="2011680"/>
            <a:ext cx="8229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5y</a:t>
            </a:r>
            <a:endParaRPr lang="en-US" sz="1100"/>
          </a:p>
        </p:txBody>
      </p:sp>
      <p:sp>
        <p:nvSpPr>
          <p:cNvPr id="23" name="Text 21"/>
          <p:cNvSpPr/>
          <p:nvPr/>
        </p:nvSpPr>
        <p:spPr>
          <a:xfrm>
            <a:off x="7269480" y="2011680"/>
            <a:ext cx="21945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SOFR + 250 (est.)</a:t>
            </a:r>
            <a:endParaRPr lang="en-US" sz="1100"/>
          </a:p>
        </p:txBody>
      </p:sp>
      <p:sp>
        <p:nvSpPr>
          <p:cNvPr id="24" name="Text 22"/>
          <p:cNvSpPr/>
          <p:nvPr/>
        </p:nvSpPr>
        <p:spPr>
          <a:xfrm>
            <a:off x="9555480" y="2011680"/>
            <a:ext cx="21031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n/a</a:t>
            </a:r>
            <a:endParaRPr lang="en-US" sz="1100"/>
          </a:p>
        </p:txBody>
      </p:sp>
      <p:sp>
        <p:nvSpPr>
          <p:cNvPr id="25" name="Shape 23"/>
          <p:cNvSpPr/>
          <p:nvPr/>
        </p:nvSpPr>
        <p:spPr>
          <a:xfrm>
            <a:off x="457200" y="2423160"/>
            <a:ext cx="11277295" cy="411480"/>
          </a:xfrm>
          <a:prstGeom prst="rect">
            <a:avLst/>
          </a:prstGeom>
          <a:solidFill>
            <a:srgbClr val="FFFFFF"/>
          </a:solidFill>
          <a:ln w="3175">
            <a:solidFill>
              <a:srgbClr val="D9D9D9"/>
            </a:solidFill>
            <a:prstDash val="solid"/>
          </a:ln>
        </p:spPr>
        <p:txBody>
          <a:bodyPr/>
          <a:lstStyle/>
          <a:p>
            <a:endParaRPr lang="en-US"/>
          </a:p>
        </p:txBody>
      </p:sp>
      <p:sp>
        <p:nvSpPr>
          <p:cNvPr id="26" name="Text 24"/>
          <p:cNvSpPr/>
          <p:nvPr/>
        </p:nvSpPr>
        <p:spPr>
          <a:xfrm>
            <a:off x="594360" y="242316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Term Loan B (USD)</a:t>
            </a:r>
            <a:endParaRPr lang="en-US" sz="1100"/>
          </a:p>
        </p:txBody>
      </p:sp>
      <p:sp>
        <p:nvSpPr>
          <p:cNvPr id="27" name="Text 25"/>
          <p:cNvSpPr/>
          <p:nvPr/>
        </p:nvSpPr>
        <p:spPr>
          <a:xfrm>
            <a:off x="4617720" y="2423160"/>
            <a:ext cx="16459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$6,125</a:t>
            </a:r>
            <a:endParaRPr lang="en-US" sz="1100"/>
          </a:p>
        </p:txBody>
      </p:sp>
      <p:sp>
        <p:nvSpPr>
          <p:cNvPr id="28" name="Text 26"/>
          <p:cNvSpPr/>
          <p:nvPr/>
        </p:nvSpPr>
        <p:spPr>
          <a:xfrm>
            <a:off x="6355080" y="2423160"/>
            <a:ext cx="8229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7y</a:t>
            </a:r>
            <a:endParaRPr lang="en-US" sz="1100"/>
          </a:p>
        </p:txBody>
      </p:sp>
      <p:sp>
        <p:nvSpPr>
          <p:cNvPr id="29" name="Text 27"/>
          <p:cNvSpPr/>
          <p:nvPr/>
        </p:nvSpPr>
        <p:spPr>
          <a:xfrm>
            <a:off x="7269480" y="2423160"/>
            <a:ext cx="21945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SOFR + 350</a:t>
            </a:r>
            <a:endParaRPr lang="en-US" sz="1100"/>
          </a:p>
        </p:txBody>
      </p:sp>
      <p:sp>
        <p:nvSpPr>
          <p:cNvPr id="30" name="Text 28"/>
          <p:cNvSpPr/>
          <p:nvPr/>
        </p:nvSpPr>
        <p:spPr>
          <a:xfrm>
            <a:off x="9555480" y="2423160"/>
            <a:ext cx="21031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7.67%</a:t>
            </a:r>
            <a:endParaRPr lang="en-US" sz="1100"/>
          </a:p>
        </p:txBody>
      </p:sp>
      <p:sp>
        <p:nvSpPr>
          <p:cNvPr id="31" name="Shape 29"/>
          <p:cNvSpPr/>
          <p:nvPr/>
        </p:nvSpPr>
        <p:spPr>
          <a:xfrm>
            <a:off x="457200" y="2834640"/>
            <a:ext cx="11277295" cy="411480"/>
          </a:xfrm>
          <a:prstGeom prst="rect">
            <a:avLst/>
          </a:prstGeom>
          <a:solidFill>
            <a:srgbClr val="F2F2F2"/>
          </a:solidFill>
          <a:ln w="3175">
            <a:solidFill>
              <a:srgbClr val="D9D9D9"/>
            </a:solidFill>
            <a:prstDash val="solid"/>
          </a:ln>
        </p:spPr>
        <p:txBody>
          <a:bodyPr/>
          <a:lstStyle/>
          <a:p>
            <a:endParaRPr lang="en-US"/>
          </a:p>
        </p:txBody>
      </p:sp>
      <p:sp>
        <p:nvSpPr>
          <p:cNvPr id="32" name="Text 30"/>
          <p:cNvSpPr/>
          <p:nvPr/>
        </p:nvSpPr>
        <p:spPr>
          <a:xfrm>
            <a:off x="594360" y="283464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Term Loan B (EUR)</a:t>
            </a:r>
            <a:endParaRPr lang="en-US" sz="1100"/>
          </a:p>
        </p:txBody>
      </p:sp>
      <p:sp>
        <p:nvSpPr>
          <p:cNvPr id="33" name="Text 31"/>
          <p:cNvSpPr/>
          <p:nvPr/>
        </p:nvSpPr>
        <p:spPr>
          <a:xfrm>
            <a:off x="4617720" y="2834640"/>
            <a:ext cx="16459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$2,005</a:t>
            </a:r>
            <a:endParaRPr lang="en-US" sz="1100"/>
          </a:p>
        </p:txBody>
      </p:sp>
      <p:sp>
        <p:nvSpPr>
          <p:cNvPr id="34" name="Text 32"/>
          <p:cNvSpPr/>
          <p:nvPr/>
        </p:nvSpPr>
        <p:spPr>
          <a:xfrm>
            <a:off x="6355080" y="2834640"/>
            <a:ext cx="8229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7y</a:t>
            </a:r>
            <a:endParaRPr lang="en-US" sz="1100"/>
          </a:p>
        </p:txBody>
      </p:sp>
      <p:sp>
        <p:nvSpPr>
          <p:cNvPr id="35" name="Text 33"/>
          <p:cNvSpPr/>
          <p:nvPr/>
        </p:nvSpPr>
        <p:spPr>
          <a:xfrm>
            <a:off x="7269480" y="2834640"/>
            <a:ext cx="21945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EURIBOR + 350</a:t>
            </a:r>
            <a:endParaRPr lang="en-US" sz="1100"/>
          </a:p>
        </p:txBody>
      </p:sp>
      <p:sp>
        <p:nvSpPr>
          <p:cNvPr id="36" name="Text 34"/>
          <p:cNvSpPr/>
          <p:nvPr/>
        </p:nvSpPr>
        <p:spPr>
          <a:xfrm>
            <a:off x="9555480" y="2834640"/>
            <a:ext cx="21031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6.05%</a:t>
            </a:r>
            <a:endParaRPr lang="en-US" sz="1100"/>
          </a:p>
        </p:txBody>
      </p:sp>
      <p:sp>
        <p:nvSpPr>
          <p:cNvPr id="37" name="Shape 35"/>
          <p:cNvSpPr/>
          <p:nvPr/>
        </p:nvSpPr>
        <p:spPr>
          <a:xfrm>
            <a:off x="457200" y="3246120"/>
            <a:ext cx="11277295" cy="411480"/>
          </a:xfrm>
          <a:prstGeom prst="rect">
            <a:avLst/>
          </a:prstGeom>
          <a:solidFill>
            <a:srgbClr val="FFFFFF"/>
          </a:solidFill>
          <a:ln w="3175">
            <a:solidFill>
              <a:srgbClr val="D9D9D9"/>
            </a:solidFill>
            <a:prstDash val="solid"/>
          </a:ln>
        </p:spPr>
        <p:txBody>
          <a:bodyPr/>
          <a:lstStyle/>
          <a:p>
            <a:endParaRPr lang="en-US"/>
          </a:p>
        </p:txBody>
      </p:sp>
      <p:sp>
        <p:nvSpPr>
          <p:cNvPr id="38" name="Text 36"/>
          <p:cNvSpPr/>
          <p:nvPr/>
        </p:nvSpPr>
        <p:spPr>
          <a:xfrm>
            <a:off x="594360" y="324612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Senior Notes 2033 (Tranche 1)</a:t>
            </a:r>
            <a:endParaRPr lang="en-US" sz="1100"/>
          </a:p>
        </p:txBody>
      </p:sp>
      <p:sp>
        <p:nvSpPr>
          <p:cNvPr id="39" name="Text 37"/>
          <p:cNvSpPr/>
          <p:nvPr/>
        </p:nvSpPr>
        <p:spPr>
          <a:xfrm>
            <a:off x="4617720" y="3246120"/>
            <a:ext cx="16459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$1,255</a:t>
            </a:r>
            <a:endParaRPr lang="en-US" sz="1100"/>
          </a:p>
        </p:txBody>
      </p:sp>
      <p:sp>
        <p:nvSpPr>
          <p:cNvPr id="40" name="Text 38"/>
          <p:cNvSpPr/>
          <p:nvPr/>
        </p:nvSpPr>
        <p:spPr>
          <a:xfrm>
            <a:off x="6355080" y="3246120"/>
            <a:ext cx="8229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7y</a:t>
            </a:r>
            <a:endParaRPr lang="en-US" sz="1100"/>
          </a:p>
        </p:txBody>
      </p:sp>
      <p:sp>
        <p:nvSpPr>
          <p:cNvPr id="41" name="Text 39"/>
          <p:cNvSpPr/>
          <p:nvPr/>
        </p:nvSpPr>
        <p:spPr>
          <a:xfrm>
            <a:off x="7269480" y="3246120"/>
            <a:ext cx="21945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6.25%</a:t>
            </a:r>
            <a:endParaRPr lang="en-US" sz="1100"/>
          </a:p>
        </p:txBody>
      </p:sp>
      <p:sp>
        <p:nvSpPr>
          <p:cNvPr id="42" name="Text 40"/>
          <p:cNvSpPr/>
          <p:nvPr/>
        </p:nvSpPr>
        <p:spPr>
          <a:xfrm>
            <a:off x="9555480" y="3246120"/>
            <a:ext cx="21031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6.25%</a:t>
            </a:r>
            <a:endParaRPr lang="en-US" sz="1100"/>
          </a:p>
        </p:txBody>
      </p:sp>
      <p:sp>
        <p:nvSpPr>
          <p:cNvPr id="43" name="Shape 41"/>
          <p:cNvSpPr/>
          <p:nvPr/>
        </p:nvSpPr>
        <p:spPr>
          <a:xfrm>
            <a:off x="457200" y="3657600"/>
            <a:ext cx="11277295" cy="411480"/>
          </a:xfrm>
          <a:prstGeom prst="rect">
            <a:avLst/>
          </a:prstGeom>
          <a:solidFill>
            <a:srgbClr val="F2F2F2"/>
          </a:solidFill>
          <a:ln w="3175">
            <a:solidFill>
              <a:srgbClr val="D9D9D9"/>
            </a:solidFill>
            <a:prstDash val="solid"/>
          </a:ln>
        </p:spPr>
        <p:txBody>
          <a:bodyPr/>
          <a:lstStyle/>
          <a:p>
            <a:endParaRPr lang="en-US"/>
          </a:p>
        </p:txBody>
      </p:sp>
      <p:sp>
        <p:nvSpPr>
          <p:cNvPr id="44" name="Text 42"/>
          <p:cNvSpPr/>
          <p:nvPr/>
        </p:nvSpPr>
        <p:spPr>
          <a:xfrm>
            <a:off x="594360" y="365760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Senior Notes 2033 (Tranche 2)</a:t>
            </a:r>
            <a:endParaRPr lang="en-US" sz="1100"/>
          </a:p>
        </p:txBody>
      </p:sp>
      <p:sp>
        <p:nvSpPr>
          <p:cNvPr id="45" name="Text 43"/>
          <p:cNvSpPr/>
          <p:nvPr/>
        </p:nvSpPr>
        <p:spPr>
          <a:xfrm>
            <a:off x="4617720" y="3657600"/>
            <a:ext cx="16459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$2,875</a:t>
            </a:r>
            <a:endParaRPr lang="en-US" sz="1100"/>
          </a:p>
        </p:txBody>
      </p:sp>
      <p:sp>
        <p:nvSpPr>
          <p:cNvPr id="46" name="Text 44"/>
          <p:cNvSpPr/>
          <p:nvPr/>
        </p:nvSpPr>
        <p:spPr>
          <a:xfrm>
            <a:off x="6355080" y="3657600"/>
            <a:ext cx="8229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7y</a:t>
            </a:r>
            <a:endParaRPr lang="en-US" sz="1100"/>
          </a:p>
        </p:txBody>
      </p:sp>
      <p:sp>
        <p:nvSpPr>
          <p:cNvPr id="47" name="Text 45"/>
          <p:cNvSpPr/>
          <p:nvPr/>
        </p:nvSpPr>
        <p:spPr>
          <a:xfrm>
            <a:off x="7269480" y="3657600"/>
            <a:ext cx="21945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7.25%</a:t>
            </a:r>
            <a:endParaRPr lang="en-US" sz="1100"/>
          </a:p>
        </p:txBody>
      </p:sp>
      <p:sp>
        <p:nvSpPr>
          <p:cNvPr id="48" name="Text 46"/>
          <p:cNvSpPr/>
          <p:nvPr/>
        </p:nvSpPr>
        <p:spPr>
          <a:xfrm>
            <a:off x="9555480" y="3657600"/>
            <a:ext cx="21031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7.25%</a:t>
            </a:r>
            <a:endParaRPr lang="en-US" sz="1100"/>
          </a:p>
        </p:txBody>
      </p:sp>
      <p:sp>
        <p:nvSpPr>
          <p:cNvPr id="49" name="Shape 47"/>
          <p:cNvSpPr/>
          <p:nvPr/>
        </p:nvSpPr>
        <p:spPr>
          <a:xfrm>
            <a:off x="457200" y="4069080"/>
            <a:ext cx="11277295" cy="411480"/>
          </a:xfrm>
          <a:prstGeom prst="rect">
            <a:avLst/>
          </a:prstGeom>
          <a:solidFill>
            <a:srgbClr val="FFFFFF"/>
          </a:solidFill>
          <a:ln w="3175">
            <a:solidFill>
              <a:srgbClr val="D9D9D9"/>
            </a:solidFill>
            <a:prstDash val="solid"/>
          </a:ln>
        </p:spPr>
        <p:txBody>
          <a:bodyPr/>
          <a:lstStyle/>
          <a:p>
            <a:endParaRPr lang="en-US"/>
          </a:p>
        </p:txBody>
      </p:sp>
      <p:sp>
        <p:nvSpPr>
          <p:cNvPr id="50" name="Text 48"/>
          <p:cNvSpPr/>
          <p:nvPr/>
        </p:nvSpPr>
        <p:spPr>
          <a:xfrm>
            <a:off x="594360" y="406908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Senior Notes 2034</a:t>
            </a:r>
            <a:endParaRPr lang="en-US" sz="1100"/>
          </a:p>
        </p:txBody>
      </p:sp>
      <p:sp>
        <p:nvSpPr>
          <p:cNvPr id="51" name="Text 49"/>
          <p:cNvSpPr/>
          <p:nvPr/>
        </p:nvSpPr>
        <p:spPr>
          <a:xfrm>
            <a:off x="4617720" y="4069080"/>
            <a:ext cx="16459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$2,500</a:t>
            </a:r>
            <a:endParaRPr lang="en-US" sz="1100"/>
          </a:p>
        </p:txBody>
      </p:sp>
      <p:sp>
        <p:nvSpPr>
          <p:cNvPr id="52" name="Text 50"/>
          <p:cNvSpPr/>
          <p:nvPr/>
        </p:nvSpPr>
        <p:spPr>
          <a:xfrm>
            <a:off x="6355080" y="4069080"/>
            <a:ext cx="8229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8y</a:t>
            </a:r>
            <a:endParaRPr lang="en-US" sz="1100"/>
          </a:p>
        </p:txBody>
      </p:sp>
      <p:sp>
        <p:nvSpPr>
          <p:cNvPr id="53" name="Text 51"/>
          <p:cNvSpPr/>
          <p:nvPr/>
        </p:nvSpPr>
        <p:spPr>
          <a:xfrm>
            <a:off x="7269480" y="4069080"/>
            <a:ext cx="219456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8.75%</a:t>
            </a:r>
            <a:endParaRPr lang="en-US" sz="1100"/>
          </a:p>
        </p:txBody>
      </p:sp>
      <p:sp>
        <p:nvSpPr>
          <p:cNvPr id="54" name="Text 52"/>
          <p:cNvSpPr/>
          <p:nvPr/>
        </p:nvSpPr>
        <p:spPr>
          <a:xfrm>
            <a:off x="9555480" y="4069080"/>
            <a:ext cx="2103120" cy="41148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8.75%</a:t>
            </a:r>
            <a:endParaRPr lang="en-US" sz="1100"/>
          </a:p>
        </p:txBody>
      </p:sp>
      <p:sp>
        <p:nvSpPr>
          <p:cNvPr id="55" name="Shape 53"/>
          <p:cNvSpPr/>
          <p:nvPr/>
        </p:nvSpPr>
        <p:spPr>
          <a:xfrm>
            <a:off x="457200" y="4480560"/>
            <a:ext cx="11277295" cy="411480"/>
          </a:xfrm>
          <a:prstGeom prst="rect">
            <a:avLst/>
          </a:prstGeom>
          <a:solidFill>
            <a:srgbClr val="D6E4F0"/>
          </a:solidFill>
          <a:ln w="3175">
            <a:solidFill>
              <a:srgbClr val="D9D9D9"/>
            </a:solidFill>
            <a:prstDash val="solid"/>
          </a:ln>
        </p:spPr>
        <p:txBody>
          <a:bodyPr/>
          <a:lstStyle/>
          <a:p>
            <a:endParaRPr lang="en-US"/>
          </a:p>
        </p:txBody>
      </p:sp>
      <p:sp>
        <p:nvSpPr>
          <p:cNvPr id="56" name="Text 54"/>
          <p:cNvSpPr/>
          <p:nvPr/>
        </p:nvSpPr>
        <p:spPr>
          <a:xfrm>
            <a:off x="594360" y="4480560"/>
            <a:ext cx="3931920" cy="41148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TOTAL COMMITTED DEBT</a:t>
            </a:r>
            <a:endParaRPr lang="en-US" sz="1100"/>
          </a:p>
        </p:txBody>
      </p:sp>
      <p:sp>
        <p:nvSpPr>
          <p:cNvPr id="57" name="Text 55"/>
          <p:cNvSpPr/>
          <p:nvPr/>
        </p:nvSpPr>
        <p:spPr>
          <a:xfrm>
            <a:off x="4617720" y="4480560"/>
            <a:ext cx="1645920" cy="41148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$18,510</a:t>
            </a:r>
            <a:endParaRPr lang="en-US" sz="1100"/>
          </a:p>
        </p:txBody>
      </p:sp>
      <p:sp>
        <p:nvSpPr>
          <p:cNvPr id="58" name="Text 56"/>
          <p:cNvSpPr/>
          <p:nvPr/>
        </p:nvSpPr>
        <p:spPr>
          <a:xfrm>
            <a:off x="6355080" y="4480560"/>
            <a:ext cx="822960" cy="41148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a:t>
            </a:r>
            <a:endParaRPr lang="en-US" sz="1100"/>
          </a:p>
        </p:txBody>
      </p:sp>
      <p:sp>
        <p:nvSpPr>
          <p:cNvPr id="59" name="Text 57"/>
          <p:cNvSpPr/>
          <p:nvPr/>
        </p:nvSpPr>
        <p:spPr>
          <a:xfrm>
            <a:off x="7269480" y="4480560"/>
            <a:ext cx="2194560" cy="41148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a:t>
            </a:r>
            <a:endParaRPr lang="en-US" sz="1100"/>
          </a:p>
        </p:txBody>
      </p:sp>
      <p:sp>
        <p:nvSpPr>
          <p:cNvPr id="60" name="Text 58"/>
          <p:cNvSpPr/>
          <p:nvPr/>
        </p:nvSpPr>
        <p:spPr>
          <a:xfrm>
            <a:off x="9555480" y="4480560"/>
            <a:ext cx="2103120" cy="41148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WACD 7.31%</a:t>
            </a:r>
            <a:endParaRPr lang="en-US" sz="1100"/>
          </a:p>
        </p:txBody>
      </p:sp>
      <p:sp>
        <p:nvSpPr>
          <p:cNvPr id="61" name="Text 59"/>
          <p:cNvSpPr/>
          <p:nvPr/>
        </p:nvSpPr>
        <p:spPr>
          <a:xfrm>
            <a:off x="457199" y="5202936"/>
            <a:ext cx="11277295" cy="36576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Initial Leverage: </a:t>
            </a:r>
            <a:r>
              <a:rPr lang="en-US" sz="1100">
                <a:solidFill>
                  <a:srgbClr val="1F4E79"/>
                </a:solidFill>
                <a:latin typeface="Calibri" pitchFamily="34" charset="0"/>
                <a:ea typeface="Calibri" pitchFamily="34" charset="-122"/>
                <a:cs typeface="Calibri" pitchFamily="34" charset="-120"/>
              </a:rPr>
              <a:t>$18.0B funded debt / $2.575B FY25 Adj. EBITDA = ~7.0x. Materially below the 8.0–10.0x typical of large-cap take-privates.</a:t>
            </a:r>
            <a:endParaRPr lang="en-US" sz="1100"/>
          </a:p>
        </p:txBody>
      </p:sp>
      <p:sp>
        <p:nvSpPr>
          <p:cNvPr id="62" name="Text 60"/>
          <p:cNvSpPr/>
          <p:nvPr/>
        </p:nvSpPr>
        <p:spPr>
          <a:xfrm>
            <a:off x="457198" y="6054451"/>
            <a:ext cx="11277295" cy="457200"/>
          </a:xfrm>
          <a:prstGeom prst="rect">
            <a:avLst/>
          </a:prstGeom>
          <a:noFill/>
          <a:ln/>
        </p:spPr>
        <p:txBody>
          <a:bodyPr wrap="square" lIns="0" tIns="0" rIns="0" bIns="0" rtlCol="0" anchor="t"/>
          <a:lstStyle/>
          <a:p>
            <a:pPr marL="0" indent="0" algn="ctr">
              <a:buNone/>
            </a:pPr>
            <a:r>
              <a:rPr lang="en-US" sz="900" i="1">
                <a:solidFill>
                  <a:srgbClr val="595959"/>
                </a:solidFill>
                <a:latin typeface="Calibri" pitchFamily="34" charset="0"/>
                <a:ea typeface="Calibri" pitchFamily="34" charset="-122"/>
                <a:cs typeface="Calibri" pitchFamily="34" charset="-120"/>
              </a:rPr>
              <a:t>Source: LBO Model, Detailed Debt Structure (deal-team reconstruction per market convention; cross-checked against actual disclosed pricing as of March 2026). DEFM14A p.5 discloses only the aggregate $20B committed / $18B funded.</a:t>
            </a:r>
            <a:endParaRPr lang="en-US" sz="900"/>
          </a:p>
        </p:txBody>
      </p:sp>
      <p:sp>
        <p:nvSpPr>
          <p:cNvPr id="63" name="TextBox 62"/>
          <p:cNvSpPr txBox="1"/>
          <p:nvPr/>
        </p:nvSpPr>
        <p:spPr>
          <a:xfrm>
            <a:off x="457200" y="5632704"/>
            <a:ext cx="11274552" cy="365760"/>
          </a:xfrm>
          <a:prstGeom prst="rect">
            <a:avLst/>
          </a:prstGeom>
          <a:noFill/>
        </p:spPr>
        <p:txBody>
          <a:bodyPr wrap="square" lIns="0" tIns="0" rIns="0" bIns="0" anchor="t">
            <a:spAutoFit/>
          </a:bodyPr>
          <a:lstStyle/>
          <a:p>
            <a:r>
              <a:rPr sz="900" i="1">
                <a:solidFill>
                  <a:srgbClr val="595959"/>
                </a:solidFill>
                <a:latin typeface="Calibri"/>
              </a:rPr>
              <a:t>Reconciliation note: DEFM14A discloses only the $20.0B aggregate committed; tranche-level detail not disclosed. Modeled tranches sum to $18.5B with $500M undrawn revolver; the ~$1.5B residual represents accordion / unallocated commitment capacity within the JPMorgan facility (see IM §3, ¶277).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A5 — Precedent Transactions Detail</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A5</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365760" y="1188720"/>
            <a:ext cx="11475720" cy="393192"/>
          </a:xfrm>
          <a:prstGeom prst="rect">
            <a:avLst/>
          </a:prstGeom>
          <a:solidFill>
            <a:srgbClr val="1F4E79"/>
          </a:solidFill>
          <a:ln w="3175">
            <a:solidFill>
              <a:srgbClr val="D9D9D9"/>
            </a:solidFill>
            <a:prstDash val="solid"/>
          </a:ln>
        </p:spPr>
        <p:txBody>
          <a:bodyPr/>
          <a:lstStyle/>
          <a:p>
            <a:endParaRPr lang="en-US"/>
          </a:p>
        </p:txBody>
      </p:sp>
      <p:sp>
        <p:nvSpPr>
          <p:cNvPr id="8" name="Text 6"/>
          <p:cNvSpPr/>
          <p:nvPr/>
        </p:nvSpPr>
        <p:spPr>
          <a:xfrm>
            <a:off x="475488" y="1188720"/>
            <a:ext cx="1115568" cy="393192"/>
          </a:xfrm>
          <a:prstGeom prst="rect">
            <a:avLst/>
          </a:prstGeom>
          <a:noFill/>
          <a:ln/>
        </p:spPr>
        <p:txBody>
          <a:bodyPr wrap="square" lIns="0" tIns="0" rIns="0" bIns="0" rtlCol="0" anchor="ctr"/>
          <a:lstStyle/>
          <a:p>
            <a:pPr marL="0" indent="0" algn="l">
              <a:buNone/>
            </a:pPr>
            <a:r>
              <a:rPr lang="en-US" sz="1000" b="1">
                <a:solidFill>
                  <a:srgbClr val="FFFFFF"/>
                </a:solidFill>
                <a:latin typeface="Calibri" pitchFamily="34" charset="0"/>
                <a:ea typeface="Calibri" pitchFamily="34" charset="-122"/>
                <a:cs typeface="Calibri" pitchFamily="34" charset="-120"/>
              </a:rPr>
              <a:t>Date</a:t>
            </a:r>
            <a:endParaRPr lang="en-US" sz="1000"/>
          </a:p>
        </p:txBody>
      </p:sp>
      <p:sp>
        <p:nvSpPr>
          <p:cNvPr id="9" name="Text 7"/>
          <p:cNvSpPr/>
          <p:nvPr/>
        </p:nvSpPr>
        <p:spPr>
          <a:xfrm>
            <a:off x="1664208" y="1188720"/>
            <a:ext cx="4041648" cy="393192"/>
          </a:xfrm>
          <a:prstGeom prst="rect">
            <a:avLst/>
          </a:prstGeom>
          <a:noFill/>
          <a:ln/>
        </p:spPr>
        <p:txBody>
          <a:bodyPr wrap="square" lIns="0" tIns="0" rIns="0" bIns="0" rtlCol="0" anchor="ctr"/>
          <a:lstStyle/>
          <a:p>
            <a:pPr marL="0" indent="0" algn="l">
              <a:buNone/>
            </a:pPr>
            <a:r>
              <a:rPr lang="en-US" sz="1000" b="1">
                <a:solidFill>
                  <a:srgbClr val="FFFFFF"/>
                </a:solidFill>
                <a:latin typeface="Calibri" pitchFamily="34" charset="0"/>
                <a:ea typeface="Calibri" pitchFamily="34" charset="-122"/>
                <a:cs typeface="Calibri" pitchFamily="34" charset="-120"/>
              </a:rPr>
              <a:t>Deal</a:t>
            </a:r>
            <a:endParaRPr lang="en-US" sz="1000"/>
          </a:p>
        </p:txBody>
      </p:sp>
      <p:sp>
        <p:nvSpPr>
          <p:cNvPr id="10" name="Text 8"/>
          <p:cNvSpPr/>
          <p:nvPr/>
        </p:nvSpPr>
        <p:spPr>
          <a:xfrm>
            <a:off x="5779008" y="1188720"/>
            <a:ext cx="1389888" cy="393192"/>
          </a:xfrm>
          <a:prstGeom prst="rect">
            <a:avLst/>
          </a:prstGeom>
          <a:noFill/>
          <a:ln/>
        </p:spPr>
        <p:txBody>
          <a:bodyPr wrap="square" lIns="0" tIns="0" rIns="0" bIns="0" rtlCol="0" anchor="ctr"/>
          <a:lstStyle/>
          <a:p>
            <a:pPr marL="0" indent="0" algn="r">
              <a:buNone/>
            </a:pPr>
            <a:r>
              <a:rPr lang="en-US" sz="1000" b="1">
                <a:solidFill>
                  <a:srgbClr val="FFFFFF"/>
                </a:solidFill>
                <a:latin typeface="Calibri" pitchFamily="34" charset="0"/>
                <a:ea typeface="Calibri" pitchFamily="34" charset="-122"/>
                <a:cs typeface="Calibri" pitchFamily="34" charset="-120"/>
              </a:rPr>
              <a:t>EV ($mm)</a:t>
            </a:r>
            <a:endParaRPr lang="en-US" sz="1000"/>
          </a:p>
        </p:txBody>
      </p:sp>
      <p:sp>
        <p:nvSpPr>
          <p:cNvPr id="11" name="Text 9"/>
          <p:cNvSpPr/>
          <p:nvPr/>
        </p:nvSpPr>
        <p:spPr>
          <a:xfrm>
            <a:off x="7242048" y="1188720"/>
            <a:ext cx="1024128" cy="393192"/>
          </a:xfrm>
          <a:prstGeom prst="rect">
            <a:avLst/>
          </a:prstGeom>
          <a:noFill/>
          <a:ln/>
        </p:spPr>
        <p:txBody>
          <a:bodyPr wrap="square" lIns="0" tIns="0" rIns="0" bIns="0" rtlCol="0" anchor="ctr"/>
          <a:lstStyle/>
          <a:p>
            <a:pPr marL="0" indent="0" algn="r">
              <a:buNone/>
            </a:pPr>
            <a:r>
              <a:rPr lang="en-US" sz="1000" b="1">
                <a:solidFill>
                  <a:srgbClr val="FFFFFF"/>
                </a:solidFill>
                <a:latin typeface="Calibri" pitchFamily="34" charset="0"/>
                <a:ea typeface="Calibri" pitchFamily="34" charset="-122"/>
                <a:cs typeface="Calibri" pitchFamily="34" charset="-120"/>
              </a:rPr>
              <a:t>EV/Rev</a:t>
            </a:r>
            <a:endParaRPr lang="en-US" sz="1000"/>
          </a:p>
        </p:txBody>
      </p:sp>
      <p:sp>
        <p:nvSpPr>
          <p:cNvPr id="12" name="Text 10"/>
          <p:cNvSpPr/>
          <p:nvPr/>
        </p:nvSpPr>
        <p:spPr>
          <a:xfrm>
            <a:off x="8339328" y="1188720"/>
            <a:ext cx="1298448" cy="393192"/>
          </a:xfrm>
          <a:prstGeom prst="rect">
            <a:avLst/>
          </a:prstGeom>
          <a:noFill/>
          <a:ln/>
        </p:spPr>
        <p:txBody>
          <a:bodyPr wrap="square" lIns="0" tIns="0" rIns="0" bIns="0" rtlCol="0" anchor="ctr"/>
          <a:lstStyle/>
          <a:p>
            <a:pPr marL="0" indent="0" algn="r">
              <a:buNone/>
            </a:pPr>
            <a:r>
              <a:rPr lang="en-US" sz="1000" b="1">
                <a:solidFill>
                  <a:srgbClr val="FFFFFF"/>
                </a:solidFill>
                <a:latin typeface="Calibri" pitchFamily="34" charset="0"/>
                <a:ea typeface="Calibri" pitchFamily="34" charset="-122"/>
                <a:cs typeface="Calibri" pitchFamily="34" charset="-120"/>
              </a:rPr>
              <a:t>EV/EBITDA</a:t>
            </a:r>
            <a:endParaRPr lang="en-US" sz="1000"/>
          </a:p>
        </p:txBody>
      </p:sp>
      <p:sp>
        <p:nvSpPr>
          <p:cNvPr id="13" name="Text 11"/>
          <p:cNvSpPr/>
          <p:nvPr/>
        </p:nvSpPr>
        <p:spPr>
          <a:xfrm>
            <a:off x="9710928" y="1188720"/>
            <a:ext cx="2167128" cy="393192"/>
          </a:xfrm>
          <a:prstGeom prst="rect">
            <a:avLst/>
          </a:prstGeom>
          <a:noFill/>
          <a:ln/>
        </p:spPr>
        <p:txBody>
          <a:bodyPr wrap="square" lIns="0" tIns="0" rIns="0" bIns="0" rtlCol="0" anchor="ctr"/>
          <a:lstStyle/>
          <a:p>
            <a:pPr marL="0" indent="0" algn="ctr">
              <a:buNone/>
            </a:pPr>
            <a:r>
              <a:rPr lang="en-US" sz="1000" b="1">
                <a:solidFill>
                  <a:srgbClr val="FFFFFF"/>
                </a:solidFill>
                <a:latin typeface="Calibri" pitchFamily="34" charset="0"/>
                <a:ea typeface="Calibri" pitchFamily="34" charset="-122"/>
                <a:cs typeface="Calibri" pitchFamily="34" charset="-120"/>
              </a:rPr>
              <a:t>Premium</a:t>
            </a:r>
            <a:endParaRPr lang="en-US" sz="1000"/>
          </a:p>
        </p:txBody>
      </p:sp>
      <p:sp>
        <p:nvSpPr>
          <p:cNvPr id="14" name="Shape 12"/>
          <p:cNvSpPr/>
          <p:nvPr/>
        </p:nvSpPr>
        <p:spPr>
          <a:xfrm>
            <a:off x="365760" y="1581912"/>
            <a:ext cx="11475720" cy="393192"/>
          </a:xfrm>
          <a:prstGeom prst="rect">
            <a:avLst/>
          </a:prstGeom>
          <a:solidFill>
            <a:srgbClr val="F2F2F2"/>
          </a:solidFill>
          <a:ln w="3175">
            <a:solidFill>
              <a:srgbClr val="D9D9D9"/>
            </a:solidFill>
            <a:prstDash val="solid"/>
          </a:ln>
        </p:spPr>
        <p:txBody>
          <a:bodyPr/>
          <a:lstStyle/>
          <a:p>
            <a:endParaRPr lang="en-US"/>
          </a:p>
        </p:txBody>
      </p:sp>
      <p:sp>
        <p:nvSpPr>
          <p:cNvPr id="15" name="Text 13"/>
          <p:cNvSpPr/>
          <p:nvPr/>
        </p:nvSpPr>
        <p:spPr>
          <a:xfrm>
            <a:off x="475488" y="1581912"/>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Jan 2022</a:t>
            </a:r>
            <a:endParaRPr lang="en-US" sz="1000"/>
          </a:p>
        </p:txBody>
      </p:sp>
      <p:sp>
        <p:nvSpPr>
          <p:cNvPr id="16" name="Text 14"/>
          <p:cNvSpPr/>
          <p:nvPr/>
        </p:nvSpPr>
        <p:spPr>
          <a:xfrm>
            <a:off x="1664208" y="1581912"/>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Microsoft / Activision Blizzard</a:t>
            </a:r>
            <a:endParaRPr lang="en-US" sz="1000"/>
          </a:p>
        </p:txBody>
      </p:sp>
      <p:sp>
        <p:nvSpPr>
          <p:cNvPr id="17" name="Text 15"/>
          <p:cNvSpPr/>
          <p:nvPr/>
        </p:nvSpPr>
        <p:spPr>
          <a:xfrm>
            <a:off x="5779008" y="1581912"/>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$68,700</a:t>
            </a:r>
            <a:endParaRPr lang="en-US" sz="1000"/>
          </a:p>
        </p:txBody>
      </p:sp>
      <p:sp>
        <p:nvSpPr>
          <p:cNvPr id="18" name="Text 16"/>
          <p:cNvSpPr/>
          <p:nvPr/>
        </p:nvSpPr>
        <p:spPr>
          <a:xfrm>
            <a:off x="7242048" y="1581912"/>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7.71x</a:t>
            </a:r>
            <a:endParaRPr lang="en-US" sz="1000"/>
          </a:p>
        </p:txBody>
      </p:sp>
      <p:sp>
        <p:nvSpPr>
          <p:cNvPr id="19" name="Text 17"/>
          <p:cNvSpPr/>
          <p:nvPr/>
        </p:nvSpPr>
        <p:spPr>
          <a:xfrm>
            <a:off x="8339328" y="1581912"/>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19.04x</a:t>
            </a:r>
            <a:endParaRPr lang="en-US" sz="1000"/>
          </a:p>
        </p:txBody>
      </p:sp>
      <p:sp>
        <p:nvSpPr>
          <p:cNvPr id="20" name="Text 18"/>
          <p:cNvSpPr/>
          <p:nvPr/>
        </p:nvSpPr>
        <p:spPr>
          <a:xfrm>
            <a:off x="9710928" y="1581912"/>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45.3%</a:t>
            </a:r>
            <a:endParaRPr lang="en-US" sz="1000"/>
          </a:p>
        </p:txBody>
      </p:sp>
      <p:sp>
        <p:nvSpPr>
          <p:cNvPr id="21" name="Shape 19"/>
          <p:cNvSpPr/>
          <p:nvPr/>
        </p:nvSpPr>
        <p:spPr>
          <a:xfrm>
            <a:off x="365760" y="1975104"/>
            <a:ext cx="11475720" cy="393192"/>
          </a:xfrm>
          <a:prstGeom prst="rect">
            <a:avLst/>
          </a:prstGeom>
          <a:solidFill>
            <a:srgbClr val="FFFFFF"/>
          </a:solidFill>
          <a:ln w="3175">
            <a:solidFill>
              <a:srgbClr val="D9D9D9"/>
            </a:solidFill>
            <a:prstDash val="solid"/>
          </a:ln>
        </p:spPr>
        <p:txBody>
          <a:bodyPr/>
          <a:lstStyle/>
          <a:p>
            <a:endParaRPr lang="en-US"/>
          </a:p>
        </p:txBody>
      </p:sp>
      <p:sp>
        <p:nvSpPr>
          <p:cNvPr id="22" name="Text 20"/>
          <p:cNvSpPr/>
          <p:nvPr/>
        </p:nvSpPr>
        <p:spPr>
          <a:xfrm>
            <a:off x="475488" y="1975104"/>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Jan 2022</a:t>
            </a:r>
            <a:endParaRPr lang="en-US" sz="1000"/>
          </a:p>
        </p:txBody>
      </p:sp>
      <p:sp>
        <p:nvSpPr>
          <p:cNvPr id="23" name="Text 21"/>
          <p:cNvSpPr/>
          <p:nvPr/>
        </p:nvSpPr>
        <p:spPr>
          <a:xfrm>
            <a:off x="1664208" y="1975104"/>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Take-Two / Zynga</a:t>
            </a:r>
            <a:endParaRPr lang="en-US" sz="1000"/>
          </a:p>
        </p:txBody>
      </p:sp>
      <p:sp>
        <p:nvSpPr>
          <p:cNvPr id="24" name="Text 22"/>
          <p:cNvSpPr/>
          <p:nvPr/>
        </p:nvSpPr>
        <p:spPr>
          <a:xfrm>
            <a:off x="5779008" y="1975104"/>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$12,700</a:t>
            </a:r>
            <a:endParaRPr lang="en-US" sz="1000"/>
          </a:p>
        </p:txBody>
      </p:sp>
      <p:sp>
        <p:nvSpPr>
          <p:cNvPr id="25" name="Text 23"/>
          <p:cNvSpPr/>
          <p:nvPr/>
        </p:nvSpPr>
        <p:spPr>
          <a:xfrm>
            <a:off x="7242048" y="1975104"/>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4.89x</a:t>
            </a:r>
            <a:endParaRPr lang="en-US" sz="1000"/>
          </a:p>
        </p:txBody>
      </p:sp>
      <p:sp>
        <p:nvSpPr>
          <p:cNvPr id="26" name="Text 24"/>
          <p:cNvSpPr/>
          <p:nvPr/>
        </p:nvSpPr>
        <p:spPr>
          <a:xfrm>
            <a:off x="8339328" y="1975104"/>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24.01x</a:t>
            </a:r>
            <a:endParaRPr lang="en-US" sz="1000"/>
          </a:p>
        </p:txBody>
      </p:sp>
      <p:sp>
        <p:nvSpPr>
          <p:cNvPr id="27" name="Text 25"/>
          <p:cNvSpPr/>
          <p:nvPr/>
        </p:nvSpPr>
        <p:spPr>
          <a:xfrm>
            <a:off x="9710928" y="1975104"/>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63.8%</a:t>
            </a:r>
            <a:endParaRPr lang="en-US" sz="1000"/>
          </a:p>
        </p:txBody>
      </p:sp>
      <p:sp>
        <p:nvSpPr>
          <p:cNvPr id="28" name="Shape 26"/>
          <p:cNvSpPr/>
          <p:nvPr/>
        </p:nvSpPr>
        <p:spPr>
          <a:xfrm>
            <a:off x="365760" y="2368296"/>
            <a:ext cx="11475720" cy="393192"/>
          </a:xfrm>
          <a:prstGeom prst="rect">
            <a:avLst/>
          </a:prstGeom>
          <a:solidFill>
            <a:srgbClr val="F2F2F2"/>
          </a:solidFill>
          <a:ln w="3175">
            <a:solidFill>
              <a:srgbClr val="D9D9D9"/>
            </a:solidFill>
            <a:prstDash val="solid"/>
          </a:ln>
        </p:spPr>
        <p:txBody>
          <a:bodyPr/>
          <a:lstStyle/>
          <a:p>
            <a:endParaRPr lang="en-US"/>
          </a:p>
        </p:txBody>
      </p:sp>
      <p:sp>
        <p:nvSpPr>
          <p:cNvPr id="29" name="Text 27"/>
          <p:cNvSpPr/>
          <p:nvPr/>
        </p:nvSpPr>
        <p:spPr>
          <a:xfrm>
            <a:off x="475488" y="2368296"/>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Jan 2022</a:t>
            </a:r>
            <a:endParaRPr lang="en-US" sz="1000"/>
          </a:p>
        </p:txBody>
      </p:sp>
      <p:sp>
        <p:nvSpPr>
          <p:cNvPr id="30" name="Text 28"/>
          <p:cNvSpPr/>
          <p:nvPr/>
        </p:nvSpPr>
        <p:spPr>
          <a:xfrm>
            <a:off x="1664208" y="2368296"/>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Sony / Bungie</a:t>
            </a:r>
            <a:endParaRPr lang="en-US" sz="1000"/>
          </a:p>
        </p:txBody>
      </p:sp>
      <p:sp>
        <p:nvSpPr>
          <p:cNvPr id="31" name="Text 29"/>
          <p:cNvSpPr/>
          <p:nvPr/>
        </p:nvSpPr>
        <p:spPr>
          <a:xfrm>
            <a:off x="5779008" y="2368296"/>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$3,600</a:t>
            </a:r>
            <a:endParaRPr lang="en-US" sz="1000"/>
          </a:p>
        </p:txBody>
      </p:sp>
      <p:sp>
        <p:nvSpPr>
          <p:cNvPr id="32" name="Text 30"/>
          <p:cNvSpPr/>
          <p:nvPr/>
        </p:nvSpPr>
        <p:spPr>
          <a:xfrm>
            <a:off x="7242048" y="2368296"/>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6.00x</a:t>
            </a:r>
            <a:endParaRPr lang="en-US" sz="1000"/>
          </a:p>
        </p:txBody>
      </p:sp>
      <p:sp>
        <p:nvSpPr>
          <p:cNvPr id="33" name="Text 31"/>
          <p:cNvSpPr/>
          <p:nvPr/>
        </p:nvSpPr>
        <p:spPr>
          <a:xfrm>
            <a:off x="8339328" y="2368296"/>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24.0x</a:t>
            </a:r>
            <a:endParaRPr lang="en-US" sz="1000"/>
          </a:p>
        </p:txBody>
      </p:sp>
      <p:sp>
        <p:nvSpPr>
          <p:cNvPr id="34" name="Text 32"/>
          <p:cNvSpPr/>
          <p:nvPr/>
        </p:nvSpPr>
        <p:spPr>
          <a:xfrm>
            <a:off x="9710928" y="2368296"/>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n/a (private)</a:t>
            </a:r>
            <a:endParaRPr lang="en-US" sz="1000"/>
          </a:p>
        </p:txBody>
      </p:sp>
      <p:sp>
        <p:nvSpPr>
          <p:cNvPr id="35" name="Shape 33"/>
          <p:cNvSpPr/>
          <p:nvPr/>
        </p:nvSpPr>
        <p:spPr>
          <a:xfrm>
            <a:off x="365760" y="2761488"/>
            <a:ext cx="11475720" cy="393192"/>
          </a:xfrm>
          <a:prstGeom prst="rect">
            <a:avLst/>
          </a:prstGeom>
          <a:solidFill>
            <a:srgbClr val="FFFFFF"/>
          </a:solidFill>
          <a:ln w="3175">
            <a:solidFill>
              <a:srgbClr val="D9D9D9"/>
            </a:solidFill>
            <a:prstDash val="solid"/>
          </a:ln>
        </p:spPr>
        <p:txBody>
          <a:bodyPr/>
          <a:lstStyle/>
          <a:p>
            <a:endParaRPr lang="en-US"/>
          </a:p>
        </p:txBody>
      </p:sp>
      <p:sp>
        <p:nvSpPr>
          <p:cNvPr id="36" name="Text 34"/>
          <p:cNvSpPr/>
          <p:nvPr/>
        </p:nvSpPr>
        <p:spPr>
          <a:xfrm>
            <a:off x="475488" y="2761488"/>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Feb 2021</a:t>
            </a:r>
            <a:endParaRPr lang="en-US" sz="1000"/>
          </a:p>
        </p:txBody>
      </p:sp>
      <p:sp>
        <p:nvSpPr>
          <p:cNvPr id="37" name="Text 35"/>
          <p:cNvSpPr/>
          <p:nvPr/>
        </p:nvSpPr>
        <p:spPr>
          <a:xfrm>
            <a:off x="1664208" y="2761488"/>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EA / Glu Mobile</a:t>
            </a:r>
            <a:endParaRPr lang="en-US" sz="1000"/>
          </a:p>
        </p:txBody>
      </p:sp>
      <p:sp>
        <p:nvSpPr>
          <p:cNvPr id="38" name="Text 36"/>
          <p:cNvSpPr/>
          <p:nvPr/>
        </p:nvSpPr>
        <p:spPr>
          <a:xfrm>
            <a:off x="5779008" y="2761488"/>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$2,100</a:t>
            </a:r>
            <a:endParaRPr lang="en-US" sz="1000"/>
          </a:p>
        </p:txBody>
      </p:sp>
      <p:sp>
        <p:nvSpPr>
          <p:cNvPr id="39" name="Text 37"/>
          <p:cNvSpPr/>
          <p:nvPr/>
        </p:nvSpPr>
        <p:spPr>
          <a:xfrm>
            <a:off x="7242048" y="2761488"/>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3.89x</a:t>
            </a:r>
            <a:endParaRPr lang="en-US" sz="1000"/>
          </a:p>
        </p:txBody>
      </p:sp>
      <p:sp>
        <p:nvSpPr>
          <p:cNvPr id="40" name="Text 38"/>
          <p:cNvSpPr/>
          <p:nvPr/>
        </p:nvSpPr>
        <p:spPr>
          <a:xfrm>
            <a:off x="8339328" y="2761488"/>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27.63x</a:t>
            </a:r>
            <a:endParaRPr lang="en-US" sz="1000"/>
          </a:p>
        </p:txBody>
      </p:sp>
      <p:sp>
        <p:nvSpPr>
          <p:cNvPr id="41" name="Text 39"/>
          <p:cNvSpPr/>
          <p:nvPr/>
        </p:nvSpPr>
        <p:spPr>
          <a:xfrm>
            <a:off x="9710928" y="2761488"/>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36.0%</a:t>
            </a:r>
            <a:endParaRPr lang="en-US" sz="1000"/>
          </a:p>
        </p:txBody>
      </p:sp>
      <p:sp>
        <p:nvSpPr>
          <p:cNvPr id="42" name="Shape 40"/>
          <p:cNvSpPr/>
          <p:nvPr/>
        </p:nvSpPr>
        <p:spPr>
          <a:xfrm>
            <a:off x="365760" y="3154680"/>
            <a:ext cx="11475720" cy="393192"/>
          </a:xfrm>
          <a:prstGeom prst="rect">
            <a:avLst/>
          </a:prstGeom>
          <a:solidFill>
            <a:srgbClr val="F2F2F2"/>
          </a:solidFill>
          <a:ln w="3175">
            <a:solidFill>
              <a:srgbClr val="D9D9D9"/>
            </a:solidFill>
            <a:prstDash val="solid"/>
          </a:ln>
        </p:spPr>
        <p:txBody>
          <a:bodyPr/>
          <a:lstStyle/>
          <a:p>
            <a:endParaRPr lang="en-US"/>
          </a:p>
        </p:txBody>
      </p:sp>
      <p:sp>
        <p:nvSpPr>
          <p:cNvPr id="43" name="Text 41"/>
          <p:cNvSpPr/>
          <p:nvPr/>
        </p:nvSpPr>
        <p:spPr>
          <a:xfrm>
            <a:off x="475488" y="3154680"/>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Jun 2021</a:t>
            </a:r>
            <a:endParaRPr lang="en-US" sz="1000"/>
          </a:p>
        </p:txBody>
      </p:sp>
      <p:sp>
        <p:nvSpPr>
          <p:cNvPr id="44" name="Text 42"/>
          <p:cNvSpPr/>
          <p:nvPr/>
        </p:nvSpPr>
        <p:spPr>
          <a:xfrm>
            <a:off x="1664208" y="3154680"/>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EA / Playdemic (from AT&amp;T)</a:t>
            </a:r>
            <a:endParaRPr lang="en-US" sz="1000"/>
          </a:p>
        </p:txBody>
      </p:sp>
      <p:sp>
        <p:nvSpPr>
          <p:cNvPr id="45" name="Text 43"/>
          <p:cNvSpPr/>
          <p:nvPr/>
        </p:nvSpPr>
        <p:spPr>
          <a:xfrm>
            <a:off x="5779008" y="3154680"/>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$1,400</a:t>
            </a:r>
            <a:endParaRPr lang="en-US" sz="1000"/>
          </a:p>
        </p:txBody>
      </p:sp>
      <p:sp>
        <p:nvSpPr>
          <p:cNvPr id="46" name="Text 44"/>
          <p:cNvSpPr/>
          <p:nvPr/>
        </p:nvSpPr>
        <p:spPr>
          <a:xfrm>
            <a:off x="7242048" y="3154680"/>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7.57x</a:t>
            </a:r>
            <a:endParaRPr lang="en-US" sz="1000"/>
          </a:p>
        </p:txBody>
      </p:sp>
      <p:sp>
        <p:nvSpPr>
          <p:cNvPr id="47" name="Text 45"/>
          <p:cNvSpPr/>
          <p:nvPr/>
        </p:nvSpPr>
        <p:spPr>
          <a:xfrm>
            <a:off x="8339328" y="3154680"/>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21.54x</a:t>
            </a:r>
            <a:endParaRPr lang="en-US" sz="1000"/>
          </a:p>
        </p:txBody>
      </p:sp>
      <p:sp>
        <p:nvSpPr>
          <p:cNvPr id="48" name="Text 46"/>
          <p:cNvSpPr/>
          <p:nvPr/>
        </p:nvSpPr>
        <p:spPr>
          <a:xfrm>
            <a:off x="9710928" y="3154680"/>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n/a (private)</a:t>
            </a:r>
            <a:endParaRPr lang="en-US" sz="1000"/>
          </a:p>
        </p:txBody>
      </p:sp>
      <p:sp>
        <p:nvSpPr>
          <p:cNvPr id="49" name="Shape 47"/>
          <p:cNvSpPr/>
          <p:nvPr/>
        </p:nvSpPr>
        <p:spPr>
          <a:xfrm>
            <a:off x="365760" y="3547872"/>
            <a:ext cx="11475720" cy="393192"/>
          </a:xfrm>
          <a:prstGeom prst="rect">
            <a:avLst/>
          </a:prstGeom>
          <a:solidFill>
            <a:srgbClr val="FFFFFF"/>
          </a:solidFill>
          <a:ln w="3175">
            <a:solidFill>
              <a:srgbClr val="D9D9D9"/>
            </a:solidFill>
            <a:prstDash val="solid"/>
          </a:ln>
        </p:spPr>
        <p:txBody>
          <a:bodyPr/>
          <a:lstStyle/>
          <a:p>
            <a:endParaRPr lang="en-US"/>
          </a:p>
        </p:txBody>
      </p:sp>
      <p:sp>
        <p:nvSpPr>
          <p:cNvPr id="50" name="Text 48"/>
          <p:cNvSpPr/>
          <p:nvPr/>
        </p:nvSpPr>
        <p:spPr>
          <a:xfrm>
            <a:off x="475488" y="3547872"/>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Jun 2016</a:t>
            </a:r>
            <a:endParaRPr lang="en-US" sz="1000"/>
          </a:p>
        </p:txBody>
      </p:sp>
      <p:sp>
        <p:nvSpPr>
          <p:cNvPr id="51" name="Text 49"/>
          <p:cNvSpPr/>
          <p:nvPr/>
        </p:nvSpPr>
        <p:spPr>
          <a:xfrm>
            <a:off x="1664208" y="3547872"/>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Tencent / Supercell</a:t>
            </a:r>
            <a:endParaRPr lang="en-US" sz="1000"/>
          </a:p>
        </p:txBody>
      </p:sp>
      <p:sp>
        <p:nvSpPr>
          <p:cNvPr id="52" name="Text 50"/>
          <p:cNvSpPr/>
          <p:nvPr/>
        </p:nvSpPr>
        <p:spPr>
          <a:xfrm>
            <a:off x="5779008" y="3547872"/>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$10,200</a:t>
            </a:r>
            <a:endParaRPr lang="en-US" sz="1000"/>
          </a:p>
        </p:txBody>
      </p:sp>
      <p:sp>
        <p:nvSpPr>
          <p:cNvPr id="53" name="Text 51"/>
          <p:cNvSpPr/>
          <p:nvPr/>
        </p:nvSpPr>
        <p:spPr>
          <a:xfrm>
            <a:off x="7242048" y="3547872"/>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4.39x</a:t>
            </a:r>
            <a:endParaRPr lang="en-US" sz="1000"/>
          </a:p>
        </p:txBody>
      </p:sp>
      <p:sp>
        <p:nvSpPr>
          <p:cNvPr id="54" name="Text 52"/>
          <p:cNvSpPr/>
          <p:nvPr/>
        </p:nvSpPr>
        <p:spPr>
          <a:xfrm>
            <a:off x="8339328" y="3547872"/>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9.69x</a:t>
            </a:r>
            <a:endParaRPr lang="en-US" sz="1000"/>
          </a:p>
        </p:txBody>
      </p:sp>
      <p:sp>
        <p:nvSpPr>
          <p:cNvPr id="55" name="Text 53"/>
          <p:cNvSpPr/>
          <p:nvPr/>
        </p:nvSpPr>
        <p:spPr>
          <a:xfrm>
            <a:off x="9710928" y="3547872"/>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n/a (private)</a:t>
            </a:r>
            <a:endParaRPr lang="en-US" sz="1000"/>
          </a:p>
        </p:txBody>
      </p:sp>
      <p:sp>
        <p:nvSpPr>
          <p:cNvPr id="56" name="Shape 54"/>
          <p:cNvSpPr/>
          <p:nvPr/>
        </p:nvSpPr>
        <p:spPr>
          <a:xfrm>
            <a:off x="365760" y="3941064"/>
            <a:ext cx="11475720" cy="393192"/>
          </a:xfrm>
          <a:prstGeom prst="rect">
            <a:avLst/>
          </a:prstGeom>
          <a:solidFill>
            <a:srgbClr val="F2F2F2"/>
          </a:solidFill>
          <a:ln w="3175">
            <a:solidFill>
              <a:srgbClr val="D9D9D9"/>
            </a:solidFill>
            <a:prstDash val="solid"/>
          </a:ln>
        </p:spPr>
        <p:txBody>
          <a:bodyPr/>
          <a:lstStyle/>
          <a:p>
            <a:endParaRPr lang="en-US"/>
          </a:p>
        </p:txBody>
      </p:sp>
      <p:sp>
        <p:nvSpPr>
          <p:cNvPr id="57" name="Text 55"/>
          <p:cNvSpPr/>
          <p:nvPr/>
        </p:nvSpPr>
        <p:spPr>
          <a:xfrm>
            <a:off x="475488" y="3941064"/>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Sep 2020</a:t>
            </a:r>
            <a:endParaRPr lang="en-US" sz="1000"/>
          </a:p>
        </p:txBody>
      </p:sp>
      <p:sp>
        <p:nvSpPr>
          <p:cNvPr id="58" name="Text 56"/>
          <p:cNvSpPr/>
          <p:nvPr/>
        </p:nvSpPr>
        <p:spPr>
          <a:xfrm>
            <a:off x="1664208" y="3941064"/>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Microsoft / ZeniMax (excluded outlier)</a:t>
            </a:r>
            <a:endParaRPr lang="en-US" sz="1000"/>
          </a:p>
        </p:txBody>
      </p:sp>
      <p:sp>
        <p:nvSpPr>
          <p:cNvPr id="59" name="Text 57"/>
          <p:cNvSpPr/>
          <p:nvPr/>
        </p:nvSpPr>
        <p:spPr>
          <a:xfrm>
            <a:off x="5779008" y="3941064"/>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$7,500</a:t>
            </a:r>
            <a:endParaRPr lang="en-US" sz="1000"/>
          </a:p>
        </p:txBody>
      </p:sp>
      <p:sp>
        <p:nvSpPr>
          <p:cNvPr id="60" name="Text 58"/>
          <p:cNvSpPr/>
          <p:nvPr/>
        </p:nvSpPr>
        <p:spPr>
          <a:xfrm>
            <a:off x="7242048" y="3941064"/>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16.67x</a:t>
            </a:r>
            <a:endParaRPr lang="en-US" sz="1000"/>
          </a:p>
        </p:txBody>
      </p:sp>
      <p:sp>
        <p:nvSpPr>
          <p:cNvPr id="61" name="Text 59"/>
          <p:cNvSpPr/>
          <p:nvPr/>
        </p:nvSpPr>
        <p:spPr>
          <a:xfrm>
            <a:off x="8339328" y="3941064"/>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50.0x</a:t>
            </a:r>
            <a:endParaRPr lang="en-US" sz="1000"/>
          </a:p>
        </p:txBody>
      </p:sp>
      <p:sp>
        <p:nvSpPr>
          <p:cNvPr id="62" name="Text 60"/>
          <p:cNvSpPr/>
          <p:nvPr/>
        </p:nvSpPr>
        <p:spPr>
          <a:xfrm>
            <a:off x="9710928" y="3941064"/>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n/a (private)</a:t>
            </a:r>
            <a:endParaRPr lang="en-US" sz="1000"/>
          </a:p>
        </p:txBody>
      </p:sp>
      <p:sp>
        <p:nvSpPr>
          <p:cNvPr id="63" name="Shape 61"/>
          <p:cNvSpPr/>
          <p:nvPr/>
        </p:nvSpPr>
        <p:spPr>
          <a:xfrm>
            <a:off x="365760" y="4334256"/>
            <a:ext cx="11475720" cy="393192"/>
          </a:xfrm>
          <a:prstGeom prst="rect">
            <a:avLst/>
          </a:prstGeom>
          <a:solidFill>
            <a:srgbClr val="FFFFFF"/>
          </a:solidFill>
          <a:ln w="3175">
            <a:solidFill>
              <a:srgbClr val="D9D9D9"/>
            </a:solidFill>
            <a:prstDash val="solid"/>
          </a:ln>
        </p:spPr>
        <p:txBody>
          <a:bodyPr/>
          <a:lstStyle/>
          <a:p>
            <a:endParaRPr lang="en-US"/>
          </a:p>
        </p:txBody>
      </p:sp>
      <p:sp>
        <p:nvSpPr>
          <p:cNvPr id="64" name="Text 62"/>
          <p:cNvSpPr/>
          <p:nvPr/>
        </p:nvSpPr>
        <p:spPr>
          <a:xfrm>
            <a:off x="475488" y="4334256"/>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Jul 2024</a:t>
            </a:r>
            <a:endParaRPr lang="en-US" sz="1000"/>
          </a:p>
        </p:txBody>
      </p:sp>
      <p:sp>
        <p:nvSpPr>
          <p:cNvPr id="65" name="Text 63"/>
          <p:cNvSpPr/>
          <p:nvPr/>
        </p:nvSpPr>
        <p:spPr>
          <a:xfrm>
            <a:off x="1664208" y="4334256"/>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EQT / Keywords Studios</a:t>
            </a:r>
            <a:endParaRPr lang="en-US" sz="1000"/>
          </a:p>
        </p:txBody>
      </p:sp>
      <p:sp>
        <p:nvSpPr>
          <p:cNvPr id="66" name="Text 64"/>
          <p:cNvSpPr/>
          <p:nvPr/>
        </p:nvSpPr>
        <p:spPr>
          <a:xfrm>
            <a:off x="5779008" y="4334256"/>
            <a:ext cx="138988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$2,794</a:t>
            </a:r>
            <a:endParaRPr lang="en-US" sz="1000"/>
          </a:p>
        </p:txBody>
      </p:sp>
      <p:sp>
        <p:nvSpPr>
          <p:cNvPr id="67" name="Text 65"/>
          <p:cNvSpPr/>
          <p:nvPr/>
        </p:nvSpPr>
        <p:spPr>
          <a:xfrm>
            <a:off x="7242048" y="4334256"/>
            <a:ext cx="102412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3.33x</a:t>
            </a:r>
            <a:endParaRPr lang="en-US" sz="1000"/>
          </a:p>
        </p:txBody>
      </p:sp>
      <p:sp>
        <p:nvSpPr>
          <p:cNvPr id="68" name="Text 66"/>
          <p:cNvSpPr/>
          <p:nvPr/>
        </p:nvSpPr>
        <p:spPr>
          <a:xfrm>
            <a:off x="8339328" y="4334256"/>
            <a:ext cx="1298448" cy="393192"/>
          </a:xfrm>
          <a:prstGeom prst="rect">
            <a:avLst/>
          </a:prstGeom>
          <a:noFill/>
          <a:ln/>
        </p:spPr>
        <p:txBody>
          <a:bodyPr wrap="square" lIns="0" tIns="0" rIns="0" bIns="0" rtlCol="0" anchor="ctr"/>
          <a:lstStyle/>
          <a:p>
            <a:pPr marL="0" indent="0" algn="r">
              <a:buNone/>
            </a:pPr>
            <a:r>
              <a:rPr lang="en-US" sz="1000">
                <a:solidFill>
                  <a:srgbClr val="1F4E79"/>
                </a:solidFill>
                <a:latin typeface="Calibri" pitchFamily="34" charset="0"/>
                <a:ea typeface="Calibri" pitchFamily="34" charset="-122"/>
                <a:cs typeface="Calibri" pitchFamily="34" charset="-120"/>
              </a:rPr>
              <a:t>16.6x</a:t>
            </a:r>
            <a:endParaRPr lang="en-US" sz="1000"/>
          </a:p>
        </p:txBody>
      </p:sp>
      <p:sp>
        <p:nvSpPr>
          <p:cNvPr id="69" name="Text 67"/>
          <p:cNvSpPr/>
          <p:nvPr/>
        </p:nvSpPr>
        <p:spPr>
          <a:xfrm>
            <a:off x="9710928" y="4334256"/>
            <a:ext cx="2167128" cy="393192"/>
          </a:xfrm>
          <a:prstGeom prst="rect">
            <a:avLst/>
          </a:prstGeom>
          <a:noFill/>
          <a:ln/>
        </p:spPr>
        <p:txBody>
          <a:bodyPr wrap="square" lIns="0" tIns="0" rIns="0" bIns="0" rtlCol="0" anchor="ctr"/>
          <a:lstStyle/>
          <a:p>
            <a:pPr marL="0" indent="0" algn="ctr">
              <a:buNone/>
            </a:pPr>
            <a:r>
              <a:rPr lang="en-US" sz="1000">
                <a:solidFill>
                  <a:srgbClr val="1F4E79"/>
                </a:solidFill>
                <a:latin typeface="Calibri" pitchFamily="34" charset="0"/>
                <a:ea typeface="Calibri" pitchFamily="34" charset="-122"/>
                <a:cs typeface="Calibri" pitchFamily="34" charset="-120"/>
              </a:rPr>
              <a:t>66.7%</a:t>
            </a:r>
            <a:endParaRPr lang="en-US" sz="1000"/>
          </a:p>
        </p:txBody>
      </p:sp>
      <p:sp>
        <p:nvSpPr>
          <p:cNvPr id="70" name="Shape 68"/>
          <p:cNvSpPr/>
          <p:nvPr/>
        </p:nvSpPr>
        <p:spPr>
          <a:xfrm>
            <a:off x="365760" y="4727448"/>
            <a:ext cx="11475720" cy="393192"/>
          </a:xfrm>
          <a:prstGeom prst="rect">
            <a:avLst/>
          </a:prstGeom>
          <a:solidFill>
            <a:srgbClr val="D6E4F0"/>
          </a:solidFill>
          <a:ln w="3175">
            <a:solidFill>
              <a:srgbClr val="D9D9D9"/>
            </a:solidFill>
            <a:prstDash val="solid"/>
          </a:ln>
        </p:spPr>
        <p:txBody>
          <a:bodyPr/>
          <a:lstStyle/>
          <a:p>
            <a:endParaRPr lang="en-US"/>
          </a:p>
        </p:txBody>
      </p:sp>
      <p:sp>
        <p:nvSpPr>
          <p:cNvPr id="71" name="Text 69"/>
          <p:cNvSpPr/>
          <p:nvPr/>
        </p:nvSpPr>
        <p:spPr>
          <a:xfrm>
            <a:off x="475488" y="4727448"/>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MEDIAN (excl. EA, ZeniMax)</a:t>
            </a:r>
            <a:endParaRPr lang="en-US" sz="1000"/>
          </a:p>
        </p:txBody>
      </p:sp>
      <p:sp>
        <p:nvSpPr>
          <p:cNvPr id="72" name="Text 70"/>
          <p:cNvSpPr/>
          <p:nvPr/>
        </p:nvSpPr>
        <p:spPr>
          <a:xfrm>
            <a:off x="1664208" y="4727448"/>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a:t>
            </a:r>
            <a:endParaRPr lang="en-US" sz="1000"/>
          </a:p>
        </p:txBody>
      </p:sp>
      <p:sp>
        <p:nvSpPr>
          <p:cNvPr id="73" name="Text 71"/>
          <p:cNvSpPr/>
          <p:nvPr/>
        </p:nvSpPr>
        <p:spPr>
          <a:xfrm>
            <a:off x="5779008" y="4727448"/>
            <a:ext cx="1389888" cy="39319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a:t>
            </a:r>
            <a:endParaRPr lang="en-US" sz="1000"/>
          </a:p>
        </p:txBody>
      </p:sp>
      <p:sp>
        <p:nvSpPr>
          <p:cNvPr id="74" name="Text 72"/>
          <p:cNvSpPr/>
          <p:nvPr/>
        </p:nvSpPr>
        <p:spPr>
          <a:xfrm>
            <a:off x="7242048" y="4727448"/>
            <a:ext cx="1024128" cy="39319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4.89x</a:t>
            </a:r>
            <a:endParaRPr lang="en-US" sz="1000"/>
          </a:p>
        </p:txBody>
      </p:sp>
      <p:sp>
        <p:nvSpPr>
          <p:cNvPr id="75" name="Text 73"/>
          <p:cNvSpPr/>
          <p:nvPr/>
        </p:nvSpPr>
        <p:spPr>
          <a:xfrm>
            <a:off x="8339328" y="4727448"/>
            <a:ext cx="1298448" cy="39319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21.54x</a:t>
            </a:r>
            <a:endParaRPr lang="en-US" sz="1000"/>
          </a:p>
        </p:txBody>
      </p:sp>
      <p:sp>
        <p:nvSpPr>
          <p:cNvPr id="76" name="Text 74"/>
          <p:cNvSpPr/>
          <p:nvPr/>
        </p:nvSpPr>
        <p:spPr>
          <a:xfrm>
            <a:off x="9710928" y="4727448"/>
            <a:ext cx="2167128" cy="393192"/>
          </a:xfrm>
          <a:prstGeom prst="rect">
            <a:avLst/>
          </a:prstGeom>
          <a:noFill/>
          <a:ln/>
        </p:spPr>
        <p:txBody>
          <a:bodyPr wrap="square" lIns="0" tIns="0" rIns="0" bIns="0" rtlCol="0" anchor="ctr"/>
          <a:lstStyle/>
          <a:p>
            <a:pPr marL="0" indent="0" algn="ctr">
              <a:buNone/>
            </a:pPr>
            <a:r>
              <a:rPr lang="en-US" sz="1000" b="1">
                <a:solidFill>
                  <a:srgbClr val="1F4E79"/>
                </a:solidFill>
                <a:latin typeface="Calibri" pitchFamily="34" charset="0"/>
                <a:ea typeface="Calibri" pitchFamily="34" charset="-122"/>
                <a:cs typeface="Calibri" pitchFamily="34" charset="-120"/>
              </a:rPr>
              <a:t>55%</a:t>
            </a:r>
            <a:endParaRPr lang="en-US" sz="1000"/>
          </a:p>
        </p:txBody>
      </p:sp>
      <p:sp>
        <p:nvSpPr>
          <p:cNvPr id="77" name="Shape 75"/>
          <p:cNvSpPr/>
          <p:nvPr/>
        </p:nvSpPr>
        <p:spPr>
          <a:xfrm>
            <a:off x="365760" y="5120640"/>
            <a:ext cx="11475720" cy="393192"/>
          </a:xfrm>
          <a:prstGeom prst="rect">
            <a:avLst/>
          </a:prstGeom>
          <a:solidFill>
            <a:srgbClr val="EAF2F9"/>
          </a:solidFill>
          <a:ln w="3175">
            <a:solidFill>
              <a:srgbClr val="D9D9D9"/>
            </a:solidFill>
            <a:prstDash val="solid"/>
          </a:ln>
        </p:spPr>
        <p:txBody>
          <a:bodyPr/>
          <a:lstStyle/>
          <a:p>
            <a:endParaRPr lang="en-US"/>
          </a:p>
        </p:txBody>
      </p:sp>
      <p:sp>
        <p:nvSpPr>
          <p:cNvPr id="78" name="Text 76"/>
          <p:cNvSpPr/>
          <p:nvPr/>
        </p:nvSpPr>
        <p:spPr>
          <a:xfrm>
            <a:off x="475488" y="5120640"/>
            <a:ext cx="111556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EA Deal (this transaction)</a:t>
            </a:r>
            <a:endParaRPr lang="en-US" sz="1000"/>
          </a:p>
        </p:txBody>
      </p:sp>
      <p:sp>
        <p:nvSpPr>
          <p:cNvPr id="79" name="Text 77"/>
          <p:cNvSpPr/>
          <p:nvPr/>
        </p:nvSpPr>
        <p:spPr>
          <a:xfrm>
            <a:off x="1664208" y="5120640"/>
            <a:ext cx="4041648" cy="393192"/>
          </a:xfrm>
          <a:prstGeom prst="rect">
            <a:avLst/>
          </a:prstGeom>
          <a:noFill/>
          <a:ln/>
        </p:spPr>
        <p:txBody>
          <a:bodyPr wrap="square" lIns="0" tIns="0" rIns="0" bIns="0" rtlCol="0" anchor="ctr"/>
          <a:lstStyle/>
          <a:p>
            <a:pPr marL="0" indent="0" algn="l">
              <a:buNone/>
            </a:pPr>
            <a:r>
              <a:rPr lang="en-US" sz="1000" b="1">
                <a:solidFill>
                  <a:srgbClr val="1F4E79"/>
                </a:solidFill>
                <a:latin typeface="Calibri" pitchFamily="34" charset="0"/>
                <a:ea typeface="Calibri" pitchFamily="34" charset="-122"/>
                <a:cs typeface="Calibri" pitchFamily="34" charset="-120"/>
              </a:rPr>
              <a:t>PIF/SL/Affinity</a:t>
            </a:r>
            <a:endParaRPr lang="en-US" sz="1000"/>
          </a:p>
        </p:txBody>
      </p:sp>
      <p:sp>
        <p:nvSpPr>
          <p:cNvPr id="80" name="Text 78"/>
          <p:cNvSpPr/>
          <p:nvPr/>
        </p:nvSpPr>
        <p:spPr>
          <a:xfrm>
            <a:off x="5779008" y="5120640"/>
            <a:ext cx="1389888" cy="39319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$55,000</a:t>
            </a:r>
            <a:endParaRPr lang="en-US" sz="1000"/>
          </a:p>
        </p:txBody>
      </p:sp>
      <p:sp>
        <p:nvSpPr>
          <p:cNvPr id="81" name="Text 79"/>
          <p:cNvSpPr/>
          <p:nvPr/>
        </p:nvSpPr>
        <p:spPr>
          <a:xfrm>
            <a:off x="7242048" y="5120640"/>
            <a:ext cx="1024128" cy="39319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7.55x</a:t>
            </a:r>
            <a:endParaRPr lang="en-US" sz="1000"/>
          </a:p>
        </p:txBody>
      </p:sp>
      <p:sp>
        <p:nvSpPr>
          <p:cNvPr id="82" name="Text 80"/>
          <p:cNvSpPr/>
          <p:nvPr/>
        </p:nvSpPr>
        <p:spPr>
          <a:xfrm>
            <a:off x="8339328" y="5120640"/>
            <a:ext cx="1298448" cy="393192"/>
          </a:xfrm>
          <a:prstGeom prst="rect">
            <a:avLst/>
          </a:prstGeom>
          <a:noFill/>
          <a:ln/>
        </p:spPr>
        <p:txBody>
          <a:bodyPr wrap="square" lIns="0" tIns="0" rIns="0" bIns="0" rtlCol="0" anchor="ctr"/>
          <a:lstStyle/>
          <a:p>
            <a:pPr marL="0" indent="0" algn="r">
              <a:buNone/>
            </a:pPr>
            <a:r>
              <a:rPr lang="en-US" sz="1000" b="1">
                <a:solidFill>
                  <a:srgbClr val="1F4E79"/>
                </a:solidFill>
                <a:latin typeface="Calibri" pitchFamily="34" charset="0"/>
                <a:ea typeface="Calibri" pitchFamily="34" charset="-122"/>
                <a:cs typeface="Calibri" pitchFamily="34" charset="-120"/>
              </a:rPr>
              <a:t>21.0x</a:t>
            </a:r>
            <a:endParaRPr lang="en-US" sz="1000"/>
          </a:p>
        </p:txBody>
      </p:sp>
      <p:sp>
        <p:nvSpPr>
          <p:cNvPr id="83" name="Text 81"/>
          <p:cNvSpPr/>
          <p:nvPr/>
        </p:nvSpPr>
        <p:spPr>
          <a:xfrm>
            <a:off x="9710928" y="5120640"/>
            <a:ext cx="2167128" cy="393192"/>
          </a:xfrm>
          <a:prstGeom prst="rect">
            <a:avLst/>
          </a:prstGeom>
          <a:noFill/>
          <a:ln/>
        </p:spPr>
        <p:txBody>
          <a:bodyPr wrap="square" lIns="0" tIns="0" rIns="0" bIns="0" rtlCol="0" anchor="ctr"/>
          <a:lstStyle/>
          <a:p>
            <a:pPr marL="0" indent="0" algn="ctr">
              <a:buNone/>
            </a:pPr>
            <a:r>
              <a:rPr lang="en-US" sz="1000" b="1">
                <a:solidFill>
                  <a:srgbClr val="1F4E79"/>
                </a:solidFill>
                <a:latin typeface="Calibri" pitchFamily="34" charset="0"/>
                <a:ea typeface="Calibri" pitchFamily="34" charset="-122"/>
                <a:cs typeface="Calibri" pitchFamily="34" charset="-120"/>
              </a:rPr>
              <a:t>24.8%</a:t>
            </a:r>
            <a:endParaRPr lang="en-US" sz="1000"/>
          </a:p>
        </p:txBody>
      </p:sp>
      <p:sp>
        <p:nvSpPr>
          <p:cNvPr id="84" name="Text 82"/>
          <p:cNvSpPr/>
          <p:nvPr/>
        </p:nvSpPr>
        <p:spPr>
          <a:xfrm>
            <a:off x="357987" y="6181344"/>
            <a:ext cx="11475720" cy="365760"/>
          </a:xfrm>
          <a:prstGeom prst="rect">
            <a:avLst/>
          </a:prstGeom>
          <a:noFill/>
          <a:ln/>
        </p:spPr>
        <p:txBody>
          <a:bodyPr wrap="square" lIns="0" tIns="0" rIns="0" bIns="0" rtlCol="0" anchor="t"/>
          <a:lstStyle/>
          <a:p>
            <a:pPr marL="0" indent="0" algn="ctr">
              <a:buNone/>
            </a:pPr>
            <a:r>
              <a:rPr lang="en-US" sz="900" i="1">
                <a:solidFill>
                  <a:srgbClr val="595959"/>
                </a:solidFill>
                <a:latin typeface="Calibri" pitchFamily="34" charset="0"/>
                <a:ea typeface="Calibri" pitchFamily="34" charset="-122"/>
                <a:cs typeface="Calibri" pitchFamily="34" charset="-120"/>
              </a:rPr>
              <a:t>Source: SEC filings + PitchBook. ZeniMax excluded as strategic-acquirer outlier (50.0x reflects Microsoft-specific synergies that do not generalize to a financial sponsor).</a:t>
            </a:r>
            <a:endParaRPr lang="en-US" sz="9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A6 — Comparable Companies Detail</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A6</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457200" y="1005840"/>
            <a:ext cx="11277295" cy="457200"/>
          </a:xfrm>
          <a:prstGeom prst="rect">
            <a:avLst/>
          </a:prstGeom>
          <a:noFill/>
          <a:ln/>
        </p:spPr>
        <p:txBody>
          <a:bodyPr wrap="square" lIns="0" tIns="0" rIns="0" bIns="0" rtlCol="0" anchor="ctr"/>
          <a:lstStyle/>
          <a:p>
            <a:pPr marL="0" indent="0" algn="l">
              <a:buNone/>
            </a:pPr>
            <a:r>
              <a:rPr lang="en-US" sz="1100" i="1">
                <a:solidFill>
                  <a:srgbClr val="595959"/>
                </a:solidFill>
                <a:latin typeface="Calibri" pitchFamily="34" charset="0"/>
                <a:ea typeface="Calibri" pitchFamily="34" charset="-122"/>
                <a:cs typeface="Calibri" pitchFamily="34" charset="-120"/>
              </a:rPr>
              <a:t>Six gaming peers for FY27E EV/EBITDA range. EA's FY27E Adj. EBITDA of $3,003M (per DEFA14A management forecasts) bridged to per-share equity using 258.7M diluted shares.</a:t>
            </a:r>
            <a:endParaRPr lang="en-US" sz="1100"/>
          </a:p>
        </p:txBody>
      </p:sp>
      <p:sp>
        <p:nvSpPr>
          <p:cNvPr id="8" name="Shape 6"/>
          <p:cNvSpPr/>
          <p:nvPr/>
        </p:nvSpPr>
        <p:spPr>
          <a:xfrm>
            <a:off x="289408" y="1691640"/>
            <a:ext cx="3749040" cy="146304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9" name="Shape 7"/>
          <p:cNvSpPr/>
          <p:nvPr/>
        </p:nvSpPr>
        <p:spPr>
          <a:xfrm>
            <a:off x="289408" y="1691640"/>
            <a:ext cx="3749040" cy="411480"/>
          </a:xfrm>
          <a:prstGeom prst="rect">
            <a:avLst/>
          </a:prstGeom>
          <a:solidFill>
            <a:srgbClr val="1F4E79"/>
          </a:solidFill>
          <a:ln/>
        </p:spPr>
        <p:txBody>
          <a:bodyPr/>
          <a:lstStyle/>
          <a:p>
            <a:endParaRPr lang="en-US"/>
          </a:p>
        </p:txBody>
      </p:sp>
      <p:sp>
        <p:nvSpPr>
          <p:cNvPr id="10" name="Text 8"/>
          <p:cNvSpPr/>
          <p:nvPr/>
        </p:nvSpPr>
        <p:spPr>
          <a:xfrm>
            <a:off x="426568" y="1691640"/>
            <a:ext cx="347472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Take-Two (TTWO)</a:t>
            </a:r>
            <a:endParaRPr lang="en-US" sz="1200"/>
          </a:p>
        </p:txBody>
      </p:sp>
      <p:sp>
        <p:nvSpPr>
          <p:cNvPr id="11" name="Text 9"/>
          <p:cNvSpPr/>
          <p:nvPr/>
        </p:nvSpPr>
        <p:spPr>
          <a:xfrm>
            <a:off x="426568" y="2194560"/>
            <a:ext cx="3474720" cy="8686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Excluded from median — 55.5x outlier depressed by pre-GTA-VI EBITDA cycle</a:t>
            </a:r>
            <a:endParaRPr lang="en-US" sz="1000"/>
          </a:p>
        </p:txBody>
      </p:sp>
      <p:sp>
        <p:nvSpPr>
          <p:cNvPr id="12" name="Shape 10"/>
          <p:cNvSpPr/>
          <p:nvPr/>
        </p:nvSpPr>
        <p:spPr>
          <a:xfrm>
            <a:off x="4221328" y="1691640"/>
            <a:ext cx="3749040" cy="146304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3" name="Shape 11"/>
          <p:cNvSpPr/>
          <p:nvPr/>
        </p:nvSpPr>
        <p:spPr>
          <a:xfrm>
            <a:off x="4221328" y="1691640"/>
            <a:ext cx="3749040" cy="411480"/>
          </a:xfrm>
          <a:prstGeom prst="rect">
            <a:avLst/>
          </a:prstGeom>
          <a:solidFill>
            <a:srgbClr val="1F4E79"/>
          </a:solidFill>
          <a:ln/>
        </p:spPr>
        <p:txBody>
          <a:bodyPr/>
          <a:lstStyle/>
          <a:p>
            <a:endParaRPr lang="en-US"/>
          </a:p>
        </p:txBody>
      </p:sp>
      <p:sp>
        <p:nvSpPr>
          <p:cNvPr id="14" name="Text 12"/>
          <p:cNvSpPr/>
          <p:nvPr/>
        </p:nvSpPr>
        <p:spPr>
          <a:xfrm>
            <a:off x="4358488" y="1691640"/>
            <a:ext cx="347472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Ubisoft (UBI.PA)</a:t>
            </a:r>
            <a:endParaRPr lang="en-US" sz="1200"/>
          </a:p>
        </p:txBody>
      </p:sp>
      <p:sp>
        <p:nvSpPr>
          <p:cNvPr id="15" name="Text 13"/>
          <p:cNvSpPr/>
          <p:nvPr/>
        </p:nvSpPr>
        <p:spPr>
          <a:xfrm>
            <a:off x="4358488" y="2194560"/>
            <a:ext cx="3474720" cy="8686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Special situation post-Tencent / Vantage Studios spin (Nov 2025)</a:t>
            </a:r>
            <a:endParaRPr lang="en-US" sz="1000"/>
          </a:p>
        </p:txBody>
      </p:sp>
      <p:sp>
        <p:nvSpPr>
          <p:cNvPr id="16" name="Shape 14"/>
          <p:cNvSpPr/>
          <p:nvPr/>
        </p:nvSpPr>
        <p:spPr>
          <a:xfrm>
            <a:off x="8153248" y="1691640"/>
            <a:ext cx="3749040" cy="146304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7" name="Shape 15"/>
          <p:cNvSpPr/>
          <p:nvPr/>
        </p:nvSpPr>
        <p:spPr>
          <a:xfrm>
            <a:off x="8153248" y="1691640"/>
            <a:ext cx="3749040" cy="411480"/>
          </a:xfrm>
          <a:prstGeom prst="rect">
            <a:avLst/>
          </a:prstGeom>
          <a:solidFill>
            <a:srgbClr val="1F4E79"/>
          </a:solidFill>
          <a:ln/>
        </p:spPr>
        <p:txBody>
          <a:bodyPr/>
          <a:lstStyle/>
          <a:p>
            <a:endParaRPr lang="en-US"/>
          </a:p>
        </p:txBody>
      </p:sp>
      <p:sp>
        <p:nvSpPr>
          <p:cNvPr id="18" name="Text 16"/>
          <p:cNvSpPr/>
          <p:nvPr/>
        </p:nvSpPr>
        <p:spPr>
          <a:xfrm>
            <a:off x="8290408" y="1691640"/>
            <a:ext cx="347472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Capcom (9697.T)</a:t>
            </a:r>
            <a:endParaRPr lang="en-US" sz="1200"/>
          </a:p>
        </p:txBody>
      </p:sp>
      <p:sp>
        <p:nvSpPr>
          <p:cNvPr id="19" name="Text 17"/>
          <p:cNvSpPr/>
          <p:nvPr/>
        </p:nvSpPr>
        <p:spPr>
          <a:xfrm>
            <a:off x="8290408" y="2194560"/>
            <a:ext cx="3474720" cy="8686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Premium franchise model; multiples reflect Resident Evil / Monster Hunter strength</a:t>
            </a:r>
            <a:endParaRPr lang="en-US" sz="1000"/>
          </a:p>
        </p:txBody>
      </p:sp>
      <p:sp>
        <p:nvSpPr>
          <p:cNvPr id="20" name="Shape 18"/>
          <p:cNvSpPr/>
          <p:nvPr/>
        </p:nvSpPr>
        <p:spPr>
          <a:xfrm>
            <a:off x="289408" y="3337560"/>
            <a:ext cx="3749040" cy="146304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1" name="Shape 19"/>
          <p:cNvSpPr/>
          <p:nvPr/>
        </p:nvSpPr>
        <p:spPr>
          <a:xfrm>
            <a:off x="289408" y="3337560"/>
            <a:ext cx="3749040" cy="411480"/>
          </a:xfrm>
          <a:prstGeom prst="rect">
            <a:avLst/>
          </a:prstGeom>
          <a:solidFill>
            <a:srgbClr val="1F4E79"/>
          </a:solidFill>
          <a:ln/>
        </p:spPr>
        <p:txBody>
          <a:bodyPr/>
          <a:lstStyle/>
          <a:p>
            <a:endParaRPr lang="en-US"/>
          </a:p>
        </p:txBody>
      </p:sp>
      <p:sp>
        <p:nvSpPr>
          <p:cNvPr id="22" name="Text 20"/>
          <p:cNvSpPr/>
          <p:nvPr/>
        </p:nvSpPr>
        <p:spPr>
          <a:xfrm>
            <a:off x="426568" y="3337560"/>
            <a:ext cx="347472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Square Enix (9684.T)</a:t>
            </a:r>
            <a:endParaRPr lang="en-US" sz="1200"/>
          </a:p>
        </p:txBody>
      </p:sp>
      <p:sp>
        <p:nvSpPr>
          <p:cNvPr id="23" name="Text 21"/>
          <p:cNvSpPr/>
          <p:nvPr/>
        </p:nvSpPr>
        <p:spPr>
          <a:xfrm>
            <a:off x="426568" y="3840480"/>
            <a:ext cx="3474720" cy="8686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Mixed-quality portfolio; multiples reflect transition from console to mobile</a:t>
            </a:r>
            <a:endParaRPr lang="en-US" sz="1000"/>
          </a:p>
        </p:txBody>
      </p:sp>
      <p:sp>
        <p:nvSpPr>
          <p:cNvPr id="24" name="Shape 22"/>
          <p:cNvSpPr/>
          <p:nvPr/>
        </p:nvSpPr>
        <p:spPr>
          <a:xfrm>
            <a:off x="4221328" y="3337560"/>
            <a:ext cx="3749040" cy="146304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5" name="Shape 23"/>
          <p:cNvSpPr/>
          <p:nvPr/>
        </p:nvSpPr>
        <p:spPr>
          <a:xfrm>
            <a:off x="4221328" y="3337560"/>
            <a:ext cx="3749040" cy="411480"/>
          </a:xfrm>
          <a:prstGeom prst="rect">
            <a:avLst/>
          </a:prstGeom>
          <a:solidFill>
            <a:srgbClr val="1F4E79"/>
          </a:solidFill>
          <a:ln/>
        </p:spPr>
        <p:txBody>
          <a:bodyPr/>
          <a:lstStyle/>
          <a:p>
            <a:endParaRPr lang="en-US"/>
          </a:p>
        </p:txBody>
      </p:sp>
      <p:sp>
        <p:nvSpPr>
          <p:cNvPr id="26" name="Text 24"/>
          <p:cNvSpPr/>
          <p:nvPr/>
        </p:nvSpPr>
        <p:spPr>
          <a:xfrm>
            <a:off x="4358488" y="3337560"/>
            <a:ext cx="347472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Krafton (259960.KS)</a:t>
            </a:r>
            <a:endParaRPr lang="en-US" sz="1200"/>
          </a:p>
        </p:txBody>
      </p:sp>
      <p:sp>
        <p:nvSpPr>
          <p:cNvPr id="27" name="Text 25"/>
          <p:cNvSpPr/>
          <p:nvPr/>
        </p:nvSpPr>
        <p:spPr>
          <a:xfrm>
            <a:off x="4358488" y="3840480"/>
            <a:ext cx="3474720" cy="8686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PUBG dependence; strong margins (31.1%) but concentrated franchise risk</a:t>
            </a:r>
            <a:endParaRPr lang="en-US" sz="1000"/>
          </a:p>
        </p:txBody>
      </p:sp>
      <p:sp>
        <p:nvSpPr>
          <p:cNvPr id="28" name="Shape 26"/>
          <p:cNvSpPr/>
          <p:nvPr/>
        </p:nvSpPr>
        <p:spPr>
          <a:xfrm>
            <a:off x="8153248" y="3337560"/>
            <a:ext cx="3749040" cy="146304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9" name="Shape 27"/>
          <p:cNvSpPr/>
          <p:nvPr/>
        </p:nvSpPr>
        <p:spPr>
          <a:xfrm>
            <a:off x="8153248" y="3337560"/>
            <a:ext cx="3749040" cy="411480"/>
          </a:xfrm>
          <a:prstGeom prst="rect">
            <a:avLst/>
          </a:prstGeom>
          <a:solidFill>
            <a:srgbClr val="1F4E79"/>
          </a:solidFill>
          <a:ln/>
        </p:spPr>
        <p:txBody>
          <a:bodyPr/>
          <a:lstStyle/>
          <a:p>
            <a:endParaRPr lang="en-US"/>
          </a:p>
        </p:txBody>
      </p:sp>
      <p:sp>
        <p:nvSpPr>
          <p:cNvPr id="30" name="Text 28"/>
          <p:cNvSpPr/>
          <p:nvPr/>
        </p:nvSpPr>
        <p:spPr>
          <a:xfrm>
            <a:off x="8290408" y="3337560"/>
            <a:ext cx="347472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NetEase (NTES)</a:t>
            </a:r>
            <a:endParaRPr lang="en-US" sz="1200"/>
          </a:p>
        </p:txBody>
      </p:sp>
      <p:sp>
        <p:nvSpPr>
          <p:cNvPr id="31" name="Text 29"/>
          <p:cNvSpPr/>
          <p:nvPr/>
        </p:nvSpPr>
        <p:spPr>
          <a:xfrm>
            <a:off x="8290408" y="3840480"/>
            <a:ext cx="3474720" cy="8686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China gaming benchmark; trades at China-discount multiples relative to global peers</a:t>
            </a:r>
            <a:endParaRPr lang="en-US" sz="1000"/>
          </a:p>
        </p:txBody>
      </p:sp>
      <p:sp>
        <p:nvSpPr>
          <p:cNvPr id="32" name="Shape 30"/>
          <p:cNvSpPr/>
          <p:nvPr/>
        </p:nvSpPr>
        <p:spPr>
          <a:xfrm>
            <a:off x="457200" y="5029200"/>
            <a:ext cx="11277295" cy="1097280"/>
          </a:xfrm>
          <a:prstGeom prst="rect">
            <a:avLst/>
          </a:prstGeom>
          <a:solidFill>
            <a:srgbClr val="EAF2F9"/>
          </a:solidFill>
          <a:ln w="12700">
            <a:solidFill>
              <a:srgbClr val="2E75B6"/>
            </a:solidFill>
            <a:prstDash val="solid"/>
          </a:ln>
        </p:spPr>
        <p:txBody>
          <a:bodyPr/>
          <a:lstStyle/>
          <a:p>
            <a:endParaRPr lang="en-US"/>
          </a:p>
        </p:txBody>
      </p:sp>
      <p:sp>
        <p:nvSpPr>
          <p:cNvPr id="33" name="Text 31"/>
          <p:cNvSpPr/>
          <p:nvPr/>
        </p:nvSpPr>
        <p:spPr>
          <a:xfrm>
            <a:off x="640080" y="5120640"/>
            <a:ext cx="10972800" cy="365760"/>
          </a:xfrm>
          <a:prstGeom prst="rect">
            <a:avLst/>
          </a:prstGeom>
          <a:noFill/>
          <a:ln/>
        </p:spPr>
        <p:txBody>
          <a:bodyPr wrap="square" lIns="0" tIns="0" rIns="0" bIns="0" rtlCol="0" anchor="ctr"/>
          <a:lstStyle/>
          <a:p>
            <a:pPr marL="0" indent="0" algn="l">
              <a:buNone/>
            </a:pPr>
            <a:r>
              <a:rPr lang="en-US" sz="1400" b="1">
                <a:solidFill>
                  <a:srgbClr val="1F4E79"/>
                </a:solidFill>
                <a:latin typeface="Calibri" pitchFamily="34" charset="0"/>
                <a:ea typeface="Calibri" pitchFamily="34" charset="-122"/>
                <a:cs typeface="Calibri" pitchFamily="34" charset="-120"/>
              </a:rPr>
              <a:t>Applied Range: 14.0x – 20.0x EV/FY27E EBITDA</a:t>
            </a:r>
            <a:endParaRPr lang="en-US" sz="1400"/>
          </a:p>
        </p:txBody>
      </p:sp>
      <p:sp>
        <p:nvSpPr>
          <p:cNvPr id="34" name="Text 32"/>
          <p:cNvSpPr/>
          <p:nvPr/>
        </p:nvSpPr>
        <p:spPr>
          <a:xfrm>
            <a:off x="640080" y="5440680"/>
            <a:ext cx="10972800" cy="640080"/>
          </a:xfrm>
          <a:prstGeom prst="rect">
            <a:avLst/>
          </a:prstGeom>
          <a:noFill/>
          <a:ln/>
        </p:spPr>
        <p:txBody>
          <a:bodyPr wrap="square" lIns="0" tIns="0" rIns="0" bIns="0" rtlCol="0" anchor="t"/>
          <a:lstStyle/>
          <a:p>
            <a:pPr marL="0" indent="0" algn="l">
              <a:buNone/>
            </a:pPr>
            <a:r>
              <a:rPr lang="en-US" sz="1100">
                <a:solidFill>
                  <a:srgbClr val="595959"/>
                </a:solidFill>
                <a:latin typeface="Calibri" pitchFamily="34" charset="0"/>
                <a:ea typeface="Calibri" pitchFamily="34" charset="-122"/>
                <a:cs typeface="Calibri" pitchFamily="34" charset="-120"/>
              </a:rPr>
              <a:t>Implies $163.92 – $233.57 per share. $210 falls at the 66th percentile (mid-upper). Median peer (~16x) plus an explicit haircut/premium for execution risk anchors the central tendency. Take-Two's 55.5x outlier excluded.</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A7 — DCF Sensitivity Grid (Reconstructed from Goldman)</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A7</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457200" y="1005840"/>
            <a:ext cx="11277295" cy="411480"/>
          </a:xfrm>
          <a:prstGeom prst="rect">
            <a:avLst/>
          </a:prstGeom>
          <a:noFill/>
          <a:ln/>
        </p:spPr>
        <p:txBody>
          <a:bodyPr wrap="square" lIns="0" tIns="0" rIns="0" bIns="0" rtlCol="0" anchor="ctr"/>
          <a:lstStyle/>
          <a:p>
            <a:pPr marL="0" indent="0" algn="ctr">
              <a:buNone/>
            </a:pPr>
            <a:r>
              <a:rPr lang="en-US" sz="1100" i="1">
                <a:solidFill>
                  <a:srgbClr val="595959"/>
                </a:solidFill>
                <a:latin typeface="Calibri" pitchFamily="34" charset="0"/>
                <a:ea typeface="Calibri" pitchFamily="34" charset="-122"/>
                <a:cs typeface="Calibri" pitchFamily="34" charset="-120"/>
              </a:rPr>
              <a:t>Goldman methodology: 7.5–9.5% WACC range; 2.0–3.0% TGR; mid-year discounting. Reconstructed from disclosed corners ($137 low, $220 high) within $3–$6 per share.</a:t>
            </a:r>
            <a:endParaRPr lang="en-US" sz="1100"/>
          </a:p>
        </p:txBody>
      </p:sp>
      <p:sp>
        <p:nvSpPr>
          <p:cNvPr id="8" name="Shape 6"/>
          <p:cNvSpPr/>
          <p:nvPr/>
        </p:nvSpPr>
        <p:spPr>
          <a:xfrm>
            <a:off x="3128210" y="1645920"/>
            <a:ext cx="1463040" cy="502920"/>
          </a:xfrm>
          <a:prstGeom prst="rect">
            <a:avLst/>
          </a:prstGeom>
          <a:solidFill>
            <a:srgbClr val="1F4E79"/>
          </a:solidFill>
          <a:ln w="6350">
            <a:solidFill>
              <a:srgbClr val="D9D9D9"/>
            </a:solidFill>
            <a:prstDash val="solid"/>
          </a:ln>
        </p:spPr>
        <p:txBody>
          <a:bodyPr/>
          <a:lstStyle/>
          <a:p>
            <a:endParaRPr lang="en-US"/>
          </a:p>
        </p:txBody>
      </p:sp>
      <p:sp>
        <p:nvSpPr>
          <p:cNvPr id="9" name="Text 7"/>
          <p:cNvSpPr/>
          <p:nvPr/>
        </p:nvSpPr>
        <p:spPr>
          <a:xfrm>
            <a:off x="3128210" y="1645920"/>
            <a:ext cx="1463040" cy="50292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WACC \ TGR</a:t>
            </a:r>
            <a:endParaRPr lang="en-US" sz="1100"/>
          </a:p>
        </p:txBody>
      </p:sp>
      <p:sp>
        <p:nvSpPr>
          <p:cNvPr id="10" name="Shape 8"/>
          <p:cNvSpPr/>
          <p:nvPr/>
        </p:nvSpPr>
        <p:spPr>
          <a:xfrm>
            <a:off x="4591250" y="1645920"/>
            <a:ext cx="1463040" cy="502920"/>
          </a:xfrm>
          <a:prstGeom prst="rect">
            <a:avLst/>
          </a:prstGeom>
          <a:solidFill>
            <a:srgbClr val="1F4E79"/>
          </a:solidFill>
          <a:ln w="6350">
            <a:solidFill>
              <a:srgbClr val="D9D9D9"/>
            </a:solidFill>
            <a:prstDash val="solid"/>
          </a:ln>
        </p:spPr>
        <p:txBody>
          <a:bodyPr/>
          <a:lstStyle/>
          <a:p>
            <a:endParaRPr lang="en-US"/>
          </a:p>
        </p:txBody>
      </p:sp>
      <p:sp>
        <p:nvSpPr>
          <p:cNvPr id="11" name="Text 9"/>
          <p:cNvSpPr/>
          <p:nvPr/>
        </p:nvSpPr>
        <p:spPr>
          <a:xfrm>
            <a:off x="4591250" y="164592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2.0%</a:t>
            </a:r>
            <a:endParaRPr lang="en-US" sz="1200"/>
          </a:p>
        </p:txBody>
      </p:sp>
      <p:sp>
        <p:nvSpPr>
          <p:cNvPr id="12" name="Shape 10"/>
          <p:cNvSpPr/>
          <p:nvPr/>
        </p:nvSpPr>
        <p:spPr>
          <a:xfrm>
            <a:off x="6054290" y="1645920"/>
            <a:ext cx="1463040" cy="502920"/>
          </a:xfrm>
          <a:prstGeom prst="rect">
            <a:avLst/>
          </a:prstGeom>
          <a:solidFill>
            <a:srgbClr val="1F4E79"/>
          </a:solidFill>
          <a:ln w="6350">
            <a:solidFill>
              <a:srgbClr val="D9D9D9"/>
            </a:solidFill>
            <a:prstDash val="solid"/>
          </a:ln>
        </p:spPr>
        <p:txBody>
          <a:bodyPr/>
          <a:lstStyle/>
          <a:p>
            <a:endParaRPr lang="en-US"/>
          </a:p>
        </p:txBody>
      </p:sp>
      <p:sp>
        <p:nvSpPr>
          <p:cNvPr id="13" name="Text 11"/>
          <p:cNvSpPr/>
          <p:nvPr/>
        </p:nvSpPr>
        <p:spPr>
          <a:xfrm>
            <a:off x="6054290" y="164592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2.5%</a:t>
            </a:r>
            <a:endParaRPr lang="en-US" sz="1200"/>
          </a:p>
        </p:txBody>
      </p:sp>
      <p:sp>
        <p:nvSpPr>
          <p:cNvPr id="14" name="Shape 12"/>
          <p:cNvSpPr/>
          <p:nvPr/>
        </p:nvSpPr>
        <p:spPr>
          <a:xfrm>
            <a:off x="7517330" y="1645920"/>
            <a:ext cx="1463040" cy="502920"/>
          </a:xfrm>
          <a:prstGeom prst="rect">
            <a:avLst/>
          </a:prstGeom>
          <a:solidFill>
            <a:srgbClr val="1F4E79"/>
          </a:solidFill>
          <a:ln w="6350">
            <a:solidFill>
              <a:srgbClr val="D9D9D9"/>
            </a:solidFill>
            <a:prstDash val="solid"/>
          </a:ln>
        </p:spPr>
        <p:txBody>
          <a:bodyPr/>
          <a:lstStyle/>
          <a:p>
            <a:endParaRPr lang="en-US"/>
          </a:p>
        </p:txBody>
      </p:sp>
      <p:sp>
        <p:nvSpPr>
          <p:cNvPr id="15" name="Text 13"/>
          <p:cNvSpPr/>
          <p:nvPr/>
        </p:nvSpPr>
        <p:spPr>
          <a:xfrm>
            <a:off x="7517330" y="164592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3.0%</a:t>
            </a:r>
            <a:endParaRPr lang="en-US" sz="1200"/>
          </a:p>
        </p:txBody>
      </p:sp>
      <p:sp>
        <p:nvSpPr>
          <p:cNvPr id="16" name="Shape 14"/>
          <p:cNvSpPr/>
          <p:nvPr/>
        </p:nvSpPr>
        <p:spPr>
          <a:xfrm>
            <a:off x="3128210" y="2148840"/>
            <a:ext cx="1463040" cy="502920"/>
          </a:xfrm>
          <a:prstGeom prst="rect">
            <a:avLst/>
          </a:prstGeom>
          <a:solidFill>
            <a:srgbClr val="1F4E79"/>
          </a:solidFill>
          <a:ln w="6350">
            <a:solidFill>
              <a:srgbClr val="D9D9D9"/>
            </a:solidFill>
            <a:prstDash val="solid"/>
          </a:ln>
        </p:spPr>
        <p:txBody>
          <a:bodyPr/>
          <a:lstStyle/>
          <a:p>
            <a:endParaRPr lang="en-US"/>
          </a:p>
        </p:txBody>
      </p:sp>
      <p:sp>
        <p:nvSpPr>
          <p:cNvPr id="17" name="Text 15"/>
          <p:cNvSpPr/>
          <p:nvPr/>
        </p:nvSpPr>
        <p:spPr>
          <a:xfrm>
            <a:off x="3128210" y="214884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7.5%</a:t>
            </a:r>
            <a:endParaRPr lang="en-US" sz="1200"/>
          </a:p>
        </p:txBody>
      </p:sp>
      <p:sp>
        <p:nvSpPr>
          <p:cNvPr id="18" name="Shape 16"/>
          <p:cNvSpPr/>
          <p:nvPr/>
        </p:nvSpPr>
        <p:spPr>
          <a:xfrm>
            <a:off x="4591250" y="2148840"/>
            <a:ext cx="1463040" cy="502920"/>
          </a:xfrm>
          <a:prstGeom prst="rect">
            <a:avLst/>
          </a:prstGeom>
          <a:solidFill>
            <a:srgbClr val="FFFFFF"/>
          </a:solidFill>
          <a:ln w="6350">
            <a:solidFill>
              <a:srgbClr val="D9D9D9"/>
            </a:solidFill>
            <a:prstDash val="solid"/>
          </a:ln>
        </p:spPr>
        <p:txBody>
          <a:bodyPr/>
          <a:lstStyle/>
          <a:p>
            <a:endParaRPr lang="en-US"/>
          </a:p>
        </p:txBody>
      </p:sp>
      <p:sp>
        <p:nvSpPr>
          <p:cNvPr id="19" name="Text 17"/>
          <p:cNvSpPr/>
          <p:nvPr/>
        </p:nvSpPr>
        <p:spPr>
          <a:xfrm>
            <a:off x="4591250" y="214884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$182</a:t>
            </a:r>
            <a:endParaRPr lang="en-US" sz="1300"/>
          </a:p>
        </p:txBody>
      </p:sp>
      <p:sp>
        <p:nvSpPr>
          <p:cNvPr id="20" name="Shape 18"/>
          <p:cNvSpPr/>
          <p:nvPr/>
        </p:nvSpPr>
        <p:spPr>
          <a:xfrm>
            <a:off x="6054290" y="2148840"/>
            <a:ext cx="1463040" cy="502920"/>
          </a:xfrm>
          <a:prstGeom prst="rect">
            <a:avLst/>
          </a:prstGeom>
          <a:solidFill>
            <a:srgbClr val="FFFFFF"/>
          </a:solidFill>
          <a:ln w="6350">
            <a:solidFill>
              <a:srgbClr val="D9D9D9"/>
            </a:solidFill>
            <a:prstDash val="solid"/>
          </a:ln>
        </p:spPr>
        <p:txBody>
          <a:bodyPr/>
          <a:lstStyle/>
          <a:p>
            <a:endParaRPr lang="en-US"/>
          </a:p>
        </p:txBody>
      </p:sp>
      <p:sp>
        <p:nvSpPr>
          <p:cNvPr id="21" name="Text 19"/>
          <p:cNvSpPr/>
          <p:nvPr/>
        </p:nvSpPr>
        <p:spPr>
          <a:xfrm>
            <a:off x="6054290" y="214884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$197</a:t>
            </a:r>
            <a:endParaRPr lang="en-US" sz="1300"/>
          </a:p>
        </p:txBody>
      </p:sp>
      <p:sp>
        <p:nvSpPr>
          <p:cNvPr id="22" name="Shape 20"/>
          <p:cNvSpPr/>
          <p:nvPr/>
        </p:nvSpPr>
        <p:spPr>
          <a:xfrm>
            <a:off x="7517330" y="2148840"/>
            <a:ext cx="1463040" cy="502920"/>
          </a:xfrm>
          <a:prstGeom prst="rect">
            <a:avLst/>
          </a:prstGeom>
          <a:solidFill>
            <a:srgbClr val="D6E4F0"/>
          </a:solidFill>
          <a:ln w="6350">
            <a:solidFill>
              <a:srgbClr val="D9D9D9"/>
            </a:solidFill>
            <a:prstDash val="solid"/>
          </a:ln>
        </p:spPr>
        <p:txBody>
          <a:bodyPr/>
          <a:lstStyle/>
          <a:p>
            <a:endParaRPr lang="en-US"/>
          </a:p>
        </p:txBody>
      </p:sp>
      <p:sp>
        <p:nvSpPr>
          <p:cNvPr id="23" name="Text 21"/>
          <p:cNvSpPr/>
          <p:nvPr/>
        </p:nvSpPr>
        <p:spPr>
          <a:xfrm>
            <a:off x="7517330" y="2148840"/>
            <a:ext cx="1463040" cy="502920"/>
          </a:xfrm>
          <a:prstGeom prst="rect">
            <a:avLst/>
          </a:prstGeom>
          <a:noFill/>
          <a:ln/>
        </p:spPr>
        <p:txBody>
          <a:bodyPr wrap="square" lIns="0" tIns="0" rIns="0" bIns="0" rtlCol="0" anchor="ctr"/>
          <a:lstStyle/>
          <a:p>
            <a:pPr marL="0" indent="0" algn="ctr">
              <a:buNone/>
            </a:pPr>
            <a:r>
              <a:rPr lang="en-US" sz="1300" b="1">
                <a:solidFill>
                  <a:srgbClr val="1F4E79"/>
                </a:solidFill>
                <a:latin typeface="Calibri" pitchFamily="34" charset="0"/>
                <a:ea typeface="Calibri" pitchFamily="34" charset="-122"/>
                <a:cs typeface="Calibri" pitchFamily="34" charset="-120"/>
              </a:rPr>
              <a:t>$214</a:t>
            </a:r>
            <a:endParaRPr lang="en-US" sz="1300"/>
          </a:p>
        </p:txBody>
      </p:sp>
      <p:sp>
        <p:nvSpPr>
          <p:cNvPr id="24" name="Shape 22"/>
          <p:cNvSpPr/>
          <p:nvPr/>
        </p:nvSpPr>
        <p:spPr>
          <a:xfrm>
            <a:off x="3128210" y="2651760"/>
            <a:ext cx="1463040" cy="502920"/>
          </a:xfrm>
          <a:prstGeom prst="rect">
            <a:avLst/>
          </a:prstGeom>
          <a:solidFill>
            <a:srgbClr val="1F4E79"/>
          </a:solidFill>
          <a:ln w="6350">
            <a:solidFill>
              <a:srgbClr val="D9D9D9"/>
            </a:solidFill>
            <a:prstDash val="solid"/>
          </a:ln>
        </p:spPr>
        <p:txBody>
          <a:bodyPr/>
          <a:lstStyle/>
          <a:p>
            <a:endParaRPr lang="en-US"/>
          </a:p>
        </p:txBody>
      </p:sp>
      <p:sp>
        <p:nvSpPr>
          <p:cNvPr id="25" name="Text 23"/>
          <p:cNvSpPr/>
          <p:nvPr/>
        </p:nvSpPr>
        <p:spPr>
          <a:xfrm>
            <a:off x="3128210" y="265176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8.0%</a:t>
            </a:r>
            <a:endParaRPr lang="en-US" sz="1200"/>
          </a:p>
        </p:txBody>
      </p:sp>
      <p:sp>
        <p:nvSpPr>
          <p:cNvPr id="26" name="Shape 24"/>
          <p:cNvSpPr/>
          <p:nvPr/>
        </p:nvSpPr>
        <p:spPr>
          <a:xfrm>
            <a:off x="4591250" y="2651760"/>
            <a:ext cx="1463040" cy="502920"/>
          </a:xfrm>
          <a:prstGeom prst="rect">
            <a:avLst/>
          </a:prstGeom>
          <a:solidFill>
            <a:srgbClr val="FFFFFF"/>
          </a:solidFill>
          <a:ln w="6350">
            <a:solidFill>
              <a:srgbClr val="D9D9D9"/>
            </a:solidFill>
            <a:prstDash val="solid"/>
          </a:ln>
        </p:spPr>
        <p:txBody>
          <a:bodyPr/>
          <a:lstStyle/>
          <a:p>
            <a:endParaRPr lang="en-US"/>
          </a:p>
        </p:txBody>
      </p:sp>
      <p:sp>
        <p:nvSpPr>
          <p:cNvPr id="27" name="Text 25"/>
          <p:cNvSpPr/>
          <p:nvPr/>
        </p:nvSpPr>
        <p:spPr>
          <a:xfrm>
            <a:off x="4591250" y="265176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$167</a:t>
            </a:r>
            <a:endParaRPr lang="en-US" sz="1300"/>
          </a:p>
        </p:txBody>
      </p:sp>
      <p:sp>
        <p:nvSpPr>
          <p:cNvPr id="28" name="Shape 26"/>
          <p:cNvSpPr/>
          <p:nvPr/>
        </p:nvSpPr>
        <p:spPr>
          <a:xfrm>
            <a:off x="6054290" y="2651760"/>
            <a:ext cx="1463040" cy="502920"/>
          </a:xfrm>
          <a:prstGeom prst="rect">
            <a:avLst/>
          </a:prstGeom>
          <a:solidFill>
            <a:srgbClr val="FFFFFF"/>
          </a:solidFill>
          <a:ln w="6350">
            <a:solidFill>
              <a:srgbClr val="D9D9D9"/>
            </a:solidFill>
            <a:prstDash val="solid"/>
          </a:ln>
        </p:spPr>
        <p:txBody>
          <a:bodyPr/>
          <a:lstStyle/>
          <a:p>
            <a:endParaRPr lang="en-US"/>
          </a:p>
        </p:txBody>
      </p:sp>
      <p:sp>
        <p:nvSpPr>
          <p:cNvPr id="29" name="Text 27"/>
          <p:cNvSpPr/>
          <p:nvPr/>
        </p:nvSpPr>
        <p:spPr>
          <a:xfrm>
            <a:off x="6054290" y="265176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$179</a:t>
            </a:r>
            <a:endParaRPr lang="en-US" sz="1300"/>
          </a:p>
        </p:txBody>
      </p:sp>
      <p:sp>
        <p:nvSpPr>
          <p:cNvPr id="30" name="Shape 28"/>
          <p:cNvSpPr/>
          <p:nvPr/>
        </p:nvSpPr>
        <p:spPr>
          <a:xfrm>
            <a:off x="7517330" y="2651760"/>
            <a:ext cx="1463040" cy="502920"/>
          </a:xfrm>
          <a:prstGeom prst="rect">
            <a:avLst/>
          </a:prstGeom>
          <a:solidFill>
            <a:srgbClr val="FFFFFF"/>
          </a:solidFill>
          <a:ln w="6350">
            <a:solidFill>
              <a:srgbClr val="D9D9D9"/>
            </a:solidFill>
            <a:prstDash val="solid"/>
          </a:ln>
        </p:spPr>
        <p:txBody>
          <a:bodyPr/>
          <a:lstStyle/>
          <a:p>
            <a:endParaRPr lang="en-US"/>
          </a:p>
        </p:txBody>
      </p:sp>
      <p:sp>
        <p:nvSpPr>
          <p:cNvPr id="31" name="Text 29"/>
          <p:cNvSpPr/>
          <p:nvPr/>
        </p:nvSpPr>
        <p:spPr>
          <a:xfrm>
            <a:off x="7517330" y="265176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$193</a:t>
            </a:r>
            <a:endParaRPr lang="en-US" sz="1300"/>
          </a:p>
        </p:txBody>
      </p:sp>
      <p:sp>
        <p:nvSpPr>
          <p:cNvPr id="32" name="Shape 30"/>
          <p:cNvSpPr/>
          <p:nvPr/>
        </p:nvSpPr>
        <p:spPr>
          <a:xfrm>
            <a:off x="3128210" y="3154680"/>
            <a:ext cx="1463040" cy="502920"/>
          </a:xfrm>
          <a:prstGeom prst="rect">
            <a:avLst/>
          </a:prstGeom>
          <a:solidFill>
            <a:srgbClr val="1F4E79"/>
          </a:solidFill>
          <a:ln w="6350">
            <a:solidFill>
              <a:srgbClr val="D9D9D9"/>
            </a:solidFill>
            <a:prstDash val="solid"/>
          </a:ln>
        </p:spPr>
        <p:txBody>
          <a:bodyPr/>
          <a:lstStyle/>
          <a:p>
            <a:endParaRPr lang="en-US"/>
          </a:p>
        </p:txBody>
      </p:sp>
      <p:sp>
        <p:nvSpPr>
          <p:cNvPr id="33" name="Text 31"/>
          <p:cNvSpPr/>
          <p:nvPr/>
        </p:nvSpPr>
        <p:spPr>
          <a:xfrm>
            <a:off x="3128210" y="315468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8.5%</a:t>
            </a:r>
            <a:endParaRPr lang="en-US" sz="1200"/>
          </a:p>
        </p:txBody>
      </p:sp>
      <p:sp>
        <p:nvSpPr>
          <p:cNvPr id="34" name="Shape 32"/>
          <p:cNvSpPr/>
          <p:nvPr/>
        </p:nvSpPr>
        <p:spPr>
          <a:xfrm>
            <a:off x="4591250" y="3154680"/>
            <a:ext cx="1463040" cy="502920"/>
          </a:xfrm>
          <a:prstGeom prst="rect">
            <a:avLst/>
          </a:prstGeom>
          <a:solidFill>
            <a:srgbClr val="FFFFFF"/>
          </a:solidFill>
          <a:ln w="6350">
            <a:solidFill>
              <a:srgbClr val="D9D9D9"/>
            </a:solidFill>
            <a:prstDash val="solid"/>
          </a:ln>
        </p:spPr>
        <p:txBody>
          <a:bodyPr/>
          <a:lstStyle/>
          <a:p>
            <a:endParaRPr lang="en-US"/>
          </a:p>
        </p:txBody>
      </p:sp>
      <p:sp>
        <p:nvSpPr>
          <p:cNvPr id="35" name="Text 33"/>
          <p:cNvSpPr/>
          <p:nvPr/>
        </p:nvSpPr>
        <p:spPr>
          <a:xfrm>
            <a:off x="4591250" y="315468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$154</a:t>
            </a:r>
            <a:endParaRPr lang="en-US" sz="1300"/>
          </a:p>
        </p:txBody>
      </p:sp>
      <p:sp>
        <p:nvSpPr>
          <p:cNvPr id="36" name="Shape 34"/>
          <p:cNvSpPr/>
          <p:nvPr/>
        </p:nvSpPr>
        <p:spPr>
          <a:xfrm>
            <a:off x="6054290" y="3154680"/>
            <a:ext cx="1463040" cy="502920"/>
          </a:xfrm>
          <a:prstGeom prst="rect">
            <a:avLst/>
          </a:prstGeom>
          <a:solidFill>
            <a:srgbClr val="FFFFFF"/>
          </a:solidFill>
          <a:ln w="6350">
            <a:solidFill>
              <a:srgbClr val="D9D9D9"/>
            </a:solidFill>
            <a:prstDash val="solid"/>
          </a:ln>
        </p:spPr>
        <p:txBody>
          <a:bodyPr/>
          <a:lstStyle/>
          <a:p>
            <a:endParaRPr lang="en-US"/>
          </a:p>
        </p:txBody>
      </p:sp>
      <p:sp>
        <p:nvSpPr>
          <p:cNvPr id="37" name="Text 35"/>
          <p:cNvSpPr/>
          <p:nvPr/>
        </p:nvSpPr>
        <p:spPr>
          <a:xfrm>
            <a:off x="6054290" y="315468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$164</a:t>
            </a:r>
            <a:endParaRPr lang="en-US" sz="1300"/>
          </a:p>
        </p:txBody>
      </p:sp>
      <p:sp>
        <p:nvSpPr>
          <p:cNvPr id="38" name="Shape 36"/>
          <p:cNvSpPr/>
          <p:nvPr/>
        </p:nvSpPr>
        <p:spPr>
          <a:xfrm>
            <a:off x="7517330" y="3154680"/>
            <a:ext cx="1463040" cy="502920"/>
          </a:xfrm>
          <a:prstGeom prst="rect">
            <a:avLst/>
          </a:prstGeom>
          <a:solidFill>
            <a:srgbClr val="FFFFFF"/>
          </a:solidFill>
          <a:ln w="6350">
            <a:solidFill>
              <a:srgbClr val="D9D9D9"/>
            </a:solidFill>
            <a:prstDash val="solid"/>
          </a:ln>
        </p:spPr>
        <p:txBody>
          <a:bodyPr/>
          <a:lstStyle/>
          <a:p>
            <a:endParaRPr lang="en-US"/>
          </a:p>
        </p:txBody>
      </p:sp>
      <p:sp>
        <p:nvSpPr>
          <p:cNvPr id="39" name="Text 37"/>
          <p:cNvSpPr/>
          <p:nvPr/>
        </p:nvSpPr>
        <p:spPr>
          <a:xfrm>
            <a:off x="7517330" y="315468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$176</a:t>
            </a:r>
            <a:endParaRPr lang="en-US" sz="1300"/>
          </a:p>
        </p:txBody>
      </p:sp>
      <p:sp>
        <p:nvSpPr>
          <p:cNvPr id="40" name="Shape 38"/>
          <p:cNvSpPr/>
          <p:nvPr/>
        </p:nvSpPr>
        <p:spPr>
          <a:xfrm>
            <a:off x="3128210" y="3657600"/>
            <a:ext cx="1463040" cy="502920"/>
          </a:xfrm>
          <a:prstGeom prst="rect">
            <a:avLst/>
          </a:prstGeom>
          <a:solidFill>
            <a:srgbClr val="1F4E79"/>
          </a:solidFill>
          <a:ln w="6350">
            <a:solidFill>
              <a:srgbClr val="D9D9D9"/>
            </a:solidFill>
            <a:prstDash val="solid"/>
          </a:ln>
        </p:spPr>
        <p:txBody>
          <a:bodyPr/>
          <a:lstStyle/>
          <a:p>
            <a:endParaRPr lang="en-US"/>
          </a:p>
        </p:txBody>
      </p:sp>
      <p:sp>
        <p:nvSpPr>
          <p:cNvPr id="41" name="Text 39"/>
          <p:cNvSpPr/>
          <p:nvPr/>
        </p:nvSpPr>
        <p:spPr>
          <a:xfrm>
            <a:off x="3128210" y="365760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9.0%</a:t>
            </a:r>
            <a:endParaRPr lang="en-US" sz="1200"/>
          </a:p>
        </p:txBody>
      </p:sp>
      <p:sp>
        <p:nvSpPr>
          <p:cNvPr id="42" name="Shape 40"/>
          <p:cNvSpPr/>
          <p:nvPr/>
        </p:nvSpPr>
        <p:spPr>
          <a:xfrm>
            <a:off x="4591250" y="3657600"/>
            <a:ext cx="1463040" cy="502920"/>
          </a:xfrm>
          <a:prstGeom prst="rect">
            <a:avLst/>
          </a:prstGeom>
          <a:solidFill>
            <a:srgbClr val="FFFFFF"/>
          </a:solidFill>
          <a:ln w="6350">
            <a:solidFill>
              <a:srgbClr val="D9D9D9"/>
            </a:solidFill>
            <a:prstDash val="solid"/>
          </a:ln>
        </p:spPr>
        <p:txBody>
          <a:bodyPr/>
          <a:lstStyle/>
          <a:p>
            <a:endParaRPr lang="en-US"/>
          </a:p>
        </p:txBody>
      </p:sp>
      <p:sp>
        <p:nvSpPr>
          <p:cNvPr id="43" name="Text 41"/>
          <p:cNvSpPr/>
          <p:nvPr/>
        </p:nvSpPr>
        <p:spPr>
          <a:xfrm>
            <a:off x="4591250" y="365760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$143</a:t>
            </a:r>
            <a:endParaRPr lang="en-US" sz="1300"/>
          </a:p>
        </p:txBody>
      </p:sp>
      <p:sp>
        <p:nvSpPr>
          <p:cNvPr id="44" name="Shape 42"/>
          <p:cNvSpPr/>
          <p:nvPr/>
        </p:nvSpPr>
        <p:spPr>
          <a:xfrm>
            <a:off x="6054290" y="3657600"/>
            <a:ext cx="1463040" cy="502920"/>
          </a:xfrm>
          <a:prstGeom prst="rect">
            <a:avLst/>
          </a:prstGeom>
          <a:solidFill>
            <a:srgbClr val="FFFFFF"/>
          </a:solidFill>
          <a:ln w="6350">
            <a:solidFill>
              <a:srgbClr val="D9D9D9"/>
            </a:solidFill>
            <a:prstDash val="solid"/>
          </a:ln>
        </p:spPr>
        <p:txBody>
          <a:bodyPr/>
          <a:lstStyle/>
          <a:p>
            <a:endParaRPr lang="en-US"/>
          </a:p>
        </p:txBody>
      </p:sp>
      <p:sp>
        <p:nvSpPr>
          <p:cNvPr id="45" name="Text 43"/>
          <p:cNvSpPr/>
          <p:nvPr/>
        </p:nvSpPr>
        <p:spPr>
          <a:xfrm>
            <a:off x="6054290" y="365760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$152</a:t>
            </a:r>
            <a:endParaRPr lang="en-US" sz="1300"/>
          </a:p>
        </p:txBody>
      </p:sp>
      <p:sp>
        <p:nvSpPr>
          <p:cNvPr id="46" name="Shape 44"/>
          <p:cNvSpPr/>
          <p:nvPr/>
        </p:nvSpPr>
        <p:spPr>
          <a:xfrm>
            <a:off x="7517330" y="3657600"/>
            <a:ext cx="1463040" cy="502920"/>
          </a:xfrm>
          <a:prstGeom prst="rect">
            <a:avLst/>
          </a:prstGeom>
          <a:solidFill>
            <a:srgbClr val="FFFFFF"/>
          </a:solidFill>
          <a:ln w="6350">
            <a:solidFill>
              <a:srgbClr val="D9D9D9"/>
            </a:solidFill>
            <a:prstDash val="solid"/>
          </a:ln>
        </p:spPr>
        <p:txBody>
          <a:bodyPr/>
          <a:lstStyle/>
          <a:p>
            <a:endParaRPr lang="en-US"/>
          </a:p>
        </p:txBody>
      </p:sp>
      <p:sp>
        <p:nvSpPr>
          <p:cNvPr id="47" name="Text 45"/>
          <p:cNvSpPr/>
          <p:nvPr/>
        </p:nvSpPr>
        <p:spPr>
          <a:xfrm>
            <a:off x="7517330" y="365760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$161</a:t>
            </a:r>
            <a:endParaRPr lang="en-US" sz="1300"/>
          </a:p>
        </p:txBody>
      </p:sp>
      <p:sp>
        <p:nvSpPr>
          <p:cNvPr id="48" name="Shape 46"/>
          <p:cNvSpPr/>
          <p:nvPr/>
        </p:nvSpPr>
        <p:spPr>
          <a:xfrm>
            <a:off x="3128210" y="4160520"/>
            <a:ext cx="1463040" cy="502920"/>
          </a:xfrm>
          <a:prstGeom prst="rect">
            <a:avLst/>
          </a:prstGeom>
          <a:solidFill>
            <a:srgbClr val="1F4E79"/>
          </a:solidFill>
          <a:ln w="6350">
            <a:solidFill>
              <a:srgbClr val="D9D9D9"/>
            </a:solidFill>
            <a:prstDash val="solid"/>
          </a:ln>
        </p:spPr>
        <p:txBody>
          <a:bodyPr/>
          <a:lstStyle/>
          <a:p>
            <a:endParaRPr lang="en-US"/>
          </a:p>
        </p:txBody>
      </p:sp>
      <p:sp>
        <p:nvSpPr>
          <p:cNvPr id="49" name="Text 47"/>
          <p:cNvSpPr/>
          <p:nvPr/>
        </p:nvSpPr>
        <p:spPr>
          <a:xfrm>
            <a:off x="3128210" y="4160520"/>
            <a:ext cx="1463040" cy="502920"/>
          </a:xfrm>
          <a:prstGeom prst="rect">
            <a:avLst/>
          </a:prstGeom>
          <a:noFill/>
          <a:ln/>
        </p:spPr>
        <p:txBody>
          <a:bodyPr wrap="square" lIns="0" tIns="0" rIns="0" bIns="0" rtlCol="0" anchor="ctr"/>
          <a:lstStyle/>
          <a:p>
            <a:pPr marL="0" indent="0" algn="ctr">
              <a:buNone/>
            </a:pPr>
            <a:r>
              <a:rPr lang="en-US" sz="1200" b="1">
                <a:solidFill>
                  <a:srgbClr val="FFFFFF"/>
                </a:solidFill>
                <a:latin typeface="Calibri" pitchFamily="34" charset="0"/>
                <a:ea typeface="Calibri" pitchFamily="34" charset="-122"/>
                <a:cs typeface="Calibri" pitchFamily="34" charset="-120"/>
              </a:rPr>
              <a:t>9.5%</a:t>
            </a:r>
            <a:endParaRPr lang="en-US" sz="1200"/>
          </a:p>
        </p:txBody>
      </p:sp>
      <p:sp>
        <p:nvSpPr>
          <p:cNvPr id="50" name="Shape 48"/>
          <p:cNvSpPr/>
          <p:nvPr/>
        </p:nvSpPr>
        <p:spPr>
          <a:xfrm>
            <a:off x="4591250" y="4160520"/>
            <a:ext cx="1463040" cy="502920"/>
          </a:xfrm>
          <a:prstGeom prst="rect">
            <a:avLst/>
          </a:prstGeom>
          <a:solidFill>
            <a:srgbClr val="FFFFFF"/>
          </a:solidFill>
          <a:ln w="6350">
            <a:solidFill>
              <a:srgbClr val="D9D9D9"/>
            </a:solidFill>
            <a:prstDash val="solid"/>
          </a:ln>
        </p:spPr>
        <p:txBody>
          <a:bodyPr/>
          <a:lstStyle/>
          <a:p>
            <a:endParaRPr lang="en-US"/>
          </a:p>
        </p:txBody>
      </p:sp>
      <p:sp>
        <p:nvSpPr>
          <p:cNvPr id="51" name="Text 49"/>
          <p:cNvSpPr/>
          <p:nvPr/>
        </p:nvSpPr>
        <p:spPr>
          <a:xfrm>
            <a:off x="4591250" y="416052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$134</a:t>
            </a:r>
            <a:endParaRPr lang="en-US" sz="1300"/>
          </a:p>
        </p:txBody>
      </p:sp>
      <p:sp>
        <p:nvSpPr>
          <p:cNvPr id="52" name="Shape 50"/>
          <p:cNvSpPr/>
          <p:nvPr/>
        </p:nvSpPr>
        <p:spPr>
          <a:xfrm>
            <a:off x="6054290" y="4160520"/>
            <a:ext cx="1463040" cy="502920"/>
          </a:xfrm>
          <a:prstGeom prst="rect">
            <a:avLst/>
          </a:prstGeom>
          <a:solidFill>
            <a:srgbClr val="FFFFFF"/>
          </a:solidFill>
          <a:ln w="6350">
            <a:solidFill>
              <a:srgbClr val="D9D9D9"/>
            </a:solidFill>
            <a:prstDash val="solid"/>
          </a:ln>
        </p:spPr>
        <p:txBody>
          <a:bodyPr/>
          <a:lstStyle/>
          <a:p>
            <a:endParaRPr lang="en-US"/>
          </a:p>
        </p:txBody>
      </p:sp>
      <p:sp>
        <p:nvSpPr>
          <p:cNvPr id="53" name="Text 51"/>
          <p:cNvSpPr/>
          <p:nvPr/>
        </p:nvSpPr>
        <p:spPr>
          <a:xfrm>
            <a:off x="6054290" y="416052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$141</a:t>
            </a:r>
            <a:endParaRPr lang="en-US" sz="1300"/>
          </a:p>
        </p:txBody>
      </p:sp>
      <p:sp>
        <p:nvSpPr>
          <p:cNvPr id="54" name="Shape 52"/>
          <p:cNvSpPr/>
          <p:nvPr/>
        </p:nvSpPr>
        <p:spPr>
          <a:xfrm>
            <a:off x="7517330" y="4160520"/>
            <a:ext cx="1463040" cy="502920"/>
          </a:xfrm>
          <a:prstGeom prst="rect">
            <a:avLst/>
          </a:prstGeom>
          <a:solidFill>
            <a:srgbClr val="FFFFFF"/>
          </a:solidFill>
          <a:ln w="6350">
            <a:solidFill>
              <a:srgbClr val="D9D9D9"/>
            </a:solidFill>
            <a:prstDash val="solid"/>
          </a:ln>
        </p:spPr>
        <p:txBody>
          <a:bodyPr/>
          <a:lstStyle/>
          <a:p>
            <a:endParaRPr lang="en-US"/>
          </a:p>
        </p:txBody>
      </p:sp>
      <p:sp>
        <p:nvSpPr>
          <p:cNvPr id="55" name="Text 53"/>
          <p:cNvSpPr/>
          <p:nvPr/>
        </p:nvSpPr>
        <p:spPr>
          <a:xfrm>
            <a:off x="7517330" y="4160520"/>
            <a:ext cx="1463040" cy="502920"/>
          </a:xfrm>
          <a:prstGeom prst="rect">
            <a:avLst/>
          </a:prstGeom>
          <a:noFill/>
          <a:ln/>
        </p:spPr>
        <p:txBody>
          <a:bodyPr wrap="square" lIns="0" tIns="0" rIns="0" bIns="0" rtlCol="0" anchor="ctr"/>
          <a:lstStyle/>
          <a:p>
            <a:pPr marL="0" indent="0" algn="ctr">
              <a:buNone/>
            </a:pPr>
            <a:r>
              <a:rPr lang="en-US" sz="1300">
                <a:solidFill>
                  <a:srgbClr val="1F4E79"/>
                </a:solidFill>
                <a:latin typeface="Calibri" pitchFamily="34" charset="0"/>
                <a:ea typeface="Calibri" pitchFamily="34" charset="-122"/>
                <a:cs typeface="Calibri" pitchFamily="34" charset="-120"/>
              </a:rPr>
              <a:t>$149</a:t>
            </a:r>
            <a:endParaRPr lang="en-US" sz="1300"/>
          </a:p>
        </p:txBody>
      </p:sp>
      <p:sp>
        <p:nvSpPr>
          <p:cNvPr id="56" name="Shape 54"/>
          <p:cNvSpPr/>
          <p:nvPr/>
        </p:nvSpPr>
        <p:spPr>
          <a:xfrm>
            <a:off x="457200" y="5029200"/>
            <a:ext cx="11277295" cy="1188720"/>
          </a:xfrm>
          <a:prstGeom prst="rect">
            <a:avLst/>
          </a:prstGeom>
          <a:solidFill>
            <a:srgbClr val="EAF2F9"/>
          </a:solidFill>
          <a:ln w="12700">
            <a:solidFill>
              <a:srgbClr val="2E75B6"/>
            </a:solidFill>
            <a:prstDash val="solid"/>
          </a:ln>
        </p:spPr>
        <p:txBody>
          <a:bodyPr/>
          <a:lstStyle/>
          <a:p>
            <a:endParaRPr lang="en-US"/>
          </a:p>
        </p:txBody>
      </p:sp>
      <p:sp>
        <p:nvSpPr>
          <p:cNvPr id="57" name="Text 55"/>
          <p:cNvSpPr/>
          <p:nvPr/>
        </p:nvSpPr>
        <p:spPr>
          <a:xfrm>
            <a:off x="640080" y="5120640"/>
            <a:ext cx="10972800" cy="365760"/>
          </a:xfrm>
          <a:prstGeom prst="rect">
            <a:avLst/>
          </a:prstGeom>
          <a:noFill/>
          <a:ln/>
        </p:spPr>
        <p:txBody>
          <a:bodyPr wrap="square" lIns="0" tIns="0" rIns="0" bIns="0" rtlCol="0" anchor="ctr"/>
          <a:lstStyle/>
          <a:p>
            <a:pPr marL="0" indent="0" algn="l">
              <a:buNone/>
            </a:pPr>
            <a:r>
              <a:rPr lang="en-US" sz="1400" b="1">
                <a:solidFill>
                  <a:srgbClr val="1F4E79"/>
                </a:solidFill>
                <a:latin typeface="Calibri" pitchFamily="34" charset="0"/>
                <a:ea typeface="Calibri" pitchFamily="34" charset="-122"/>
                <a:cs typeface="Calibri" pitchFamily="34" charset="-120"/>
              </a:rPr>
              <a:t>Goldman Disclosed Range: $137 — $220 per share</a:t>
            </a:r>
            <a:endParaRPr lang="en-US" sz="1400"/>
          </a:p>
        </p:txBody>
      </p:sp>
      <p:sp>
        <p:nvSpPr>
          <p:cNvPr id="58" name="Text 56"/>
          <p:cNvSpPr/>
          <p:nvPr/>
        </p:nvSpPr>
        <p:spPr>
          <a:xfrm>
            <a:off x="640080" y="5440680"/>
            <a:ext cx="10972800" cy="731520"/>
          </a:xfrm>
          <a:prstGeom prst="rect">
            <a:avLst/>
          </a:prstGeom>
          <a:noFill/>
          <a:ln/>
        </p:spPr>
        <p:txBody>
          <a:bodyPr wrap="square" lIns="0" tIns="0" rIns="0" bIns="0" rtlCol="0" anchor="t"/>
          <a:lstStyle/>
          <a:p>
            <a:pPr marL="0" indent="0" algn="l">
              <a:buNone/>
            </a:pPr>
            <a:r>
              <a:rPr lang="en-US" sz="1100">
                <a:solidFill>
                  <a:srgbClr val="595959"/>
                </a:solidFill>
                <a:latin typeface="Calibri" pitchFamily="34" charset="0"/>
                <a:ea typeface="Calibri" pitchFamily="34" charset="-122"/>
                <a:cs typeface="Calibri" pitchFamily="34" charset="-120"/>
              </a:rPr>
              <a:t>$210 falls at the 88th percentile of Goldman's disclosed range. Corner reconciliation: 9.5% WACC × 2.0% TGR = $134 ≈ $137 disclosed low (within $3); 7.5% WACC × 3.0% TGR = $214 ≈ $220 disclosed high (within $6). Methodology replication confirmed.</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A8 — Credit Metrics Across the Hold</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A8</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457200" y="1367028"/>
            <a:ext cx="11277295" cy="457200"/>
          </a:xfrm>
          <a:prstGeom prst="rect">
            <a:avLst/>
          </a:prstGeom>
          <a:solidFill>
            <a:srgbClr val="1F4E79"/>
          </a:solidFill>
          <a:ln w="3175">
            <a:solidFill>
              <a:srgbClr val="D9D9D9"/>
            </a:solidFill>
            <a:prstDash val="solid"/>
          </a:ln>
        </p:spPr>
        <p:txBody>
          <a:bodyPr/>
          <a:lstStyle/>
          <a:p>
            <a:endParaRPr lang="en-US"/>
          </a:p>
        </p:txBody>
      </p:sp>
      <p:sp>
        <p:nvSpPr>
          <p:cNvPr id="8" name="Text 6"/>
          <p:cNvSpPr/>
          <p:nvPr/>
        </p:nvSpPr>
        <p:spPr>
          <a:xfrm>
            <a:off x="594360" y="1367028"/>
            <a:ext cx="3108960" cy="457200"/>
          </a:xfrm>
          <a:prstGeom prst="rect">
            <a:avLst/>
          </a:prstGeom>
          <a:noFill/>
          <a:ln/>
        </p:spPr>
        <p:txBody>
          <a:bodyPr wrap="square" lIns="0" tIns="0" rIns="0" bIns="0" rtlCol="0" anchor="ctr"/>
          <a:lstStyle/>
          <a:p>
            <a:pPr marL="0" indent="0" algn="l">
              <a:buNone/>
            </a:pPr>
            <a:endParaRPr lang="en-US" sz="1100"/>
          </a:p>
        </p:txBody>
      </p:sp>
      <p:sp>
        <p:nvSpPr>
          <p:cNvPr id="9" name="Text 7"/>
          <p:cNvSpPr/>
          <p:nvPr/>
        </p:nvSpPr>
        <p:spPr>
          <a:xfrm>
            <a:off x="3794760" y="1367028"/>
            <a:ext cx="1523939"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Y1 (FY27)</a:t>
            </a:r>
            <a:endParaRPr lang="en-US" sz="1100"/>
          </a:p>
        </p:txBody>
      </p:sp>
      <p:sp>
        <p:nvSpPr>
          <p:cNvPr id="10" name="Text 8"/>
          <p:cNvSpPr/>
          <p:nvPr/>
        </p:nvSpPr>
        <p:spPr>
          <a:xfrm>
            <a:off x="5410139" y="1367028"/>
            <a:ext cx="1523939"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Y2 (FY28)</a:t>
            </a:r>
            <a:endParaRPr lang="en-US" sz="1100"/>
          </a:p>
        </p:txBody>
      </p:sp>
      <p:sp>
        <p:nvSpPr>
          <p:cNvPr id="11" name="Text 9"/>
          <p:cNvSpPr/>
          <p:nvPr/>
        </p:nvSpPr>
        <p:spPr>
          <a:xfrm>
            <a:off x="7025518" y="1367028"/>
            <a:ext cx="1523939"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Y3 (FY29)</a:t>
            </a:r>
            <a:endParaRPr lang="en-US" sz="1100"/>
          </a:p>
        </p:txBody>
      </p:sp>
      <p:sp>
        <p:nvSpPr>
          <p:cNvPr id="12" name="Text 10"/>
          <p:cNvSpPr/>
          <p:nvPr/>
        </p:nvSpPr>
        <p:spPr>
          <a:xfrm>
            <a:off x="8640897" y="1367028"/>
            <a:ext cx="1523939"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Y4 (FY30)</a:t>
            </a:r>
            <a:endParaRPr lang="en-US" sz="1100"/>
          </a:p>
        </p:txBody>
      </p:sp>
      <p:sp>
        <p:nvSpPr>
          <p:cNvPr id="13" name="Text 11"/>
          <p:cNvSpPr/>
          <p:nvPr/>
        </p:nvSpPr>
        <p:spPr>
          <a:xfrm>
            <a:off x="10256276" y="1367028"/>
            <a:ext cx="1523939" cy="457200"/>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Y5 (FY31)</a:t>
            </a:r>
            <a:endParaRPr lang="en-US" sz="1100"/>
          </a:p>
        </p:txBody>
      </p:sp>
      <p:sp>
        <p:nvSpPr>
          <p:cNvPr id="14" name="Shape 12"/>
          <p:cNvSpPr/>
          <p:nvPr/>
        </p:nvSpPr>
        <p:spPr>
          <a:xfrm>
            <a:off x="457200" y="1824228"/>
            <a:ext cx="11277295" cy="457200"/>
          </a:xfrm>
          <a:prstGeom prst="rect">
            <a:avLst/>
          </a:prstGeom>
          <a:solidFill>
            <a:srgbClr val="F2F2F2"/>
          </a:solidFill>
          <a:ln w="3175">
            <a:solidFill>
              <a:srgbClr val="D9D9D9"/>
            </a:solidFill>
            <a:prstDash val="solid"/>
          </a:ln>
        </p:spPr>
        <p:txBody>
          <a:bodyPr/>
          <a:lstStyle/>
          <a:p>
            <a:endParaRPr lang="en-US"/>
          </a:p>
        </p:txBody>
      </p:sp>
      <p:sp>
        <p:nvSpPr>
          <p:cNvPr id="15" name="Text 13"/>
          <p:cNvSpPr/>
          <p:nvPr/>
        </p:nvSpPr>
        <p:spPr>
          <a:xfrm>
            <a:off x="594360" y="1824228"/>
            <a:ext cx="3108960" cy="45720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Beginning Debt ($M)</a:t>
            </a:r>
            <a:endParaRPr lang="en-US" sz="1100"/>
          </a:p>
        </p:txBody>
      </p:sp>
      <p:sp>
        <p:nvSpPr>
          <p:cNvPr id="16" name="Text 14"/>
          <p:cNvSpPr/>
          <p:nvPr/>
        </p:nvSpPr>
        <p:spPr>
          <a:xfrm>
            <a:off x="3794760" y="18242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$18,010</a:t>
            </a:r>
            <a:endParaRPr lang="en-US" sz="1100"/>
          </a:p>
        </p:txBody>
      </p:sp>
      <p:sp>
        <p:nvSpPr>
          <p:cNvPr id="17" name="Text 15"/>
          <p:cNvSpPr/>
          <p:nvPr/>
        </p:nvSpPr>
        <p:spPr>
          <a:xfrm>
            <a:off x="5410139" y="18242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$17,648</a:t>
            </a:r>
            <a:endParaRPr lang="en-US" sz="1100"/>
          </a:p>
        </p:txBody>
      </p:sp>
      <p:sp>
        <p:nvSpPr>
          <p:cNvPr id="18" name="Text 16"/>
          <p:cNvSpPr/>
          <p:nvPr/>
        </p:nvSpPr>
        <p:spPr>
          <a:xfrm>
            <a:off x="7025518" y="18242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$16,397</a:t>
            </a:r>
            <a:endParaRPr lang="en-US" sz="1100"/>
          </a:p>
        </p:txBody>
      </p:sp>
      <p:sp>
        <p:nvSpPr>
          <p:cNvPr id="19" name="Text 17"/>
          <p:cNvSpPr/>
          <p:nvPr/>
        </p:nvSpPr>
        <p:spPr>
          <a:xfrm>
            <a:off x="8640897" y="18242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$15,075</a:t>
            </a:r>
            <a:endParaRPr lang="en-US" sz="1100"/>
          </a:p>
        </p:txBody>
      </p:sp>
      <p:sp>
        <p:nvSpPr>
          <p:cNvPr id="20" name="Text 18"/>
          <p:cNvSpPr/>
          <p:nvPr/>
        </p:nvSpPr>
        <p:spPr>
          <a:xfrm>
            <a:off x="10256276" y="18242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$13,439</a:t>
            </a:r>
            <a:endParaRPr lang="en-US" sz="1100"/>
          </a:p>
        </p:txBody>
      </p:sp>
      <p:sp>
        <p:nvSpPr>
          <p:cNvPr id="21" name="Shape 19"/>
          <p:cNvSpPr/>
          <p:nvPr/>
        </p:nvSpPr>
        <p:spPr>
          <a:xfrm>
            <a:off x="457200" y="2281428"/>
            <a:ext cx="11277295" cy="457200"/>
          </a:xfrm>
          <a:prstGeom prst="rect">
            <a:avLst/>
          </a:prstGeom>
          <a:solidFill>
            <a:srgbClr val="FFFFFF"/>
          </a:solidFill>
          <a:ln w="3175">
            <a:solidFill>
              <a:srgbClr val="D9D9D9"/>
            </a:solidFill>
            <a:prstDash val="solid"/>
          </a:ln>
        </p:spPr>
        <p:txBody>
          <a:bodyPr/>
          <a:lstStyle/>
          <a:p>
            <a:endParaRPr lang="en-US"/>
          </a:p>
        </p:txBody>
      </p:sp>
      <p:sp>
        <p:nvSpPr>
          <p:cNvPr id="22" name="Text 20"/>
          <p:cNvSpPr/>
          <p:nvPr/>
        </p:nvSpPr>
        <p:spPr>
          <a:xfrm>
            <a:off x="594360" y="2281428"/>
            <a:ext cx="3108960" cy="45720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 Mandatory Amortization</a:t>
            </a:r>
            <a:endParaRPr lang="en-US" sz="1100"/>
          </a:p>
        </p:txBody>
      </p:sp>
      <p:sp>
        <p:nvSpPr>
          <p:cNvPr id="23" name="Text 21"/>
          <p:cNvSpPr/>
          <p:nvPr/>
        </p:nvSpPr>
        <p:spPr>
          <a:xfrm>
            <a:off x="3794760" y="22814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($244)</a:t>
            </a:r>
            <a:endParaRPr lang="en-US" sz="1100"/>
          </a:p>
        </p:txBody>
      </p:sp>
      <p:sp>
        <p:nvSpPr>
          <p:cNvPr id="24" name="Text 22"/>
          <p:cNvSpPr/>
          <p:nvPr/>
        </p:nvSpPr>
        <p:spPr>
          <a:xfrm>
            <a:off x="5410139" y="22814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($244)</a:t>
            </a:r>
            <a:endParaRPr lang="en-US" sz="1100"/>
          </a:p>
        </p:txBody>
      </p:sp>
      <p:sp>
        <p:nvSpPr>
          <p:cNvPr id="25" name="Text 23"/>
          <p:cNvSpPr/>
          <p:nvPr/>
        </p:nvSpPr>
        <p:spPr>
          <a:xfrm>
            <a:off x="7025518" y="22814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($244)</a:t>
            </a:r>
            <a:endParaRPr lang="en-US" sz="1100"/>
          </a:p>
        </p:txBody>
      </p:sp>
      <p:sp>
        <p:nvSpPr>
          <p:cNvPr id="26" name="Text 24"/>
          <p:cNvSpPr/>
          <p:nvPr/>
        </p:nvSpPr>
        <p:spPr>
          <a:xfrm>
            <a:off x="8640897" y="22814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($244)</a:t>
            </a:r>
            <a:endParaRPr lang="en-US" sz="1100"/>
          </a:p>
        </p:txBody>
      </p:sp>
      <p:sp>
        <p:nvSpPr>
          <p:cNvPr id="27" name="Text 25"/>
          <p:cNvSpPr/>
          <p:nvPr/>
        </p:nvSpPr>
        <p:spPr>
          <a:xfrm>
            <a:off x="10256276" y="22814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($244)</a:t>
            </a:r>
            <a:endParaRPr lang="en-US" sz="1100"/>
          </a:p>
        </p:txBody>
      </p:sp>
      <p:sp>
        <p:nvSpPr>
          <p:cNvPr id="28" name="Shape 26"/>
          <p:cNvSpPr/>
          <p:nvPr/>
        </p:nvSpPr>
        <p:spPr>
          <a:xfrm>
            <a:off x="457200" y="2738628"/>
            <a:ext cx="11277295" cy="457200"/>
          </a:xfrm>
          <a:prstGeom prst="rect">
            <a:avLst/>
          </a:prstGeom>
          <a:solidFill>
            <a:srgbClr val="F2F2F2"/>
          </a:solidFill>
          <a:ln w="3175">
            <a:solidFill>
              <a:srgbClr val="D9D9D9"/>
            </a:solidFill>
            <a:prstDash val="solid"/>
          </a:ln>
        </p:spPr>
        <p:txBody>
          <a:bodyPr/>
          <a:lstStyle/>
          <a:p>
            <a:endParaRPr lang="en-US"/>
          </a:p>
        </p:txBody>
      </p:sp>
      <p:sp>
        <p:nvSpPr>
          <p:cNvPr id="29" name="Text 27"/>
          <p:cNvSpPr/>
          <p:nvPr/>
        </p:nvSpPr>
        <p:spPr>
          <a:xfrm>
            <a:off x="594360" y="2738628"/>
            <a:ext cx="3108960" cy="45720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 Optional Sweep</a:t>
            </a:r>
            <a:endParaRPr lang="en-US" sz="1100"/>
          </a:p>
        </p:txBody>
      </p:sp>
      <p:sp>
        <p:nvSpPr>
          <p:cNvPr id="30" name="Text 28"/>
          <p:cNvSpPr/>
          <p:nvPr/>
        </p:nvSpPr>
        <p:spPr>
          <a:xfrm>
            <a:off x="3794760" y="27386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($118)</a:t>
            </a:r>
            <a:endParaRPr lang="en-US" sz="1100"/>
          </a:p>
        </p:txBody>
      </p:sp>
      <p:sp>
        <p:nvSpPr>
          <p:cNvPr id="31" name="Text 29"/>
          <p:cNvSpPr/>
          <p:nvPr/>
        </p:nvSpPr>
        <p:spPr>
          <a:xfrm>
            <a:off x="5410139" y="27386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($1,008)</a:t>
            </a:r>
            <a:endParaRPr lang="en-US" sz="1100"/>
          </a:p>
        </p:txBody>
      </p:sp>
      <p:sp>
        <p:nvSpPr>
          <p:cNvPr id="32" name="Text 30"/>
          <p:cNvSpPr/>
          <p:nvPr/>
        </p:nvSpPr>
        <p:spPr>
          <a:xfrm>
            <a:off x="7025518" y="27386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($1,078)</a:t>
            </a:r>
            <a:endParaRPr lang="en-US" sz="1100"/>
          </a:p>
        </p:txBody>
      </p:sp>
      <p:sp>
        <p:nvSpPr>
          <p:cNvPr id="33" name="Text 31"/>
          <p:cNvSpPr/>
          <p:nvPr/>
        </p:nvSpPr>
        <p:spPr>
          <a:xfrm>
            <a:off x="8640897" y="27386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($1,392)</a:t>
            </a:r>
            <a:endParaRPr lang="en-US" sz="1100"/>
          </a:p>
        </p:txBody>
      </p:sp>
      <p:sp>
        <p:nvSpPr>
          <p:cNvPr id="34" name="Text 32"/>
          <p:cNvSpPr/>
          <p:nvPr/>
        </p:nvSpPr>
        <p:spPr>
          <a:xfrm>
            <a:off x="10256276" y="27386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($1,652)</a:t>
            </a:r>
            <a:endParaRPr lang="en-US" sz="1100"/>
          </a:p>
        </p:txBody>
      </p:sp>
      <p:sp>
        <p:nvSpPr>
          <p:cNvPr id="35" name="Shape 33"/>
          <p:cNvSpPr/>
          <p:nvPr/>
        </p:nvSpPr>
        <p:spPr>
          <a:xfrm>
            <a:off x="457200" y="3195828"/>
            <a:ext cx="11277295" cy="457200"/>
          </a:xfrm>
          <a:prstGeom prst="rect">
            <a:avLst/>
          </a:prstGeom>
          <a:solidFill>
            <a:srgbClr val="EAF2F9"/>
          </a:solidFill>
          <a:ln w="3175">
            <a:solidFill>
              <a:srgbClr val="D9D9D9"/>
            </a:solidFill>
            <a:prstDash val="solid"/>
          </a:ln>
        </p:spPr>
        <p:txBody>
          <a:bodyPr/>
          <a:lstStyle/>
          <a:p>
            <a:endParaRPr lang="en-US"/>
          </a:p>
        </p:txBody>
      </p:sp>
      <p:sp>
        <p:nvSpPr>
          <p:cNvPr id="36" name="Text 34"/>
          <p:cNvSpPr/>
          <p:nvPr/>
        </p:nvSpPr>
        <p:spPr>
          <a:xfrm>
            <a:off x="594360" y="3195828"/>
            <a:ext cx="3108960" cy="45720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Ending Debt</a:t>
            </a:r>
            <a:endParaRPr lang="en-US" sz="1100"/>
          </a:p>
        </p:txBody>
      </p:sp>
      <p:sp>
        <p:nvSpPr>
          <p:cNvPr id="37" name="Text 35"/>
          <p:cNvSpPr/>
          <p:nvPr/>
        </p:nvSpPr>
        <p:spPr>
          <a:xfrm>
            <a:off x="3794760" y="31958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$17,648</a:t>
            </a:r>
            <a:endParaRPr lang="en-US" sz="1100"/>
          </a:p>
        </p:txBody>
      </p:sp>
      <p:sp>
        <p:nvSpPr>
          <p:cNvPr id="38" name="Text 36"/>
          <p:cNvSpPr/>
          <p:nvPr/>
        </p:nvSpPr>
        <p:spPr>
          <a:xfrm>
            <a:off x="5410139" y="31958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$16,397</a:t>
            </a:r>
            <a:endParaRPr lang="en-US" sz="1100"/>
          </a:p>
        </p:txBody>
      </p:sp>
      <p:sp>
        <p:nvSpPr>
          <p:cNvPr id="39" name="Text 37"/>
          <p:cNvSpPr/>
          <p:nvPr/>
        </p:nvSpPr>
        <p:spPr>
          <a:xfrm>
            <a:off x="7025518" y="31958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$15,075</a:t>
            </a:r>
            <a:endParaRPr lang="en-US" sz="1100"/>
          </a:p>
        </p:txBody>
      </p:sp>
      <p:sp>
        <p:nvSpPr>
          <p:cNvPr id="40" name="Text 38"/>
          <p:cNvSpPr/>
          <p:nvPr/>
        </p:nvSpPr>
        <p:spPr>
          <a:xfrm>
            <a:off x="8640897" y="31958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$13,439</a:t>
            </a:r>
            <a:endParaRPr lang="en-US" sz="1100"/>
          </a:p>
        </p:txBody>
      </p:sp>
      <p:sp>
        <p:nvSpPr>
          <p:cNvPr id="41" name="Text 39"/>
          <p:cNvSpPr/>
          <p:nvPr/>
        </p:nvSpPr>
        <p:spPr>
          <a:xfrm>
            <a:off x="10256276" y="31958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$11,543</a:t>
            </a:r>
            <a:endParaRPr lang="en-US" sz="1100"/>
          </a:p>
        </p:txBody>
      </p:sp>
      <p:sp>
        <p:nvSpPr>
          <p:cNvPr id="42" name="Shape 40"/>
          <p:cNvSpPr/>
          <p:nvPr/>
        </p:nvSpPr>
        <p:spPr>
          <a:xfrm>
            <a:off x="457200" y="3653028"/>
            <a:ext cx="11277295" cy="457200"/>
          </a:xfrm>
          <a:prstGeom prst="rect">
            <a:avLst/>
          </a:prstGeom>
          <a:solidFill>
            <a:srgbClr val="F2F2F2"/>
          </a:solidFill>
          <a:ln w="3175">
            <a:solidFill>
              <a:srgbClr val="D9D9D9"/>
            </a:solidFill>
            <a:prstDash val="solid"/>
          </a:ln>
        </p:spPr>
        <p:txBody>
          <a:bodyPr/>
          <a:lstStyle/>
          <a:p>
            <a:endParaRPr lang="en-US"/>
          </a:p>
        </p:txBody>
      </p:sp>
      <p:sp>
        <p:nvSpPr>
          <p:cNvPr id="43" name="Text 41"/>
          <p:cNvSpPr/>
          <p:nvPr/>
        </p:nvSpPr>
        <p:spPr>
          <a:xfrm>
            <a:off x="594360" y="3653028"/>
            <a:ext cx="3108960" cy="45720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Interest Expense</a:t>
            </a:r>
            <a:endParaRPr lang="en-US" sz="1100"/>
          </a:p>
        </p:txBody>
      </p:sp>
      <p:sp>
        <p:nvSpPr>
          <p:cNvPr id="44" name="Text 42"/>
          <p:cNvSpPr/>
          <p:nvPr/>
        </p:nvSpPr>
        <p:spPr>
          <a:xfrm>
            <a:off x="3794760" y="36530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($1,316)</a:t>
            </a:r>
            <a:endParaRPr lang="en-US" sz="1100"/>
          </a:p>
        </p:txBody>
      </p:sp>
      <p:sp>
        <p:nvSpPr>
          <p:cNvPr id="45" name="Text 43"/>
          <p:cNvSpPr/>
          <p:nvPr/>
        </p:nvSpPr>
        <p:spPr>
          <a:xfrm>
            <a:off x="5410139" y="36530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($1,290)</a:t>
            </a:r>
            <a:endParaRPr lang="en-US" sz="1100"/>
          </a:p>
        </p:txBody>
      </p:sp>
      <p:sp>
        <p:nvSpPr>
          <p:cNvPr id="46" name="Text 44"/>
          <p:cNvSpPr/>
          <p:nvPr/>
        </p:nvSpPr>
        <p:spPr>
          <a:xfrm>
            <a:off x="7025518" y="36530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($1,198)</a:t>
            </a:r>
            <a:endParaRPr lang="en-US" sz="1100"/>
          </a:p>
        </p:txBody>
      </p:sp>
      <p:sp>
        <p:nvSpPr>
          <p:cNvPr id="47" name="Text 45"/>
          <p:cNvSpPr/>
          <p:nvPr/>
        </p:nvSpPr>
        <p:spPr>
          <a:xfrm>
            <a:off x="8640897" y="36530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($1,102)</a:t>
            </a:r>
            <a:endParaRPr lang="en-US" sz="1100"/>
          </a:p>
        </p:txBody>
      </p:sp>
      <p:sp>
        <p:nvSpPr>
          <p:cNvPr id="48" name="Text 46"/>
          <p:cNvSpPr/>
          <p:nvPr/>
        </p:nvSpPr>
        <p:spPr>
          <a:xfrm>
            <a:off x="10256276" y="3653028"/>
            <a:ext cx="1523939" cy="457200"/>
          </a:xfrm>
          <a:prstGeom prst="rect">
            <a:avLst/>
          </a:prstGeom>
          <a:noFill/>
          <a:ln/>
        </p:spPr>
        <p:txBody>
          <a:bodyPr wrap="square" lIns="0" tIns="0" rIns="0" bIns="0" rtlCol="0" anchor="ctr"/>
          <a:lstStyle/>
          <a:p>
            <a:pPr marL="0" indent="0" algn="ctr">
              <a:buNone/>
            </a:pPr>
            <a:r>
              <a:rPr lang="en-US" sz="1100">
                <a:solidFill>
                  <a:srgbClr val="1F4E79"/>
                </a:solidFill>
                <a:latin typeface="Calibri" pitchFamily="34" charset="0"/>
                <a:ea typeface="Calibri" pitchFamily="34" charset="-122"/>
                <a:cs typeface="Calibri" pitchFamily="34" charset="-120"/>
              </a:rPr>
              <a:t>($982)</a:t>
            </a:r>
            <a:endParaRPr lang="en-US" sz="1100"/>
          </a:p>
        </p:txBody>
      </p:sp>
      <p:sp>
        <p:nvSpPr>
          <p:cNvPr id="49" name="Shape 47"/>
          <p:cNvSpPr/>
          <p:nvPr/>
        </p:nvSpPr>
        <p:spPr>
          <a:xfrm>
            <a:off x="457200" y="4110228"/>
            <a:ext cx="11277295" cy="457200"/>
          </a:xfrm>
          <a:prstGeom prst="rect">
            <a:avLst/>
          </a:prstGeom>
          <a:solidFill>
            <a:srgbClr val="EAF2F9"/>
          </a:solidFill>
          <a:ln w="3175">
            <a:solidFill>
              <a:srgbClr val="D9D9D9"/>
            </a:solidFill>
            <a:prstDash val="solid"/>
          </a:ln>
        </p:spPr>
        <p:txBody>
          <a:bodyPr/>
          <a:lstStyle/>
          <a:p>
            <a:endParaRPr lang="en-US"/>
          </a:p>
        </p:txBody>
      </p:sp>
      <p:sp>
        <p:nvSpPr>
          <p:cNvPr id="50" name="Text 48"/>
          <p:cNvSpPr/>
          <p:nvPr/>
        </p:nvSpPr>
        <p:spPr>
          <a:xfrm>
            <a:off x="594360" y="4110228"/>
            <a:ext cx="3108960" cy="45720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Total Debt / EBITDA</a:t>
            </a:r>
            <a:endParaRPr lang="en-US" sz="1100"/>
          </a:p>
        </p:txBody>
      </p:sp>
      <p:sp>
        <p:nvSpPr>
          <p:cNvPr id="51" name="Text 49"/>
          <p:cNvSpPr/>
          <p:nvPr/>
        </p:nvSpPr>
        <p:spPr>
          <a:xfrm>
            <a:off x="3794760" y="41102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5.9x</a:t>
            </a:r>
            <a:endParaRPr lang="en-US" sz="1100"/>
          </a:p>
        </p:txBody>
      </p:sp>
      <p:sp>
        <p:nvSpPr>
          <p:cNvPr id="52" name="Text 50"/>
          <p:cNvSpPr/>
          <p:nvPr/>
        </p:nvSpPr>
        <p:spPr>
          <a:xfrm>
            <a:off x="5410139" y="41102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3.9x</a:t>
            </a:r>
            <a:endParaRPr lang="en-US" sz="1100"/>
          </a:p>
        </p:txBody>
      </p:sp>
      <p:sp>
        <p:nvSpPr>
          <p:cNvPr id="53" name="Text 51"/>
          <p:cNvSpPr/>
          <p:nvPr/>
        </p:nvSpPr>
        <p:spPr>
          <a:xfrm>
            <a:off x="7025518" y="41102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3.7x</a:t>
            </a:r>
            <a:endParaRPr lang="en-US" sz="1100"/>
          </a:p>
        </p:txBody>
      </p:sp>
      <p:sp>
        <p:nvSpPr>
          <p:cNvPr id="54" name="Text 52"/>
          <p:cNvSpPr/>
          <p:nvPr/>
        </p:nvSpPr>
        <p:spPr>
          <a:xfrm>
            <a:off x="8640897" y="41102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3.1x</a:t>
            </a:r>
            <a:endParaRPr lang="en-US" sz="1100"/>
          </a:p>
        </p:txBody>
      </p:sp>
      <p:sp>
        <p:nvSpPr>
          <p:cNvPr id="55" name="Text 53"/>
          <p:cNvSpPr/>
          <p:nvPr/>
        </p:nvSpPr>
        <p:spPr>
          <a:xfrm>
            <a:off x="10256276" y="41102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2.6x</a:t>
            </a:r>
            <a:endParaRPr lang="en-US" sz="1100"/>
          </a:p>
        </p:txBody>
      </p:sp>
      <p:sp>
        <p:nvSpPr>
          <p:cNvPr id="56" name="Shape 54"/>
          <p:cNvSpPr/>
          <p:nvPr/>
        </p:nvSpPr>
        <p:spPr>
          <a:xfrm>
            <a:off x="457200" y="4567428"/>
            <a:ext cx="11277295" cy="457200"/>
          </a:xfrm>
          <a:prstGeom prst="rect">
            <a:avLst/>
          </a:prstGeom>
          <a:solidFill>
            <a:srgbClr val="EAF2F9"/>
          </a:solidFill>
          <a:ln w="3175">
            <a:solidFill>
              <a:srgbClr val="D9D9D9"/>
            </a:solidFill>
            <a:prstDash val="solid"/>
          </a:ln>
        </p:spPr>
        <p:txBody>
          <a:bodyPr/>
          <a:lstStyle/>
          <a:p>
            <a:endParaRPr lang="en-US"/>
          </a:p>
        </p:txBody>
      </p:sp>
      <p:sp>
        <p:nvSpPr>
          <p:cNvPr id="57" name="Text 55"/>
          <p:cNvSpPr/>
          <p:nvPr/>
        </p:nvSpPr>
        <p:spPr>
          <a:xfrm>
            <a:off x="594360" y="4567428"/>
            <a:ext cx="3108960" cy="457200"/>
          </a:xfrm>
          <a:prstGeom prst="rect">
            <a:avLst/>
          </a:prstGeom>
          <a:noFill/>
          <a:ln/>
        </p:spPr>
        <p:txBody>
          <a:bodyPr wrap="square" lIns="0" tIns="0" rIns="0" bIns="0" rtlCol="0" anchor="ctr"/>
          <a:lstStyle/>
          <a:p>
            <a:pPr marL="0" indent="0" algn="l">
              <a:buNone/>
            </a:pPr>
            <a:r>
              <a:rPr lang="en-US" sz="1100" b="1">
                <a:solidFill>
                  <a:srgbClr val="1F4E79"/>
                </a:solidFill>
                <a:latin typeface="Calibri" pitchFamily="34" charset="0"/>
                <a:ea typeface="Calibri" pitchFamily="34" charset="-122"/>
                <a:cs typeface="Calibri" pitchFamily="34" charset="-120"/>
              </a:rPr>
              <a:t>EBITDA / Interest Coverage</a:t>
            </a:r>
            <a:endParaRPr lang="en-US" sz="1100"/>
          </a:p>
        </p:txBody>
      </p:sp>
      <p:sp>
        <p:nvSpPr>
          <p:cNvPr id="58" name="Text 56"/>
          <p:cNvSpPr/>
          <p:nvPr/>
        </p:nvSpPr>
        <p:spPr>
          <a:xfrm>
            <a:off x="3794760" y="45674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2.3x</a:t>
            </a:r>
            <a:endParaRPr lang="en-US" sz="1100"/>
          </a:p>
        </p:txBody>
      </p:sp>
      <p:sp>
        <p:nvSpPr>
          <p:cNvPr id="59" name="Text 57"/>
          <p:cNvSpPr/>
          <p:nvPr/>
        </p:nvSpPr>
        <p:spPr>
          <a:xfrm>
            <a:off x="5410139" y="45674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3.3x</a:t>
            </a:r>
            <a:endParaRPr lang="en-US" sz="1100"/>
          </a:p>
        </p:txBody>
      </p:sp>
      <p:sp>
        <p:nvSpPr>
          <p:cNvPr id="60" name="Text 58"/>
          <p:cNvSpPr/>
          <p:nvPr/>
        </p:nvSpPr>
        <p:spPr>
          <a:xfrm>
            <a:off x="7025518" y="45674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3.4x</a:t>
            </a:r>
            <a:endParaRPr lang="en-US" sz="1100"/>
          </a:p>
        </p:txBody>
      </p:sp>
      <p:sp>
        <p:nvSpPr>
          <p:cNvPr id="61" name="Text 59"/>
          <p:cNvSpPr/>
          <p:nvPr/>
        </p:nvSpPr>
        <p:spPr>
          <a:xfrm>
            <a:off x="8640897" y="45674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3.9x</a:t>
            </a:r>
            <a:endParaRPr lang="en-US" sz="1100"/>
          </a:p>
        </p:txBody>
      </p:sp>
      <p:sp>
        <p:nvSpPr>
          <p:cNvPr id="62" name="Text 60"/>
          <p:cNvSpPr/>
          <p:nvPr/>
        </p:nvSpPr>
        <p:spPr>
          <a:xfrm>
            <a:off x="10256276" y="4567428"/>
            <a:ext cx="1523939" cy="45720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4.6x</a:t>
            </a:r>
            <a:endParaRPr lang="en-US" sz="1100"/>
          </a:p>
        </p:txBody>
      </p:sp>
      <p:sp>
        <p:nvSpPr>
          <p:cNvPr id="63" name="Text 61"/>
          <p:cNvSpPr/>
          <p:nvPr/>
        </p:nvSpPr>
        <p:spPr>
          <a:xfrm>
            <a:off x="457200" y="6254496"/>
            <a:ext cx="11277295" cy="365760"/>
          </a:xfrm>
          <a:prstGeom prst="rect">
            <a:avLst/>
          </a:prstGeom>
          <a:noFill/>
          <a:ln/>
        </p:spPr>
        <p:txBody>
          <a:bodyPr wrap="square" lIns="0" tIns="0" rIns="0" bIns="0" rtlCol="0" anchor="t"/>
          <a:lstStyle/>
          <a:p>
            <a:pPr marL="0" indent="0" algn="ctr">
              <a:buNone/>
            </a:pPr>
            <a:r>
              <a:rPr lang="en-US" sz="900" i="1">
                <a:solidFill>
                  <a:srgbClr val="595959"/>
                </a:solidFill>
                <a:latin typeface="Calibri" pitchFamily="34" charset="0"/>
                <a:ea typeface="Calibri" pitchFamily="34" charset="-122"/>
                <a:cs typeface="Calibri" pitchFamily="34" charset="-120"/>
              </a:rPr>
              <a:t>Source: LBO Model debt schedule. WACD 7.31%. Mandatory amortization $244M/year on TLA + TLB combined. Cash sweep applies to FCF available for prepayment after mandatory.</a:t>
            </a:r>
            <a:endParaRPr lang="en-US" sz="900"/>
          </a:p>
        </p:txBody>
      </p:sp>
      <p:sp>
        <p:nvSpPr>
          <p:cNvPr id="64" name="Text 62"/>
          <p:cNvSpPr/>
          <p:nvPr/>
        </p:nvSpPr>
        <p:spPr>
          <a:xfrm>
            <a:off x="457199" y="5181025"/>
            <a:ext cx="11277295" cy="365760"/>
          </a:xfrm>
          <a:prstGeom prst="rect">
            <a:avLst/>
          </a:prstGeom>
          <a:noFill/>
          <a:ln/>
        </p:spPr>
        <p:txBody>
          <a:bodyPr wrap="square" lIns="0" tIns="0" rIns="0" bIns="0" rtlCol="0" anchor="ctr"/>
          <a:lstStyle/>
          <a:p>
            <a:pPr marL="0" indent="0" algn="ctr">
              <a:buNone/>
            </a:pPr>
            <a:r>
              <a:rPr lang="en-US" sz="1100" b="1">
                <a:solidFill>
                  <a:srgbClr val="1F4E79"/>
                </a:solidFill>
                <a:latin typeface="Calibri" pitchFamily="34" charset="0"/>
                <a:ea typeface="Calibri" pitchFamily="34" charset="-122"/>
                <a:cs typeface="Calibri" pitchFamily="34" charset="-120"/>
              </a:rPr>
              <a:t>Deleveraging Story: $18.0B → $11.5B over the hold (–$6.5B), reducing Total Debt / EBITDA from 5.9x to 2.6x. Interest coverage doubles from 2.3x to 4.6x.</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A9 — Process &amp; Related-Party Disclosures</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A9</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Text 5"/>
          <p:cNvSpPr/>
          <p:nvPr/>
        </p:nvSpPr>
        <p:spPr>
          <a:xfrm>
            <a:off x="457200" y="1005840"/>
            <a:ext cx="5577840" cy="365760"/>
          </a:xfrm>
          <a:prstGeom prst="rect">
            <a:avLst/>
          </a:prstGeom>
          <a:noFill/>
          <a:ln/>
        </p:spPr>
        <p:txBody>
          <a:bodyPr wrap="square" lIns="0" tIns="0" rIns="0" bIns="0" rtlCol="0" anchor="ctr"/>
          <a:lstStyle/>
          <a:p>
            <a:pPr marL="0" indent="0" algn="l">
              <a:buNone/>
            </a:pPr>
            <a:r>
              <a:rPr lang="en-US" sz="1600" b="1" i="1">
                <a:solidFill>
                  <a:srgbClr val="1F4E79"/>
                </a:solidFill>
                <a:latin typeface="Calibri" pitchFamily="34" charset="0"/>
                <a:ea typeface="Calibri" pitchFamily="34" charset="-122"/>
                <a:cs typeface="Calibri" pitchFamily="34" charset="-120"/>
              </a:rPr>
              <a:t>Process Timeline</a:t>
            </a:r>
            <a:endParaRPr lang="en-US" sz="1600"/>
          </a:p>
        </p:txBody>
      </p:sp>
      <p:sp>
        <p:nvSpPr>
          <p:cNvPr id="8" name="Shape 6"/>
          <p:cNvSpPr/>
          <p:nvPr/>
        </p:nvSpPr>
        <p:spPr>
          <a:xfrm>
            <a:off x="457200" y="1371600"/>
            <a:ext cx="1280160" cy="45720"/>
          </a:xfrm>
          <a:prstGeom prst="rect">
            <a:avLst/>
          </a:prstGeom>
          <a:solidFill>
            <a:srgbClr val="2E75B6"/>
          </a:solidFill>
          <a:ln/>
        </p:spPr>
        <p:txBody>
          <a:bodyPr/>
          <a:lstStyle/>
          <a:p>
            <a:endParaRPr lang="en-US"/>
          </a:p>
        </p:txBody>
      </p:sp>
      <p:sp>
        <p:nvSpPr>
          <p:cNvPr id="9" name="Shape 7"/>
          <p:cNvSpPr/>
          <p:nvPr/>
        </p:nvSpPr>
        <p:spPr>
          <a:xfrm>
            <a:off x="457200" y="1600200"/>
            <a:ext cx="1417320" cy="274320"/>
          </a:xfrm>
          <a:prstGeom prst="rect">
            <a:avLst/>
          </a:prstGeom>
          <a:solidFill>
            <a:srgbClr val="1F4E79"/>
          </a:solidFill>
          <a:ln/>
        </p:spPr>
        <p:txBody>
          <a:bodyPr/>
          <a:lstStyle/>
          <a:p>
            <a:endParaRPr lang="en-US"/>
          </a:p>
        </p:txBody>
      </p:sp>
      <p:sp>
        <p:nvSpPr>
          <p:cNvPr id="10" name="Text 8"/>
          <p:cNvSpPr/>
          <p:nvPr/>
        </p:nvSpPr>
        <p:spPr>
          <a:xfrm>
            <a:off x="457200" y="1600200"/>
            <a:ext cx="1417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Dec 11, 2024</a:t>
            </a:r>
            <a:endParaRPr lang="en-US" sz="900"/>
          </a:p>
        </p:txBody>
      </p:sp>
      <p:sp>
        <p:nvSpPr>
          <p:cNvPr id="11" name="Text 9"/>
          <p:cNvSpPr/>
          <p:nvPr/>
        </p:nvSpPr>
        <p:spPr>
          <a:xfrm>
            <a:off x="1965960" y="1554480"/>
            <a:ext cx="402336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Andrew Wilson begins as Silver Lake special advisor ($250K retainer + fund participation)</a:t>
            </a:r>
            <a:endParaRPr lang="en-US" sz="1000"/>
          </a:p>
        </p:txBody>
      </p:sp>
      <p:sp>
        <p:nvSpPr>
          <p:cNvPr id="12" name="Shape 10"/>
          <p:cNvSpPr/>
          <p:nvPr/>
        </p:nvSpPr>
        <p:spPr>
          <a:xfrm>
            <a:off x="457200" y="2194560"/>
            <a:ext cx="1417320" cy="274320"/>
          </a:xfrm>
          <a:prstGeom prst="rect">
            <a:avLst/>
          </a:prstGeom>
          <a:solidFill>
            <a:srgbClr val="1F4E79"/>
          </a:solidFill>
          <a:ln/>
        </p:spPr>
        <p:txBody>
          <a:bodyPr/>
          <a:lstStyle/>
          <a:p>
            <a:endParaRPr lang="en-US"/>
          </a:p>
        </p:txBody>
      </p:sp>
      <p:sp>
        <p:nvSpPr>
          <p:cNvPr id="13" name="Text 11"/>
          <p:cNvSpPr/>
          <p:nvPr/>
        </p:nvSpPr>
        <p:spPr>
          <a:xfrm>
            <a:off x="457200" y="2194560"/>
            <a:ext cx="1417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Sep 12, 2025</a:t>
            </a:r>
            <a:endParaRPr lang="en-US" sz="900"/>
          </a:p>
        </p:txBody>
      </p:sp>
      <p:sp>
        <p:nvSpPr>
          <p:cNvPr id="14" name="Text 12"/>
          <p:cNvSpPr/>
          <p:nvPr/>
        </p:nvSpPr>
        <p:spPr>
          <a:xfrm>
            <a:off x="1965960" y="2148840"/>
            <a:ext cx="402336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Wilson terminates Silver Lake advisor role (16 days pre-deal signing)</a:t>
            </a:r>
            <a:endParaRPr lang="en-US" sz="1000"/>
          </a:p>
        </p:txBody>
      </p:sp>
      <p:sp>
        <p:nvSpPr>
          <p:cNvPr id="15" name="Shape 13"/>
          <p:cNvSpPr/>
          <p:nvPr/>
        </p:nvSpPr>
        <p:spPr>
          <a:xfrm>
            <a:off x="457200" y="2788920"/>
            <a:ext cx="1417320" cy="274320"/>
          </a:xfrm>
          <a:prstGeom prst="rect">
            <a:avLst/>
          </a:prstGeom>
          <a:solidFill>
            <a:srgbClr val="1F4E79"/>
          </a:solidFill>
          <a:ln/>
        </p:spPr>
        <p:txBody>
          <a:bodyPr/>
          <a:lstStyle/>
          <a:p>
            <a:endParaRPr lang="en-US"/>
          </a:p>
        </p:txBody>
      </p:sp>
      <p:sp>
        <p:nvSpPr>
          <p:cNvPr id="16" name="Text 14"/>
          <p:cNvSpPr/>
          <p:nvPr/>
        </p:nvSpPr>
        <p:spPr>
          <a:xfrm>
            <a:off x="457200" y="2788920"/>
            <a:ext cx="1417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Sep 28, 2025</a:t>
            </a:r>
            <a:endParaRPr lang="en-US" sz="900"/>
          </a:p>
        </p:txBody>
      </p:sp>
      <p:sp>
        <p:nvSpPr>
          <p:cNvPr id="17" name="Text 15"/>
          <p:cNvSpPr/>
          <p:nvPr/>
        </p:nvSpPr>
        <p:spPr>
          <a:xfrm>
            <a:off x="1965960" y="2743200"/>
            <a:ext cx="402336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EA Board approves merger (Roche recused; no MFW Special Committee formed)</a:t>
            </a:r>
            <a:endParaRPr lang="en-US" sz="1000"/>
          </a:p>
        </p:txBody>
      </p:sp>
      <p:sp>
        <p:nvSpPr>
          <p:cNvPr id="18" name="Shape 16"/>
          <p:cNvSpPr/>
          <p:nvPr/>
        </p:nvSpPr>
        <p:spPr>
          <a:xfrm>
            <a:off x="457200" y="3383280"/>
            <a:ext cx="1417320" cy="274320"/>
          </a:xfrm>
          <a:prstGeom prst="rect">
            <a:avLst/>
          </a:prstGeom>
          <a:solidFill>
            <a:srgbClr val="1F4E79"/>
          </a:solidFill>
          <a:ln/>
        </p:spPr>
        <p:txBody>
          <a:bodyPr/>
          <a:lstStyle/>
          <a:p>
            <a:endParaRPr lang="en-US"/>
          </a:p>
        </p:txBody>
      </p:sp>
      <p:sp>
        <p:nvSpPr>
          <p:cNvPr id="19" name="Text 17"/>
          <p:cNvSpPr/>
          <p:nvPr/>
        </p:nvSpPr>
        <p:spPr>
          <a:xfrm>
            <a:off x="457200" y="3383280"/>
            <a:ext cx="1417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Sep 29, 2025</a:t>
            </a:r>
            <a:endParaRPr lang="en-US" sz="900"/>
          </a:p>
        </p:txBody>
      </p:sp>
      <p:sp>
        <p:nvSpPr>
          <p:cNvPr id="20" name="Text 18"/>
          <p:cNvSpPr/>
          <p:nvPr/>
        </p:nvSpPr>
        <p:spPr>
          <a:xfrm>
            <a:off x="1965960" y="3337560"/>
            <a:ext cx="402336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Deal announced via 8-K</a:t>
            </a:r>
            <a:endParaRPr lang="en-US" sz="1000"/>
          </a:p>
        </p:txBody>
      </p:sp>
      <p:sp>
        <p:nvSpPr>
          <p:cNvPr id="21" name="Shape 19"/>
          <p:cNvSpPr/>
          <p:nvPr/>
        </p:nvSpPr>
        <p:spPr>
          <a:xfrm>
            <a:off x="457200" y="3977640"/>
            <a:ext cx="1417320" cy="274320"/>
          </a:xfrm>
          <a:prstGeom prst="rect">
            <a:avLst/>
          </a:prstGeom>
          <a:solidFill>
            <a:srgbClr val="1F4E79"/>
          </a:solidFill>
          <a:ln/>
        </p:spPr>
        <p:txBody>
          <a:bodyPr/>
          <a:lstStyle/>
          <a:p>
            <a:endParaRPr lang="en-US"/>
          </a:p>
        </p:txBody>
      </p:sp>
      <p:sp>
        <p:nvSpPr>
          <p:cNvPr id="22" name="Text 20"/>
          <p:cNvSpPr/>
          <p:nvPr/>
        </p:nvSpPr>
        <p:spPr>
          <a:xfrm>
            <a:off x="457200" y="3977640"/>
            <a:ext cx="1417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Nov 20, 2025</a:t>
            </a:r>
            <a:endParaRPr lang="en-US" sz="900"/>
          </a:p>
        </p:txBody>
      </p:sp>
      <p:sp>
        <p:nvSpPr>
          <p:cNvPr id="23" name="Text 21"/>
          <p:cNvSpPr/>
          <p:nvPr/>
        </p:nvSpPr>
        <p:spPr>
          <a:xfrm>
            <a:off x="1965960" y="3931920"/>
            <a:ext cx="402336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DEFM14A filed</a:t>
            </a:r>
            <a:endParaRPr lang="en-US" sz="1000"/>
          </a:p>
        </p:txBody>
      </p:sp>
      <p:sp>
        <p:nvSpPr>
          <p:cNvPr id="24" name="Shape 22"/>
          <p:cNvSpPr/>
          <p:nvPr/>
        </p:nvSpPr>
        <p:spPr>
          <a:xfrm>
            <a:off x="457200" y="4572000"/>
            <a:ext cx="1417320" cy="274320"/>
          </a:xfrm>
          <a:prstGeom prst="rect">
            <a:avLst/>
          </a:prstGeom>
          <a:solidFill>
            <a:srgbClr val="1F4E79"/>
          </a:solidFill>
          <a:ln/>
        </p:spPr>
        <p:txBody>
          <a:bodyPr/>
          <a:lstStyle/>
          <a:p>
            <a:endParaRPr lang="en-US"/>
          </a:p>
        </p:txBody>
      </p:sp>
      <p:sp>
        <p:nvSpPr>
          <p:cNvPr id="25" name="Text 23"/>
          <p:cNvSpPr/>
          <p:nvPr/>
        </p:nvSpPr>
        <p:spPr>
          <a:xfrm>
            <a:off x="457200" y="4572000"/>
            <a:ext cx="1417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Dec 15, 2025</a:t>
            </a:r>
            <a:endParaRPr lang="en-US" sz="900"/>
          </a:p>
        </p:txBody>
      </p:sp>
      <p:sp>
        <p:nvSpPr>
          <p:cNvPr id="26" name="Text 24"/>
          <p:cNvSpPr/>
          <p:nvPr/>
        </p:nvSpPr>
        <p:spPr>
          <a:xfrm>
            <a:off x="1965960" y="4526280"/>
            <a:ext cx="402336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DEFA14A supplement adds Wilson-Durban personal social relationship disclosure</a:t>
            </a:r>
            <a:endParaRPr lang="en-US" sz="1000"/>
          </a:p>
        </p:txBody>
      </p:sp>
      <p:sp>
        <p:nvSpPr>
          <p:cNvPr id="27" name="Shape 25"/>
          <p:cNvSpPr/>
          <p:nvPr/>
        </p:nvSpPr>
        <p:spPr>
          <a:xfrm>
            <a:off x="457200" y="5166360"/>
            <a:ext cx="1417320" cy="274320"/>
          </a:xfrm>
          <a:prstGeom prst="rect">
            <a:avLst/>
          </a:prstGeom>
          <a:solidFill>
            <a:srgbClr val="1F4E79"/>
          </a:solidFill>
          <a:ln/>
        </p:spPr>
        <p:txBody>
          <a:bodyPr/>
          <a:lstStyle/>
          <a:p>
            <a:endParaRPr lang="en-US"/>
          </a:p>
        </p:txBody>
      </p:sp>
      <p:sp>
        <p:nvSpPr>
          <p:cNvPr id="28" name="Text 26"/>
          <p:cNvSpPr/>
          <p:nvPr/>
        </p:nvSpPr>
        <p:spPr>
          <a:xfrm>
            <a:off x="457200" y="5166360"/>
            <a:ext cx="1417320" cy="274320"/>
          </a:xfrm>
          <a:prstGeom prst="rect">
            <a:avLst/>
          </a:prstGeom>
          <a:noFill/>
          <a:ln/>
        </p:spPr>
        <p:txBody>
          <a:bodyPr wrap="square" lIns="0" tIns="0" rIns="0" bIns="0" rtlCol="0" anchor="ctr"/>
          <a:lstStyle/>
          <a:p>
            <a:pPr marL="0" indent="0" algn="ctr">
              <a:buNone/>
            </a:pPr>
            <a:r>
              <a:rPr lang="en-US" sz="900" b="1">
                <a:solidFill>
                  <a:srgbClr val="FFFFFF"/>
                </a:solidFill>
                <a:latin typeface="Calibri" pitchFamily="34" charset="0"/>
                <a:ea typeface="Calibri" pitchFamily="34" charset="-122"/>
                <a:cs typeface="Calibri" pitchFamily="34" charset="-120"/>
              </a:rPr>
              <a:t>Dec 22, 2025</a:t>
            </a:r>
            <a:endParaRPr lang="en-US" sz="900"/>
          </a:p>
        </p:txBody>
      </p:sp>
      <p:sp>
        <p:nvSpPr>
          <p:cNvPr id="29" name="Text 27"/>
          <p:cNvSpPr/>
          <p:nvPr/>
        </p:nvSpPr>
        <p:spPr>
          <a:xfrm>
            <a:off x="1965960" y="5120640"/>
            <a:ext cx="4023360" cy="50292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Stockholder vote: 99.06% For (of votes cast); 80.55% of outstanding shares</a:t>
            </a:r>
            <a:endParaRPr lang="en-US" sz="1000"/>
          </a:p>
        </p:txBody>
      </p:sp>
      <p:sp>
        <p:nvSpPr>
          <p:cNvPr id="30" name="Text 28"/>
          <p:cNvSpPr/>
          <p:nvPr/>
        </p:nvSpPr>
        <p:spPr>
          <a:xfrm>
            <a:off x="6263640" y="1005840"/>
            <a:ext cx="5577840" cy="365760"/>
          </a:xfrm>
          <a:prstGeom prst="rect">
            <a:avLst/>
          </a:prstGeom>
          <a:noFill/>
          <a:ln/>
        </p:spPr>
        <p:txBody>
          <a:bodyPr wrap="square" lIns="0" tIns="0" rIns="0" bIns="0" rtlCol="0" anchor="ctr"/>
          <a:lstStyle/>
          <a:p>
            <a:pPr marL="0" indent="0" algn="l">
              <a:buNone/>
            </a:pPr>
            <a:r>
              <a:rPr lang="en-US" sz="1600" b="1" i="1">
                <a:solidFill>
                  <a:srgbClr val="1F4E79"/>
                </a:solidFill>
                <a:latin typeface="Calibri" pitchFamily="34" charset="0"/>
                <a:ea typeface="Calibri" pitchFamily="34" charset="-122"/>
                <a:cs typeface="Calibri" pitchFamily="34" charset="-120"/>
              </a:rPr>
              <a:t>Independence Mitigants</a:t>
            </a:r>
            <a:endParaRPr lang="en-US" sz="1600"/>
          </a:p>
        </p:txBody>
      </p:sp>
      <p:sp>
        <p:nvSpPr>
          <p:cNvPr id="31" name="Shape 29"/>
          <p:cNvSpPr/>
          <p:nvPr/>
        </p:nvSpPr>
        <p:spPr>
          <a:xfrm>
            <a:off x="6263640" y="1371600"/>
            <a:ext cx="1280160" cy="45720"/>
          </a:xfrm>
          <a:prstGeom prst="rect">
            <a:avLst/>
          </a:prstGeom>
          <a:solidFill>
            <a:srgbClr val="2E75B6"/>
          </a:solidFill>
          <a:ln/>
        </p:spPr>
        <p:txBody>
          <a:bodyPr/>
          <a:lstStyle/>
          <a:p>
            <a:endParaRPr lang="en-US"/>
          </a:p>
        </p:txBody>
      </p:sp>
      <p:sp>
        <p:nvSpPr>
          <p:cNvPr id="32" name="Shape 30"/>
          <p:cNvSpPr/>
          <p:nvPr/>
        </p:nvSpPr>
        <p:spPr>
          <a:xfrm>
            <a:off x="6263640" y="1600200"/>
            <a:ext cx="5577840" cy="777240"/>
          </a:xfrm>
          <a:prstGeom prst="rect">
            <a:avLst/>
          </a:prstGeom>
          <a:solidFill>
            <a:srgbClr val="FFFFFF"/>
          </a:solidFill>
          <a:ln w="12700">
            <a:solidFill>
              <a:srgbClr val="D9D9D9"/>
            </a:solidFill>
            <a:prstDash val="solid"/>
          </a:ln>
        </p:spPr>
        <p:txBody>
          <a:bodyPr/>
          <a:lstStyle/>
          <a:p>
            <a:endParaRPr lang="en-US"/>
          </a:p>
        </p:txBody>
      </p:sp>
      <p:sp>
        <p:nvSpPr>
          <p:cNvPr id="33" name="Shape 31"/>
          <p:cNvSpPr/>
          <p:nvPr/>
        </p:nvSpPr>
        <p:spPr>
          <a:xfrm>
            <a:off x="6263640" y="1600200"/>
            <a:ext cx="91440" cy="777240"/>
          </a:xfrm>
          <a:prstGeom prst="rect">
            <a:avLst/>
          </a:prstGeom>
          <a:solidFill>
            <a:srgbClr val="1F4E79"/>
          </a:solidFill>
          <a:ln/>
        </p:spPr>
        <p:txBody>
          <a:bodyPr/>
          <a:lstStyle/>
          <a:p>
            <a:endParaRPr lang="en-US"/>
          </a:p>
        </p:txBody>
      </p:sp>
      <p:sp>
        <p:nvSpPr>
          <p:cNvPr id="34" name="Text 32"/>
          <p:cNvSpPr/>
          <p:nvPr/>
        </p:nvSpPr>
        <p:spPr>
          <a:xfrm>
            <a:off x="6446520" y="1645920"/>
            <a:ext cx="5303520" cy="274320"/>
          </a:xfrm>
          <a:prstGeom prst="rect">
            <a:avLst/>
          </a:prstGeom>
          <a:noFill/>
          <a:ln/>
        </p:spPr>
        <p:txBody>
          <a:bodyPr wrap="square" lIns="0" tIns="0" rIns="0" bIns="0" rtlCol="0" anchor="ctr"/>
          <a:lstStyle/>
          <a:p>
            <a:pPr marL="0" indent="0" algn="l">
              <a:buNone/>
            </a:pPr>
            <a:r>
              <a:rPr lang="en-US" sz="1150" b="1">
                <a:solidFill>
                  <a:srgbClr val="1F4E79"/>
                </a:solidFill>
                <a:latin typeface="Calibri" pitchFamily="34" charset="0"/>
                <a:ea typeface="Calibri" pitchFamily="34" charset="-122"/>
                <a:cs typeface="Calibri" pitchFamily="34" charset="-120"/>
              </a:rPr>
              <a:t>Independent Fairness Opinion</a:t>
            </a:r>
            <a:endParaRPr lang="en-US" sz="1150"/>
          </a:p>
        </p:txBody>
      </p:sp>
      <p:sp>
        <p:nvSpPr>
          <p:cNvPr id="35" name="Text 33"/>
          <p:cNvSpPr/>
          <p:nvPr/>
        </p:nvSpPr>
        <p:spPr>
          <a:xfrm>
            <a:off x="6446520" y="1920240"/>
            <a:ext cx="5303520" cy="457200"/>
          </a:xfrm>
          <a:prstGeom prst="rect">
            <a:avLst/>
          </a:prstGeom>
          <a:noFill/>
          <a:ln/>
        </p:spPr>
        <p:txBody>
          <a:bodyPr wrap="square" lIns="0" tIns="0" rIns="0" bIns="0" rtlCol="0" anchor="t"/>
          <a:lstStyle/>
          <a:p>
            <a:pPr marL="0" indent="0" algn="l">
              <a:buNone/>
            </a:pPr>
            <a:r>
              <a:rPr lang="en-US" sz="950">
                <a:solidFill>
                  <a:srgbClr val="595959"/>
                </a:solidFill>
                <a:latin typeface="Calibri" pitchFamily="34" charset="0"/>
                <a:ea typeface="Calibri" pitchFamily="34" charset="-122"/>
                <a:cs typeface="Calibri" pitchFamily="34" charset="-120"/>
              </a:rPr>
              <a:t>Goldman Sachs (~$110M fee) issued opinion concluding $210 is fair from a financial point of view (DEFM14A pp.41–55)</a:t>
            </a:r>
            <a:endParaRPr lang="en-US" sz="950"/>
          </a:p>
        </p:txBody>
      </p:sp>
      <p:sp>
        <p:nvSpPr>
          <p:cNvPr id="36" name="Shape 34"/>
          <p:cNvSpPr/>
          <p:nvPr/>
        </p:nvSpPr>
        <p:spPr>
          <a:xfrm>
            <a:off x="6263640" y="2468880"/>
            <a:ext cx="5577840" cy="777240"/>
          </a:xfrm>
          <a:prstGeom prst="rect">
            <a:avLst/>
          </a:prstGeom>
          <a:solidFill>
            <a:srgbClr val="FFFFFF"/>
          </a:solidFill>
          <a:ln w="12700">
            <a:solidFill>
              <a:srgbClr val="D9D9D9"/>
            </a:solidFill>
            <a:prstDash val="solid"/>
          </a:ln>
        </p:spPr>
        <p:txBody>
          <a:bodyPr/>
          <a:lstStyle/>
          <a:p>
            <a:endParaRPr lang="en-US"/>
          </a:p>
        </p:txBody>
      </p:sp>
      <p:sp>
        <p:nvSpPr>
          <p:cNvPr id="37" name="Shape 35"/>
          <p:cNvSpPr/>
          <p:nvPr/>
        </p:nvSpPr>
        <p:spPr>
          <a:xfrm>
            <a:off x="6263640" y="2468880"/>
            <a:ext cx="91440" cy="777240"/>
          </a:xfrm>
          <a:prstGeom prst="rect">
            <a:avLst/>
          </a:prstGeom>
          <a:solidFill>
            <a:srgbClr val="1F4E79"/>
          </a:solidFill>
          <a:ln/>
        </p:spPr>
        <p:txBody>
          <a:bodyPr/>
          <a:lstStyle/>
          <a:p>
            <a:endParaRPr lang="en-US"/>
          </a:p>
        </p:txBody>
      </p:sp>
      <p:sp>
        <p:nvSpPr>
          <p:cNvPr id="38" name="Text 36"/>
          <p:cNvSpPr/>
          <p:nvPr/>
        </p:nvSpPr>
        <p:spPr>
          <a:xfrm>
            <a:off x="6446520" y="2514600"/>
            <a:ext cx="5303520" cy="274320"/>
          </a:xfrm>
          <a:prstGeom prst="rect">
            <a:avLst/>
          </a:prstGeom>
          <a:noFill/>
          <a:ln/>
        </p:spPr>
        <p:txBody>
          <a:bodyPr wrap="square" lIns="0" tIns="0" rIns="0" bIns="0" rtlCol="0" anchor="ctr"/>
          <a:lstStyle/>
          <a:p>
            <a:pPr marL="0" indent="0" algn="l">
              <a:buNone/>
            </a:pPr>
            <a:r>
              <a:rPr lang="en-US" sz="1150" b="1">
                <a:solidFill>
                  <a:srgbClr val="1F4E79"/>
                </a:solidFill>
                <a:latin typeface="Calibri" pitchFamily="34" charset="0"/>
                <a:ea typeface="Calibri" pitchFamily="34" charset="-122"/>
                <a:cs typeface="Calibri" pitchFamily="34" charset="-120"/>
              </a:rPr>
              <a:t>Lead Independent Director Oversight</a:t>
            </a:r>
            <a:endParaRPr lang="en-US" sz="1150"/>
          </a:p>
        </p:txBody>
      </p:sp>
      <p:sp>
        <p:nvSpPr>
          <p:cNvPr id="39" name="Text 37"/>
          <p:cNvSpPr/>
          <p:nvPr/>
        </p:nvSpPr>
        <p:spPr>
          <a:xfrm>
            <a:off x="6446520" y="2788920"/>
            <a:ext cx="5303520" cy="457200"/>
          </a:xfrm>
          <a:prstGeom prst="rect">
            <a:avLst/>
          </a:prstGeom>
          <a:noFill/>
          <a:ln/>
        </p:spPr>
        <p:txBody>
          <a:bodyPr wrap="square" lIns="0" tIns="0" rIns="0" bIns="0" rtlCol="0" anchor="t"/>
          <a:lstStyle/>
          <a:p>
            <a:pPr marL="0" indent="0" algn="l">
              <a:buNone/>
            </a:pPr>
            <a:r>
              <a:rPr lang="en-US" sz="950">
                <a:solidFill>
                  <a:srgbClr val="595959"/>
                </a:solidFill>
                <a:latin typeface="Calibri" pitchFamily="34" charset="0"/>
                <a:ea typeface="Calibri" pitchFamily="34" charset="-122"/>
                <a:cs typeface="Calibri" pitchFamily="34" charset="-120"/>
              </a:rPr>
              <a:t>Luis A. Ubiñas oversaw process (not the CEO/Chairman); separated review from management interests</a:t>
            </a:r>
            <a:endParaRPr lang="en-US" sz="950"/>
          </a:p>
        </p:txBody>
      </p:sp>
      <p:sp>
        <p:nvSpPr>
          <p:cNvPr id="40" name="Shape 38"/>
          <p:cNvSpPr/>
          <p:nvPr/>
        </p:nvSpPr>
        <p:spPr>
          <a:xfrm>
            <a:off x="6263640" y="3337560"/>
            <a:ext cx="5577840" cy="777240"/>
          </a:xfrm>
          <a:prstGeom prst="rect">
            <a:avLst/>
          </a:prstGeom>
          <a:solidFill>
            <a:srgbClr val="FFFFFF"/>
          </a:solidFill>
          <a:ln w="12700">
            <a:solidFill>
              <a:srgbClr val="D9D9D9"/>
            </a:solidFill>
            <a:prstDash val="solid"/>
          </a:ln>
        </p:spPr>
        <p:txBody>
          <a:bodyPr/>
          <a:lstStyle/>
          <a:p>
            <a:endParaRPr lang="en-US"/>
          </a:p>
        </p:txBody>
      </p:sp>
      <p:sp>
        <p:nvSpPr>
          <p:cNvPr id="41" name="Shape 39"/>
          <p:cNvSpPr/>
          <p:nvPr/>
        </p:nvSpPr>
        <p:spPr>
          <a:xfrm>
            <a:off x="6263640" y="3337560"/>
            <a:ext cx="91440" cy="777240"/>
          </a:xfrm>
          <a:prstGeom prst="rect">
            <a:avLst/>
          </a:prstGeom>
          <a:solidFill>
            <a:srgbClr val="1F4E79"/>
          </a:solidFill>
          <a:ln/>
        </p:spPr>
        <p:txBody>
          <a:bodyPr/>
          <a:lstStyle/>
          <a:p>
            <a:endParaRPr lang="en-US"/>
          </a:p>
        </p:txBody>
      </p:sp>
      <p:sp>
        <p:nvSpPr>
          <p:cNvPr id="42" name="Text 40"/>
          <p:cNvSpPr/>
          <p:nvPr/>
        </p:nvSpPr>
        <p:spPr>
          <a:xfrm>
            <a:off x="6446520" y="3383280"/>
            <a:ext cx="5303520" cy="274320"/>
          </a:xfrm>
          <a:prstGeom prst="rect">
            <a:avLst/>
          </a:prstGeom>
          <a:noFill/>
          <a:ln/>
        </p:spPr>
        <p:txBody>
          <a:bodyPr wrap="square" lIns="0" tIns="0" rIns="0" bIns="0" rtlCol="0" anchor="ctr"/>
          <a:lstStyle/>
          <a:p>
            <a:pPr marL="0" indent="0" algn="l">
              <a:buNone/>
            </a:pPr>
            <a:r>
              <a:rPr lang="en-US" sz="1150" b="1">
                <a:solidFill>
                  <a:srgbClr val="1F4E79"/>
                </a:solidFill>
                <a:latin typeface="Calibri" pitchFamily="34" charset="0"/>
                <a:ea typeface="Calibri" pitchFamily="34" charset="-122"/>
                <a:cs typeface="Calibri" pitchFamily="34" charset="-120"/>
              </a:rPr>
              <a:t>Director Recusal</a:t>
            </a:r>
            <a:endParaRPr lang="en-US" sz="1150"/>
          </a:p>
        </p:txBody>
      </p:sp>
      <p:sp>
        <p:nvSpPr>
          <p:cNvPr id="43" name="Text 41"/>
          <p:cNvSpPr/>
          <p:nvPr/>
        </p:nvSpPr>
        <p:spPr>
          <a:xfrm>
            <a:off x="6446520" y="3657600"/>
            <a:ext cx="5303520" cy="457200"/>
          </a:xfrm>
          <a:prstGeom prst="rect">
            <a:avLst/>
          </a:prstGeom>
          <a:noFill/>
          <a:ln/>
        </p:spPr>
        <p:txBody>
          <a:bodyPr wrap="square" lIns="0" tIns="0" rIns="0" bIns="0" rtlCol="0" anchor="t"/>
          <a:lstStyle/>
          <a:p>
            <a:pPr marL="0" indent="0" algn="l">
              <a:buNone/>
            </a:pPr>
            <a:r>
              <a:rPr lang="en-US" sz="950">
                <a:solidFill>
                  <a:srgbClr val="595959"/>
                </a:solidFill>
                <a:latin typeface="Calibri" pitchFamily="34" charset="0"/>
                <a:ea typeface="Calibri" pitchFamily="34" charset="-122"/>
                <a:cs typeface="Calibri" pitchFamily="34" charset="-120"/>
              </a:rPr>
              <a:t>Talbott Roche recused due to her own Silver Lake relationship</a:t>
            </a:r>
            <a:endParaRPr lang="en-US" sz="950"/>
          </a:p>
        </p:txBody>
      </p:sp>
      <p:sp>
        <p:nvSpPr>
          <p:cNvPr id="44" name="Shape 42"/>
          <p:cNvSpPr/>
          <p:nvPr/>
        </p:nvSpPr>
        <p:spPr>
          <a:xfrm>
            <a:off x="6263640" y="4206240"/>
            <a:ext cx="5577840" cy="777240"/>
          </a:xfrm>
          <a:prstGeom prst="rect">
            <a:avLst/>
          </a:prstGeom>
          <a:solidFill>
            <a:srgbClr val="FFFFFF"/>
          </a:solidFill>
          <a:ln w="12700">
            <a:solidFill>
              <a:srgbClr val="D9D9D9"/>
            </a:solidFill>
            <a:prstDash val="solid"/>
          </a:ln>
        </p:spPr>
        <p:txBody>
          <a:bodyPr/>
          <a:lstStyle/>
          <a:p>
            <a:endParaRPr lang="en-US"/>
          </a:p>
        </p:txBody>
      </p:sp>
      <p:sp>
        <p:nvSpPr>
          <p:cNvPr id="45" name="Shape 43"/>
          <p:cNvSpPr/>
          <p:nvPr/>
        </p:nvSpPr>
        <p:spPr>
          <a:xfrm>
            <a:off x="6263640" y="4206240"/>
            <a:ext cx="91440" cy="777240"/>
          </a:xfrm>
          <a:prstGeom prst="rect">
            <a:avLst/>
          </a:prstGeom>
          <a:solidFill>
            <a:srgbClr val="1F4E79"/>
          </a:solidFill>
          <a:ln/>
        </p:spPr>
        <p:txBody>
          <a:bodyPr/>
          <a:lstStyle/>
          <a:p>
            <a:endParaRPr lang="en-US"/>
          </a:p>
        </p:txBody>
      </p:sp>
      <p:sp>
        <p:nvSpPr>
          <p:cNvPr id="46" name="Text 44"/>
          <p:cNvSpPr/>
          <p:nvPr/>
        </p:nvSpPr>
        <p:spPr>
          <a:xfrm>
            <a:off x="6446520" y="4251960"/>
            <a:ext cx="5303520" cy="274320"/>
          </a:xfrm>
          <a:prstGeom prst="rect">
            <a:avLst/>
          </a:prstGeom>
          <a:noFill/>
          <a:ln/>
        </p:spPr>
        <p:txBody>
          <a:bodyPr wrap="square" lIns="0" tIns="0" rIns="0" bIns="0" rtlCol="0" anchor="ctr"/>
          <a:lstStyle/>
          <a:p>
            <a:pPr marL="0" indent="0" algn="l">
              <a:buNone/>
            </a:pPr>
            <a:r>
              <a:rPr lang="en-US" sz="1150" b="1">
                <a:solidFill>
                  <a:srgbClr val="1F4E79"/>
                </a:solidFill>
                <a:latin typeface="Calibri" pitchFamily="34" charset="0"/>
                <a:ea typeface="Calibri" pitchFamily="34" charset="-122"/>
                <a:cs typeface="Calibri" pitchFamily="34" charset="-120"/>
              </a:rPr>
              <a:t>Stockholder Vote Ratification</a:t>
            </a:r>
            <a:endParaRPr lang="en-US" sz="1150"/>
          </a:p>
        </p:txBody>
      </p:sp>
      <p:sp>
        <p:nvSpPr>
          <p:cNvPr id="47" name="Text 45"/>
          <p:cNvSpPr/>
          <p:nvPr/>
        </p:nvSpPr>
        <p:spPr>
          <a:xfrm>
            <a:off x="6446520" y="4526280"/>
            <a:ext cx="5303520" cy="457200"/>
          </a:xfrm>
          <a:prstGeom prst="rect">
            <a:avLst/>
          </a:prstGeom>
          <a:noFill/>
          <a:ln/>
        </p:spPr>
        <p:txBody>
          <a:bodyPr wrap="square" lIns="0" tIns="0" rIns="0" bIns="0" rtlCol="0" anchor="t"/>
          <a:lstStyle/>
          <a:p>
            <a:pPr marL="0" indent="0" algn="l">
              <a:buNone/>
            </a:pPr>
            <a:r>
              <a:rPr lang="en-US" sz="950">
                <a:solidFill>
                  <a:srgbClr val="595959"/>
                </a:solidFill>
                <a:latin typeface="Calibri" pitchFamily="34" charset="0"/>
                <a:ea typeface="Calibri" pitchFamily="34" charset="-122"/>
                <a:cs typeface="Calibri" pitchFamily="34" charset="-120"/>
              </a:rPr>
              <a:t>99.06% of votes cast in favor (post supplemental disclosure of Wilson-Durban relationship)</a:t>
            </a:r>
            <a:endParaRPr lang="en-US" sz="950"/>
          </a:p>
        </p:txBody>
      </p:sp>
      <p:sp>
        <p:nvSpPr>
          <p:cNvPr id="48" name="Shape 46"/>
          <p:cNvSpPr/>
          <p:nvPr/>
        </p:nvSpPr>
        <p:spPr>
          <a:xfrm>
            <a:off x="6263640" y="5074920"/>
            <a:ext cx="5577840" cy="777240"/>
          </a:xfrm>
          <a:prstGeom prst="rect">
            <a:avLst/>
          </a:prstGeom>
          <a:solidFill>
            <a:srgbClr val="FFFFFF"/>
          </a:solidFill>
          <a:ln w="12700">
            <a:solidFill>
              <a:srgbClr val="D9D9D9"/>
            </a:solidFill>
            <a:prstDash val="solid"/>
          </a:ln>
        </p:spPr>
        <p:txBody>
          <a:bodyPr/>
          <a:lstStyle/>
          <a:p>
            <a:endParaRPr lang="en-US"/>
          </a:p>
        </p:txBody>
      </p:sp>
      <p:sp>
        <p:nvSpPr>
          <p:cNvPr id="49" name="Shape 47"/>
          <p:cNvSpPr/>
          <p:nvPr/>
        </p:nvSpPr>
        <p:spPr>
          <a:xfrm>
            <a:off x="6263640" y="5074920"/>
            <a:ext cx="91440" cy="777240"/>
          </a:xfrm>
          <a:prstGeom prst="rect">
            <a:avLst/>
          </a:prstGeom>
          <a:solidFill>
            <a:srgbClr val="1F4E79"/>
          </a:solidFill>
          <a:ln/>
        </p:spPr>
        <p:txBody>
          <a:bodyPr/>
          <a:lstStyle/>
          <a:p>
            <a:endParaRPr lang="en-US"/>
          </a:p>
        </p:txBody>
      </p:sp>
      <p:sp>
        <p:nvSpPr>
          <p:cNvPr id="50" name="Text 48"/>
          <p:cNvSpPr/>
          <p:nvPr/>
        </p:nvSpPr>
        <p:spPr>
          <a:xfrm>
            <a:off x="6446520" y="5120640"/>
            <a:ext cx="5303520" cy="274320"/>
          </a:xfrm>
          <a:prstGeom prst="rect">
            <a:avLst/>
          </a:prstGeom>
          <a:noFill/>
          <a:ln/>
        </p:spPr>
        <p:txBody>
          <a:bodyPr wrap="square" lIns="0" tIns="0" rIns="0" bIns="0" rtlCol="0" anchor="ctr"/>
          <a:lstStyle/>
          <a:p>
            <a:pPr marL="0" indent="0" algn="l">
              <a:buNone/>
            </a:pPr>
            <a:r>
              <a:rPr lang="en-US" sz="1150" b="1">
                <a:solidFill>
                  <a:srgbClr val="1F4E79"/>
                </a:solidFill>
                <a:latin typeface="Calibri" pitchFamily="34" charset="0"/>
                <a:ea typeface="Calibri" pitchFamily="34" charset="-122"/>
                <a:cs typeface="Calibri" pitchFamily="34" charset="-120"/>
              </a:rPr>
              <a:t>Disclosure-Only Settlement Risk</a:t>
            </a:r>
            <a:endParaRPr lang="en-US" sz="1150"/>
          </a:p>
        </p:txBody>
      </p:sp>
      <p:sp>
        <p:nvSpPr>
          <p:cNvPr id="51" name="Text 49"/>
          <p:cNvSpPr/>
          <p:nvPr/>
        </p:nvSpPr>
        <p:spPr>
          <a:xfrm>
            <a:off x="6446520" y="5394960"/>
            <a:ext cx="5303520" cy="457200"/>
          </a:xfrm>
          <a:prstGeom prst="rect">
            <a:avLst/>
          </a:prstGeom>
          <a:noFill/>
          <a:ln/>
        </p:spPr>
        <p:txBody>
          <a:bodyPr wrap="square" lIns="0" tIns="0" rIns="0" bIns="0" rtlCol="0" anchor="t"/>
          <a:lstStyle/>
          <a:p>
            <a:pPr marL="0" indent="0" algn="l">
              <a:buNone/>
            </a:pPr>
            <a:r>
              <a:rPr lang="en-US" sz="950">
                <a:solidFill>
                  <a:srgbClr val="595959"/>
                </a:solidFill>
                <a:latin typeface="Calibri" pitchFamily="34" charset="0"/>
                <a:ea typeface="Calibri" pitchFamily="34" charset="-122"/>
                <a:cs typeface="Calibri" pitchFamily="34" charset="-120"/>
              </a:rPr>
              <a:t>Stockholder demand letters (Thompson, Kent, Garfield) addressed via DEFA14A supplemental disclosure</a:t>
            </a:r>
            <a:endParaRPr lang="en-US" sz="950"/>
          </a:p>
        </p:txBody>
      </p:sp>
      <p:sp>
        <p:nvSpPr>
          <p:cNvPr id="52" name="Shape 50"/>
          <p:cNvSpPr/>
          <p:nvPr/>
        </p:nvSpPr>
        <p:spPr>
          <a:xfrm>
            <a:off x="829376" y="5998464"/>
            <a:ext cx="10411327" cy="411480"/>
          </a:xfrm>
          <a:prstGeom prst="rect">
            <a:avLst/>
          </a:prstGeom>
          <a:solidFill>
            <a:srgbClr val="C00000"/>
          </a:solidFill>
          <a:ln/>
        </p:spPr>
        <p:txBody>
          <a:bodyPr/>
          <a:lstStyle/>
          <a:p>
            <a:pPr algn="ctr"/>
            <a:endParaRPr lang="en-US"/>
          </a:p>
        </p:txBody>
      </p:sp>
      <p:sp>
        <p:nvSpPr>
          <p:cNvPr id="53" name="Text 51"/>
          <p:cNvSpPr/>
          <p:nvPr/>
        </p:nvSpPr>
        <p:spPr>
          <a:xfrm>
            <a:off x="457200" y="5989320"/>
            <a:ext cx="11277295" cy="411480"/>
          </a:xfrm>
          <a:prstGeom prst="rect">
            <a:avLst/>
          </a:prstGeom>
          <a:noFill/>
          <a:ln/>
        </p:spPr>
        <p:txBody>
          <a:bodyPr wrap="square" lIns="0" tIns="0" rIns="0" bIns="0" rtlCol="0" anchor="ctr"/>
          <a:lstStyle/>
          <a:p>
            <a:pPr marL="0" indent="0" algn="ctr">
              <a:buNone/>
            </a:pPr>
            <a:r>
              <a:rPr lang="en-US" sz="1050" b="1" i="1">
                <a:solidFill>
                  <a:srgbClr val="FFFFFF"/>
                </a:solidFill>
                <a:latin typeface="Calibri" pitchFamily="34" charset="0"/>
                <a:ea typeface="Calibri" pitchFamily="34" charset="-122"/>
                <a:cs typeface="Calibri" pitchFamily="34" charset="-120"/>
              </a:rPr>
              <a:t>UNMITIGATED FLAG: EA did not form an MFW-compliant Special Committee. Disclosed in IM Section 12 for IC awareness.</a:t>
            </a:r>
            <a:endParaRPr lang="en-US" sz="105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777240"/>
          </a:xfrm>
          <a:prstGeom prst="rect">
            <a:avLst/>
          </a:prstGeom>
          <a:solidFill>
            <a:srgbClr val="1F4E79"/>
          </a:solidFill>
          <a:ln/>
        </p:spPr>
        <p:txBody>
          <a:bodyPr/>
          <a:lstStyle/>
          <a:p>
            <a:endParaRPr lang="en-US"/>
          </a:p>
        </p:txBody>
      </p:sp>
      <p:sp>
        <p:nvSpPr>
          <p:cNvPr id="3" name="Text 1"/>
          <p:cNvSpPr/>
          <p:nvPr/>
        </p:nvSpPr>
        <p:spPr>
          <a:xfrm>
            <a:off x="457200" y="0"/>
            <a:ext cx="11277295" cy="777240"/>
          </a:xfrm>
          <a:prstGeom prst="rect">
            <a:avLst/>
          </a:prstGeom>
          <a:noFill/>
          <a:ln/>
        </p:spPr>
        <p:txBody>
          <a:bodyPr wrap="square" lIns="0" tIns="0" rIns="0" bIns="0" rtlCol="0" anchor="ctr"/>
          <a:lstStyle/>
          <a:p>
            <a:pPr marL="0" indent="0" algn="ctr">
              <a:buNone/>
            </a:pPr>
            <a:r>
              <a:rPr lang="en-US" sz="2400" b="1">
                <a:solidFill>
                  <a:srgbClr val="FFFFFF"/>
                </a:solidFill>
                <a:latin typeface="Calibri" pitchFamily="34" charset="0"/>
                <a:ea typeface="Calibri" pitchFamily="34" charset="-122"/>
                <a:cs typeface="Calibri" pitchFamily="34" charset="-120"/>
              </a:rPr>
              <a:t>Appendix A10 — Deal Structure &amp; Key Terms</a:t>
            </a:r>
            <a:endParaRPr lang="en-US" sz="2400"/>
          </a:p>
        </p:txBody>
      </p:sp>
      <p:sp>
        <p:nvSpPr>
          <p:cNvPr id="4" name="Shape 2"/>
          <p:cNvSpPr/>
          <p:nvPr/>
        </p:nvSpPr>
        <p:spPr>
          <a:xfrm>
            <a:off x="164592" y="6437376"/>
            <a:ext cx="365760" cy="292608"/>
          </a:xfrm>
          <a:prstGeom prst="rect">
            <a:avLst/>
          </a:prstGeom>
          <a:solidFill>
            <a:srgbClr val="1F4E79"/>
          </a:solidFill>
          <a:ln/>
        </p:spPr>
        <p:txBody>
          <a:bodyPr/>
          <a:lstStyle/>
          <a:p>
            <a:endParaRPr lang="en-US"/>
          </a:p>
        </p:txBody>
      </p:sp>
      <p:sp>
        <p:nvSpPr>
          <p:cNvPr id="5" name="Text 3"/>
          <p:cNvSpPr/>
          <p:nvPr/>
        </p:nvSpPr>
        <p:spPr>
          <a:xfrm>
            <a:off x="164592" y="6437376"/>
            <a:ext cx="365760" cy="292608"/>
          </a:xfrm>
          <a:prstGeom prst="rect">
            <a:avLst/>
          </a:prstGeom>
          <a:noFill/>
          <a:ln/>
        </p:spPr>
        <p:txBody>
          <a:bodyPr wrap="square" lIns="0" tIns="0" rIns="0" bIns="0" rtlCol="0" anchor="ctr"/>
          <a:lstStyle/>
          <a:p>
            <a:pPr marL="0" indent="0" algn="ctr">
              <a:buNone/>
            </a:pPr>
            <a:r>
              <a:rPr lang="en-US" sz="1100" b="1">
                <a:solidFill>
                  <a:srgbClr val="FFFFFF"/>
                </a:solidFill>
                <a:latin typeface="Calibri" pitchFamily="34" charset="0"/>
                <a:ea typeface="Calibri" pitchFamily="34" charset="-122"/>
                <a:cs typeface="Calibri" pitchFamily="34" charset="-120"/>
              </a:rPr>
              <a:t>A10</a:t>
            </a:r>
            <a:endParaRPr lang="en-US" sz="1100"/>
          </a:p>
        </p:txBody>
      </p:sp>
      <p:sp>
        <p:nvSpPr>
          <p:cNvPr id="6" name="Text 4"/>
          <p:cNvSpPr/>
          <p:nvPr/>
        </p:nvSpPr>
        <p:spPr>
          <a:xfrm>
            <a:off x="457200" y="6583680"/>
            <a:ext cx="11277295" cy="182880"/>
          </a:xfrm>
          <a:prstGeom prst="rect">
            <a:avLst/>
          </a:prstGeom>
          <a:noFill/>
          <a:ln/>
        </p:spPr>
        <p:txBody>
          <a:bodyPr wrap="square" lIns="0" tIns="0" rIns="0" bIns="0" rtlCol="0" anchor="ctr"/>
          <a:lstStyle/>
          <a:p>
            <a:pPr marL="0" indent="0" algn="ctr">
              <a:buNone/>
            </a:pPr>
            <a:r>
              <a:rPr lang="en-US" sz="800" i="1">
                <a:solidFill>
                  <a:srgbClr val="BFBFBF"/>
                </a:solidFill>
                <a:latin typeface="Calibri" pitchFamily="34" charset="0"/>
                <a:ea typeface="Calibri" pitchFamily="34" charset="-122"/>
                <a:cs typeface="Calibri" pitchFamily="34" charset="-120"/>
              </a:rPr>
              <a:t>STRICTLY CONFIDENTIAL  •  Project Madden  •  University of Arkansas Master of Finance</a:t>
            </a:r>
            <a:endParaRPr lang="en-US" sz="800"/>
          </a:p>
        </p:txBody>
      </p:sp>
      <p:sp>
        <p:nvSpPr>
          <p:cNvPr id="7" name="Shape 5"/>
          <p:cNvSpPr/>
          <p:nvPr/>
        </p:nvSpPr>
        <p:spPr>
          <a:xfrm>
            <a:off x="457200" y="100584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8" name="Shape 6"/>
          <p:cNvSpPr/>
          <p:nvPr/>
        </p:nvSpPr>
        <p:spPr>
          <a:xfrm>
            <a:off x="457200" y="1005840"/>
            <a:ext cx="5577840" cy="411480"/>
          </a:xfrm>
          <a:prstGeom prst="rect">
            <a:avLst/>
          </a:prstGeom>
          <a:solidFill>
            <a:srgbClr val="1F4E79"/>
          </a:solidFill>
          <a:ln/>
        </p:spPr>
        <p:txBody>
          <a:bodyPr/>
          <a:lstStyle/>
          <a:p>
            <a:endParaRPr lang="en-US"/>
          </a:p>
        </p:txBody>
      </p:sp>
      <p:sp>
        <p:nvSpPr>
          <p:cNvPr id="9" name="Text 7"/>
          <p:cNvSpPr/>
          <p:nvPr/>
        </p:nvSpPr>
        <p:spPr>
          <a:xfrm>
            <a:off x="640080" y="100584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Merger Structure</a:t>
            </a:r>
            <a:endParaRPr lang="en-US" sz="1200"/>
          </a:p>
        </p:txBody>
      </p:sp>
      <p:sp>
        <p:nvSpPr>
          <p:cNvPr id="10" name="Text 8"/>
          <p:cNvSpPr/>
          <p:nvPr/>
        </p:nvSpPr>
        <p:spPr>
          <a:xfrm>
            <a:off x="640080" y="150876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Reverse triangular merger. Oak-Eagle AcquireCo (parent) + Oak-Eagle MergerCo (sub). Sub merges into EA; EA is surviving entity, becomes wholly-owned subsidiary of Parent.</a:t>
            </a:r>
            <a:endParaRPr lang="en-US" sz="1000"/>
          </a:p>
        </p:txBody>
      </p:sp>
      <p:sp>
        <p:nvSpPr>
          <p:cNvPr id="11" name="Shape 9"/>
          <p:cNvSpPr/>
          <p:nvPr/>
        </p:nvSpPr>
        <p:spPr>
          <a:xfrm>
            <a:off x="457200" y="233172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2" name="Shape 10"/>
          <p:cNvSpPr/>
          <p:nvPr/>
        </p:nvSpPr>
        <p:spPr>
          <a:xfrm>
            <a:off x="457200" y="2331720"/>
            <a:ext cx="5577840" cy="411480"/>
          </a:xfrm>
          <a:prstGeom prst="rect">
            <a:avLst/>
          </a:prstGeom>
          <a:solidFill>
            <a:srgbClr val="1F4E79"/>
          </a:solidFill>
          <a:ln/>
        </p:spPr>
        <p:txBody>
          <a:bodyPr/>
          <a:lstStyle/>
          <a:p>
            <a:endParaRPr lang="en-US"/>
          </a:p>
        </p:txBody>
      </p:sp>
      <p:sp>
        <p:nvSpPr>
          <p:cNvPr id="13" name="Text 11"/>
          <p:cNvSpPr/>
          <p:nvPr/>
        </p:nvSpPr>
        <p:spPr>
          <a:xfrm>
            <a:off x="640080" y="233172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Equity Commitment</a:t>
            </a:r>
            <a:endParaRPr lang="en-US" sz="1200"/>
          </a:p>
        </p:txBody>
      </p:sp>
      <p:sp>
        <p:nvSpPr>
          <p:cNvPr id="14" name="Text 12"/>
          <p:cNvSpPr/>
          <p:nvPr/>
        </p:nvSpPr>
        <p:spPr>
          <a:xfrm>
            <a:off x="640080" y="283464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$36.4B aggregate (PIF $5.2B rolled at 9.9%, plus $31.2B new cash). Individual sponsor splits between PIF / Silver Lake / Affinity not publicly disclosed.</a:t>
            </a:r>
            <a:endParaRPr lang="en-US" sz="1000"/>
          </a:p>
        </p:txBody>
      </p:sp>
      <p:sp>
        <p:nvSpPr>
          <p:cNvPr id="15" name="Shape 13"/>
          <p:cNvSpPr/>
          <p:nvPr/>
        </p:nvSpPr>
        <p:spPr>
          <a:xfrm>
            <a:off x="457200" y="365760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16" name="Shape 14"/>
          <p:cNvSpPr/>
          <p:nvPr/>
        </p:nvSpPr>
        <p:spPr>
          <a:xfrm>
            <a:off x="457200" y="3657600"/>
            <a:ext cx="5577840" cy="411480"/>
          </a:xfrm>
          <a:prstGeom prst="rect">
            <a:avLst/>
          </a:prstGeom>
          <a:solidFill>
            <a:srgbClr val="1F4E79"/>
          </a:solidFill>
          <a:ln/>
        </p:spPr>
        <p:txBody>
          <a:bodyPr/>
          <a:lstStyle/>
          <a:p>
            <a:endParaRPr lang="en-US"/>
          </a:p>
        </p:txBody>
      </p:sp>
      <p:sp>
        <p:nvSpPr>
          <p:cNvPr id="17" name="Text 15"/>
          <p:cNvSpPr/>
          <p:nvPr/>
        </p:nvSpPr>
        <p:spPr>
          <a:xfrm>
            <a:off x="640080" y="365760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Debt Commitment</a:t>
            </a:r>
            <a:endParaRPr lang="en-US" sz="1200"/>
          </a:p>
        </p:txBody>
      </p:sp>
      <p:sp>
        <p:nvSpPr>
          <p:cNvPr id="18" name="Text 16"/>
          <p:cNvSpPr/>
          <p:nvPr/>
        </p:nvSpPr>
        <p:spPr>
          <a:xfrm>
            <a:off x="640080" y="416052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$20.0B JPMorgan-led; $18.0B funded at close. ~50bp pricing flex; substitution between TLB and senior unsecured permitted. NO FINANCING CONDITION.</a:t>
            </a:r>
            <a:endParaRPr lang="en-US" sz="1000"/>
          </a:p>
        </p:txBody>
      </p:sp>
      <p:sp>
        <p:nvSpPr>
          <p:cNvPr id="19" name="Shape 17"/>
          <p:cNvSpPr/>
          <p:nvPr/>
        </p:nvSpPr>
        <p:spPr>
          <a:xfrm>
            <a:off x="457200" y="498348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0" name="Shape 18"/>
          <p:cNvSpPr/>
          <p:nvPr/>
        </p:nvSpPr>
        <p:spPr>
          <a:xfrm>
            <a:off x="457200" y="4983480"/>
            <a:ext cx="5577840" cy="411480"/>
          </a:xfrm>
          <a:prstGeom prst="rect">
            <a:avLst/>
          </a:prstGeom>
          <a:solidFill>
            <a:srgbClr val="1F4E79"/>
          </a:solidFill>
          <a:ln/>
        </p:spPr>
        <p:txBody>
          <a:bodyPr/>
          <a:lstStyle/>
          <a:p>
            <a:endParaRPr lang="en-US"/>
          </a:p>
        </p:txBody>
      </p:sp>
      <p:sp>
        <p:nvSpPr>
          <p:cNvPr id="21" name="Text 19"/>
          <p:cNvSpPr/>
          <p:nvPr/>
        </p:nvSpPr>
        <p:spPr>
          <a:xfrm>
            <a:off x="640080" y="498348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Termination Fee</a:t>
            </a:r>
            <a:endParaRPr lang="en-US" sz="1200"/>
          </a:p>
        </p:txBody>
      </p:sp>
      <p:sp>
        <p:nvSpPr>
          <p:cNvPr id="22" name="Text 20"/>
          <p:cNvSpPr/>
          <p:nvPr/>
        </p:nvSpPr>
        <p:spPr>
          <a:xfrm>
            <a:off x="640080" y="548640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$1.0B reciprocal. Reduces to $540M in superior-proposal scenarios. Limited guarantees from each consortium member capped at ~$1.02B aggregate.</a:t>
            </a:r>
            <a:endParaRPr lang="en-US" sz="1000"/>
          </a:p>
        </p:txBody>
      </p:sp>
      <p:sp>
        <p:nvSpPr>
          <p:cNvPr id="23" name="Shape 21"/>
          <p:cNvSpPr/>
          <p:nvPr/>
        </p:nvSpPr>
        <p:spPr>
          <a:xfrm>
            <a:off x="6263640" y="100584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4" name="Shape 22"/>
          <p:cNvSpPr/>
          <p:nvPr/>
        </p:nvSpPr>
        <p:spPr>
          <a:xfrm>
            <a:off x="6263640" y="1005840"/>
            <a:ext cx="5577840" cy="411480"/>
          </a:xfrm>
          <a:prstGeom prst="rect">
            <a:avLst/>
          </a:prstGeom>
          <a:solidFill>
            <a:srgbClr val="1F4E79"/>
          </a:solidFill>
          <a:ln/>
        </p:spPr>
        <p:txBody>
          <a:bodyPr/>
          <a:lstStyle/>
          <a:p>
            <a:endParaRPr lang="en-US"/>
          </a:p>
        </p:txBody>
      </p:sp>
      <p:sp>
        <p:nvSpPr>
          <p:cNvPr id="25" name="Text 23"/>
          <p:cNvSpPr/>
          <p:nvPr/>
        </p:nvSpPr>
        <p:spPr>
          <a:xfrm>
            <a:off x="6446520" y="100584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Regulatory Approvals</a:t>
            </a:r>
            <a:endParaRPr lang="en-US" sz="1200"/>
          </a:p>
        </p:txBody>
      </p:sp>
      <p:sp>
        <p:nvSpPr>
          <p:cNvPr id="26" name="Text 24"/>
          <p:cNvSpPr/>
          <p:nvPr/>
        </p:nvSpPr>
        <p:spPr>
          <a:xfrm>
            <a:off x="6446520" y="150876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HSR: CLEARED (2/9/2026). Stockholder vote: APPROVED (99.06% of votes cast). CFIUS: ONGOING — sole open closing condition. EU/Canada FDI: pending, expected non-blocking.</a:t>
            </a:r>
            <a:endParaRPr lang="en-US" sz="1000"/>
          </a:p>
        </p:txBody>
      </p:sp>
      <p:sp>
        <p:nvSpPr>
          <p:cNvPr id="27" name="Shape 25"/>
          <p:cNvSpPr/>
          <p:nvPr/>
        </p:nvSpPr>
        <p:spPr>
          <a:xfrm>
            <a:off x="6263640" y="233172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28" name="Shape 26"/>
          <p:cNvSpPr/>
          <p:nvPr/>
        </p:nvSpPr>
        <p:spPr>
          <a:xfrm>
            <a:off x="6263640" y="2331720"/>
            <a:ext cx="5577840" cy="411480"/>
          </a:xfrm>
          <a:prstGeom prst="rect">
            <a:avLst/>
          </a:prstGeom>
          <a:solidFill>
            <a:srgbClr val="1F4E79"/>
          </a:solidFill>
          <a:ln/>
        </p:spPr>
        <p:txBody>
          <a:bodyPr/>
          <a:lstStyle/>
          <a:p>
            <a:endParaRPr lang="en-US"/>
          </a:p>
        </p:txBody>
      </p:sp>
      <p:sp>
        <p:nvSpPr>
          <p:cNvPr id="29" name="Text 27"/>
          <p:cNvSpPr/>
          <p:nvPr/>
        </p:nvSpPr>
        <p:spPr>
          <a:xfrm>
            <a:off x="6446520" y="233172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Voting Support</a:t>
            </a:r>
            <a:endParaRPr lang="en-US" sz="1200"/>
          </a:p>
        </p:txBody>
      </p:sp>
      <p:sp>
        <p:nvSpPr>
          <p:cNvPr id="30" name="Text 28"/>
          <p:cNvSpPr/>
          <p:nvPr/>
        </p:nvSpPr>
        <p:spPr>
          <a:xfrm>
            <a:off x="6446520" y="283464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PIF voting support agreement on its 9.9% stake. Directors and officers (&lt;1%) committed via Support Agreements. Vote tally: 201,459,396 For / 1,915,837 Against / 90,331 Abstain.</a:t>
            </a:r>
            <a:endParaRPr lang="en-US" sz="1000"/>
          </a:p>
        </p:txBody>
      </p:sp>
      <p:sp>
        <p:nvSpPr>
          <p:cNvPr id="31" name="Shape 29"/>
          <p:cNvSpPr/>
          <p:nvPr/>
        </p:nvSpPr>
        <p:spPr>
          <a:xfrm>
            <a:off x="6263640" y="365760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32" name="Shape 30"/>
          <p:cNvSpPr/>
          <p:nvPr/>
        </p:nvSpPr>
        <p:spPr>
          <a:xfrm>
            <a:off x="6263640" y="3657600"/>
            <a:ext cx="5577840" cy="411480"/>
          </a:xfrm>
          <a:prstGeom prst="rect">
            <a:avLst/>
          </a:prstGeom>
          <a:solidFill>
            <a:srgbClr val="1F4E79"/>
          </a:solidFill>
          <a:ln/>
        </p:spPr>
        <p:txBody>
          <a:bodyPr/>
          <a:lstStyle/>
          <a:p>
            <a:endParaRPr lang="en-US"/>
          </a:p>
        </p:txBody>
      </p:sp>
      <p:sp>
        <p:nvSpPr>
          <p:cNvPr id="33" name="Text 31"/>
          <p:cNvSpPr/>
          <p:nvPr/>
        </p:nvSpPr>
        <p:spPr>
          <a:xfrm>
            <a:off x="6446520" y="365760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No-Shop Provision</a:t>
            </a:r>
            <a:endParaRPr lang="en-US" sz="1200"/>
          </a:p>
        </p:txBody>
      </p:sp>
      <p:sp>
        <p:nvSpPr>
          <p:cNvPr id="34" name="Text 32"/>
          <p:cNvSpPr/>
          <p:nvPr/>
        </p:nvSpPr>
        <p:spPr>
          <a:xfrm>
            <a:off x="6446520" y="416052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Standard no-shop with fiduciary out. Board may change recommendation in response to superior proposal or intervening event, subject to consortium matching rights.</a:t>
            </a:r>
            <a:endParaRPr lang="en-US" sz="1000"/>
          </a:p>
        </p:txBody>
      </p:sp>
      <p:sp>
        <p:nvSpPr>
          <p:cNvPr id="35" name="Shape 33"/>
          <p:cNvSpPr/>
          <p:nvPr/>
        </p:nvSpPr>
        <p:spPr>
          <a:xfrm>
            <a:off x="6263640" y="4983480"/>
            <a:ext cx="5577840" cy="1188720"/>
          </a:xfrm>
          <a:prstGeom prst="rect">
            <a:avLst/>
          </a:prstGeom>
          <a:solidFill>
            <a:srgbClr val="FFFFFF"/>
          </a:solidFill>
          <a:ln w="12700">
            <a:solidFill>
              <a:srgbClr val="D9D9D9"/>
            </a:solidFill>
            <a:prstDash val="solid"/>
          </a:ln>
          <a:effectLst>
            <a:outerShdw blurRad="76200" dist="25400" dir="5400000" algn="bl" rotWithShape="0">
              <a:srgbClr val="000000">
                <a:alpha val="15000"/>
              </a:srgbClr>
            </a:outerShdw>
          </a:effectLst>
        </p:spPr>
        <p:txBody>
          <a:bodyPr/>
          <a:lstStyle/>
          <a:p>
            <a:endParaRPr lang="en-US"/>
          </a:p>
        </p:txBody>
      </p:sp>
      <p:sp>
        <p:nvSpPr>
          <p:cNvPr id="36" name="Shape 34"/>
          <p:cNvSpPr/>
          <p:nvPr/>
        </p:nvSpPr>
        <p:spPr>
          <a:xfrm>
            <a:off x="6263640" y="4983480"/>
            <a:ext cx="5577840" cy="411480"/>
          </a:xfrm>
          <a:prstGeom prst="rect">
            <a:avLst/>
          </a:prstGeom>
          <a:solidFill>
            <a:srgbClr val="1F4E79"/>
          </a:solidFill>
          <a:ln/>
        </p:spPr>
        <p:txBody>
          <a:bodyPr/>
          <a:lstStyle/>
          <a:p>
            <a:endParaRPr lang="en-US"/>
          </a:p>
        </p:txBody>
      </p:sp>
      <p:sp>
        <p:nvSpPr>
          <p:cNvPr id="37" name="Text 35"/>
          <p:cNvSpPr/>
          <p:nvPr/>
        </p:nvSpPr>
        <p:spPr>
          <a:xfrm>
            <a:off x="6446520" y="4983480"/>
            <a:ext cx="5212080" cy="411480"/>
          </a:xfrm>
          <a:prstGeom prst="rect">
            <a:avLst/>
          </a:prstGeom>
          <a:noFill/>
          <a:ln/>
        </p:spPr>
        <p:txBody>
          <a:bodyPr wrap="square" lIns="0" tIns="0" rIns="0" bIns="0" rtlCol="0" anchor="ctr"/>
          <a:lstStyle/>
          <a:p>
            <a:pPr marL="0" indent="0" algn="l">
              <a:buNone/>
            </a:pPr>
            <a:r>
              <a:rPr lang="en-US" sz="1200" b="1">
                <a:solidFill>
                  <a:srgbClr val="FFFFFF"/>
                </a:solidFill>
                <a:latin typeface="Calibri" pitchFamily="34" charset="0"/>
                <a:ea typeface="Calibri" pitchFamily="34" charset="-122"/>
                <a:cs typeface="Calibri" pitchFamily="34" charset="-120"/>
              </a:rPr>
              <a:t>Management Equity Plan</a:t>
            </a:r>
            <a:endParaRPr lang="en-US" sz="1200"/>
          </a:p>
        </p:txBody>
      </p:sp>
      <p:sp>
        <p:nvSpPr>
          <p:cNvPr id="38" name="Text 36"/>
          <p:cNvSpPr/>
          <p:nvPr/>
        </p:nvSpPr>
        <p:spPr>
          <a:xfrm>
            <a:off x="6446520" y="5486400"/>
            <a:ext cx="5212080" cy="640080"/>
          </a:xfrm>
          <a:prstGeom prst="rect">
            <a:avLst/>
          </a:prstGeom>
          <a:noFill/>
          <a:ln/>
        </p:spPr>
        <p:txBody>
          <a:bodyPr wrap="square" lIns="0" tIns="0" rIns="0" bIns="0" rtlCol="0" anchor="t"/>
          <a:lstStyle/>
          <a:p>
            <a:pPr marL="0" indent="0" algn="l">
              <a:buNone/>
            </a:pPr>
            <a:r>
              <a:rPr lang="en-US" sz="1000">
                <a:solidFill>
                  <a:srgbClr val="595959"/>
                </a:solidFill>
                <a:latin typeface="Calibri" pitchFamily="34" charset="0"/>
                <a:ea typeface="Calibri" pitchFamily="34" charset="-122"/>
                <a:cs typeface="Calibri" pitchFamily="34" charset="-120"/>
              </a:rPr>
              <a:t>Specific terms not publicly disclosed. We assume 8–12% MEP at LBO entity level; ~50% time-vested (5y) / ~50% performance-vested against MoM and IRR hurdles. Wilson largest grant.</a:t>
            </a:r>
            <a:endParaRPr 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FDB4508-7A70-453C-E212-F69B7591EF45}"/>
              </a:ext>
            </a:extLst>
          </p:cNvPr>
          <p:cNvSpPr txBox="1"/>
          <p:nvPr/>
        </p:nvSpPr>
        <p:spPr>
          <a:xfrm>
            <a:off x="646981" y="759125"/>
            <a:ext cx="7358332" cy="1477328"/>
          </a:xfrm>
          <a:prstGeom prst="rect">
            <a:avLst/>
          </a:prstGeom>
          <a:noFill/>
        </p:spPr>
        <p:txBody>
          <a:bodyPr wrap="square" rtlCol="0">
            <a:spAutoFit/>
          </a:bodyPr>
          <a:lstStyle/>
          <a:p>
            <a:r>
              <a:rPr lang="en-US"/>
              <a:t>Mason – 10, 11, 12, 13</a:t>
            </a:r>
          </a:p>
          <a:p>
            <a:r>
              <a:rPr lang="en-US"/>
              <a:t>Aidan – 6, 7, 9, 14</a:t>
            </a:r>
          </a:p>
          <a:p>
            <a:r>
              <a:rPr lang="en-US"/>
              <a:t>Camden – 4, 5, 8</a:t>
            </a:r>
          </a:p>
          <a:p>
            <a:r>
              <a:rPr lang="en-US"/>
              <a:t>Jacob – 1, 2, 3</a:t>
            </a:r>
          </a:p>
          <a:p>
            <a:endParaRPr lang="en-US"/>
          </a:p>
        </p:txBody>
      </p:sp>
    </p:spTree>
    <p:extLst>
      <p:ext uri="{BB962C8B-B14F-4D97-AF65-F5344CB8AC3E}">
        <p14:creationId xmlns:p14="http://schemas.microsoft.com/office/powerpoint/2010/main" val="13797090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45a99134-85f2-4b1d-b620-ab71701d622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E37071BA57C26419F420ABA6F87AD64" ma:contentTypeVersion="14" ma:contentTypeDescription="Create a new document." ma:contentTypeScope="" ma:versionID="e60c02f57e64982c5fc9686768a4a568">
  <xsd:schema xmlns:xsd="http://www.w3.org/2001/XMLSchema" xmlns:xs="http://www.w3.org/2001/XMLSchema" xmlns:p="http://schemas.microsoft.com/office/2006/metadata/properties" xmlns:ns3="45a99134-85f2-4b1d-b620-ab71701d622f" xmlns:ns4="76723df3-f6f9-4a61-9efe-99c1bfbe2e2e" targetNamespace="http://schemas.microsoft.com/office/2006/metadata/properties" ma:root="true" ma:fieldsID="a190482768d6152a0669111fae9f84ec" ns3:_="" ns4:_="">
    <xsd:import namespace="45a99134-85f2-4b1d-b620-ab71701d622f"/>
    <xsd:import namespace="76723df3-f6f9-4a61-9efe-99c1bfbe2e2e"/>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ObjectDetectorVersions" minOccurs="0"/>
                <xsd:element ref="ns3:MediaServiceAutoTags" minOccurs="0"/>
                <xsd:element ref="ns3:MediaServiceGenerationTime" minOccurs="0"/>
                <xsd:element ref="ns3:MediaServiceEventHashCode" minOccurs="0"/>
                <xsd:element ref="ns3:_activity" minOccurs="0"/>
                <xsd:element ref="ns4:SharedWithUsers" minOccurs="0"/>
                <xsd:element ref="ns4:SharedWithDetails" minOccurs="0"/>
                <xsd:element ref="ns4:SharingHintHash"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a99134-85f2-4b1d-b620-ab71701d622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_activity" ma:index="16" nillable="true" ma:displayName="_activity" ma:hidden="true" ma:internalName="_activity">
      <xsd:simpleType>
        <xsd:restriction base="dms:Note"/>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DateTaken" ma:index="21"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6723df3-f6f9-4a61-9efe-99c1bfbe2e2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7ADAE2-E117-41F9-8456-A99683C8D2DC}">
  <ds:schemaRefs>
    <ds:schemaRef ds:uri="http://schemas.microsoft.com/office/2006/metadata/properties"/>
    <ds:schemaRef ds:uri="http://schemas.microsoft.com/office/2006/documentManagement/types"/>
    <ds:schemaRef ds:uri="http://purl.org/dc/elements/1.1/"/>
    <ds:schemaRef ds:uri="http://purl.org/dc/terms/"/>
    <ds:schemaRef ds:uri="http://schemas.microsoft.com/office/infopath/2007/PartnerControls"/>
    <ds:schemaRef ds:uri="http://www.w3.org/XML/1998/namespace"/>
    <ds:schemaRef ds:uri="http://schemas.openxmlformats.org/package/2006/metadata/core-properties"/>
    <ds:schemaRef ds:uri="76723df3-f6f9-4a61-9efe-99c1bfbe2e2e"/>
    <ds:schemaRef ds:uri="45a99134-85f2-4b1d-b620-ab71701d622f"/>
    <ds:schemaRef ds:uri="http://purl.org/dc/dcmitype/"/>
  </ds:schemaRefs>
</ds:datastoreItem>
</file>

<file path=customXml/itemProps2.xml><?xml version="1.0" encoding="utf-8"?>
<ds:datastoreItem xmlns:ds="http://schemas.openxmlformats.org/officeDocument/2006/customXml" ds:itemID="{DB48135B-93CF-4294-A321-188720ADCA1E}">
  <ds:schemaRefs>
    <ds:schemaRef ds:uri="http://schemas.microsoft.com/sharepoint/v3/contenttype/forms"/>
  </ds:schemaRefs>
</ds:datastoreItem>
</file>

<file path=customXml/itemProps3.xml><?xml version="1.0" encoding="utf-8"?>
<ds:datastoreItem xmlns:ds="http://schemas.openxmlformats.org/officeDocument/2006/customXml" ds:itemID="{E3F9F365-A7AF-4EDB-8924-9A587894E381}">
  <ds:schemaRefs>
    <ds:schemaRef ds:uri="45a99134-85f2-4b1d-b620-ab71701d622f"/>
    <ds:schemaRef ds:uri="76723df3-f6f9-4a61-9efe-99c1bfbe2e2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9c742c4-e61c-4fa5-be89-a3cb566a80d1}" enabled="0" method="" siteId="{79c742c4-e61c-4fa5-be89-a3cb566a80d1}" removed="1"/>
</clbl:labelList>
</file>

<file path=docProps/app.xml><?xml version="1.0" encoding="utf-8"?>
<Properties xmlns="http://schemas.openxmlformats.org/officeDocument/2006/extended-properties" xmlns:vt="http://schemas.openxmlformats.org/officeDocument/2006/docPropsVTypes">
  <TotalTime>0</TotalTime>
  <Words>8391</Words>
  <Application>Microsoft Office PowerPoint</Application>
  <PresentationFormat>Widescreen</PresentationFormat>
  <Paragraphs>1008</Paragraphs>
  <Slides>26</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Madden — Take-Private Acquisition of Electronic Arts</dc:title>
  <dc:subject>PptxGenJS Presentation</dc:subject>
  <dc:creator>Project Madden Deal Team</dc:creator>
  <cp:lastModifiedBy>Mason Bennett</cp:lastModifiedBy>
  <cp:revision>2</cp:revision>
  <dcterms:created xsi:type="dcterms:W3CDTF">2026-04-28T00:54:15Z</dcterms:created>
  <dcterms:modified xsi:type="dcterms:W3CDTF">2026-05-05T05:28:45Z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0x0101009E37071BA57C26419F420ABA6F87AD64</vt:lpwstr>
  </property>
</Properties>
</file>